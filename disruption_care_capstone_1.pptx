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libri (MS) Bold" charset="1" panose="020F0702030404030204"/>
      <p:regular r:id="rId22"/>
    </p:embeddedFont>
    <p:embeddedFont>
      <p:font typeface="Cambria Bold" charset="1" panose="02040803050406030204"/>
      <p:regular r:id="rId23"/>
    </p:embeddedFont>
    <p:embeddedFont>
      <p:font typeface="Calibri (MS)" charset="1" panose="020F0502020204030204"/>
      <p:regular r:id="rId24"/>
    </p:embeddedFont>
    <p:embeddedFont>
      <p:font typeface="Calibri (MS) Italics" charset="1" panose="020F05020202040A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19:40 a flight cancels and one person has to solve it</a:t>
            </a:r>
          </a:p>
          <a:p>
            <a:r>
              <a:rPr lang="en-US"/>
              <a:t/>
            </a:r>
          </a:p>
          <a:p>
            <a:r>
              <a:rPr lang="en-US"/>
              <a:t>"Hands up if you have ever had a flight cancelled on you." (most hands)</a:t>
            </a:r>
          </a:p>
          <a:p>
            <a:r>
              <a:rPr lang="en-US"/>
              <a:t>"Keep them up if you were put in a hotel that night." (fewer)</a:t>
            </a:r>
          </a:p>
          <a:p>
            <a:r>
              <a:rPr lang="en-US"/>
              <a:t/>
            </a:r>
          </a:p>
          <a:p>
            <a:r>
              <a:rPr lang="en-US"/>
              <a:t>"Keep them up if you know what that hotel cost the airline."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failures: over booking and stalling. Both come from missing information, not from bad people.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she asks whether you are cutting EU261 costs: no. Anyone pitching that is either wrong or planning to under provide care, which is unlawful. You recover over spend, not statutory cost.</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number only. If asked why not more precise: the ceiling is what the data supports, capture rate is the assumption, and that is exactly what the pilot measures.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Say the sentence in the green box out loud. It is the answer to half the questions you will get.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result page shows the exact payload the model received. Offer to open it if she pushes on transparency. Confirm the demo numbers against your own run before you present.</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asked why not book automatically: an enquiry commits nothing, a booking commits money, and the second one needs a person. That is also what keeps the AI Act classification out of high risk.</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workflow that breaks the privacy design. Do not hide it. Slide 9 handles it head on.</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Concede the fact instantly, then show you knew the boundary. Article 6(3) narrow task exemption plus the human authorisation gate. Annex III high risk duties are deferred to December 2027 anyway, but that is not the argument you lead with.</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is not the cost. The data feed is.</a:t>
            </a:r>
          </a:p>
          <a:p>
            <a:r>
              <a:rPr lang="en-US"/>
              <a:t/>
            </a:r>
          </a:p>
          <a:p>
            <a:r>
              <a:rPr lang="en-US"/>
              <a:t>READING THE TABLE</a:t>
            </a:r>
          </a:p>
          <a:p>
            <a:r>
              <a:rPr lang="en-US"/>
              <a:t>Token counts are measured from live runs, not estimated. Workflow 3 is the biggest because the transcript itself goes into the extraction prompt, so the input is long.</a:t>
            </a:r>
          </a:p>
          <a:p>
            <a:r>
              <a:rPr lang="en-US"/>
              <a:t>gpt-5-mini lists at 0.25 dollars per million input tokens and 2.00 dollars per million output tokens.</a:t>
            </a:r>
          </a:p>
          <a:p>
            <a:r>
              <a:rPr lang="en-US"/>
              <a:t>The cents column prices every token at the output rate, which is the worst case and cannot happen in practice. On a realistic input and output split the true figure is roughly half of what is shown. The number is deliberately pessimistic.</a:t>
            </a:r>
          </a:p>
          <a:p>
            <a:r>
              <a:rPr lang="en-US"/>
              <a:t>5,761 tokens times 3,305 care events is about 38 dollars a year for all language model calls combined.</a:t>
            </a:r>
          </a:p>
          <a:p>
            <a:r>
              <a:rPr lang="en-US"/>
              <a:t/>
            </a:r>
          </a:p>
          <a:p>
            <a:r>
              <a:rPr lang="en-US"/>
              <a:t>WHY WHISPER IS THE BIGGER LINE</a:t>
            </a:r>
          </a:p>
          <a:p>
            <a:r>
              <a:rPr lang="en-US"/>
              <a:t>Whisper is about 0.006 dollars per minute. A five minute hotel call is 3 cents, roughly three times the language model cost of that same incident. Across the year that is close to 99 dollars, so total AI spend is around 140 dollars.</a:t>
            </a:r>
          </a:p>
          <a:p>
            <a:r>
              <a:rPr lang="en-US"/>
              <a:t>If asked: the ratio moves with call length. Longer calls make Whisper dominate further, shorter calls shift it back. The total stays trivial either way. The five minutes is an assumption, not a measurement, so do not defend it as one.</a:t>
            </a:r>
          </a:p>
          <a:p>
            <a:r>
              <a:rPr lang="en-US"/>
              <a:t/>
            </a:r>
          </a:p>
          <a:p>
            <a:r>
              <a:rPr lang="en-US"/>
              <a:t>IF SHE ASKS WHY THE ROI DOCUMENT SAYS UNDER 3,000 EUR</a:t>
            </a:r>
          </a:p>
          <a:p>
            <a:r>
              <a:rPr lang="en-US"/>
              <a:t>Say it straight. That was an assumption written before the workflows were instrumented, and the measured figure is roughly twenty times lower. Conservative is the safe direction to be wrong in, and the measured number now replaces it.</a:t>
            </a:r>
          </a:p>
          <a:p>
            <a:r>
              <a:rPr lang="en-US"/>
              <a:t/>
            </a:r>
          </a:p>
          <a:p>
            <a:r>
              <a:rPr lang="en-US"/>
              <a:t>IF SHE ASKS WHAT THE REAL COST IS</a:t>
            </a:r>
          </a:p>
          <a:p>
            <a:r>
              <a:rPr lang="en-US"/>
              <a:t>The one time integration to the reservation and departure control system for the trip origin feed. That single line dominates the business case, which is exactly why the recommendation is a three station pilot rather than a full build.</a:t>
            </a:r>
          </a:p>
          <a:p>
            <a:r>
              <a:rPr lang="en-US"/>
              <a:t/>
            </a:r>
          </a:p>
          <a:p>
            <a:r>
              <a:rPr lang="en-US"/>
              <a:t>WHAT NOT TO CLAIM</a:t>
            </a:r>
          </a:p>
          <a:p>
            <a:r>
              <a:rPr lang="en-US"/>
              <a:t>Do not say the system is free to run. There is a 0.5 FTE owner, hosting, observability and change management. The claim is narrower and stronger: the AI itself is not what you are buying.</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on the pilot, not on the 9.2M. Asking for a small, measurable step is what a consultant does. Asking for the full build on an unproven assumption is what a vendor does.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VAHUNxhgwJY.mp4" Type="http://schemas.openxmlformats.org/officeDocument/2006/relationships/video"/><Relationship Id="rId4" Target="../media/VAHUNxhgwJY.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VAHULew5Rjc.mp4" Type="http://schemas.openxmlformats.org/officeDocument/2006/relationships/video"/><Relationship Id="rId4" Target="../media/VAHULew5Rjc.mp4" Type="http://schemas.microsoft.com/office/2007/relationships/media"/></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B2A4A"/>
        </a:solidFill>
      </p:bgPr>
    </p:bg>
    <p:spTree>
      <p:nvGrpSpPr>
        <p:cNvPr id="1" name=""/>
        <p:cNvGrpSpPr/>
        <p:nvPr/>
      </p:nvGrpSpPr>
      <p:grpSpPr>
        <a:xfrm>
          <a:off x="0" y="0"/>
          <a:ext cx="0" cy="0"/>
          <a:chOff x="0" y="0"/>
          <a:chExt cx="0" cy="0"/>
        </a:xfrm>
      </p:grpSpPr>
      <p:grpSp>
        <p:nvGrpSpPr>
          <p:cNvPr name="Group 2" id="2"/>
          <p:cNvGrpSpPr/>
          <p:nvPr/>
        </p:nvGrpSpPr>
        <p:grpSpPr>
          <a:xfrm rot="0">
            <a:off x="1028700" y="826770"/>
            <a:ext cx="15087600" cy="411480"/>
            <a:chOff x="0" y="0"/>
            <a:chExt cx="20116800" cy="548640"/>
          </a:xfrm>
        </p:grpSpPr>
        <p:sp>
          <p:nvSpPr>
            <p:cNvPr name="Freeform 3" id="3"/>
            <p:cNvSpPr/>
            <p:nvPr/>
          </p:nvSpPr>
          <p:spPr>
            <a:xfrm flipH="false" flipV="false" rot="0">
              <a:off x="0" y="0"/>
              <a:ext cx="20116800" cy="548640"/>
            </a:xfrm>
            <a:custGeom>
              <a:avLst/>
              <a:gdLst/>
              <a:ahLst/>
              <a:cxnLst/>
              <a:rect r="r" b="b" t="t" l="l"/>
              <a:pathLst>
                <a:path h="548640" w="20116800">
                  <a:moveTo>
                    <a:pt x="0" y="0"/>
                  </a:moveTo>
                  <a:lnTo>
                    <a:pt x="20116800" y="0"/>
                  </a:lnTo>
                  <a:lnTo>
                    <a:pt x="20116800" y="548640"/>
                  </a:lnTo>
                  <a:lnTo>
                    <a:pt x="0" y="548640"/>
                  </a:lnTo>
                  <a:close/>
                </a:path>
              </a:pathLst>
            </a:custGeom>
            <a:blipFill>
              <a:blip r:embed="rId3">
                <a:alphaModFix amt="0"/>
              </a:blip>
              <a:stretch>
                <a:fillRect l="0" t="-664451" r="0" b="-664451"/>
              </a:stretch>
            </a:blipFill>
          </p:spPr>
        </p:sp>
        <p:sp>
          <p:nvSpPr>
            <p:cNvPr name="TextBox 4" id="4"/>
            <p:cNvSpPr txBox="true"/>
            <p:nvPr/>
          </p:nvSpPr>
          <p:spPr>
            <a:xfrm>
              <a:off x="0" y="-38100"/>
              <a:ext cx="20116800" cy="586740"/>
            </a:xfrm>
            <a:prstGeom prst="rect">
              <a:avLst/>
            </a:prstGeom>
          </p:spPr>
          <p:txBody>
            <a:bodyPr anchor="ctr" rtlCol="false" tIns="0" lIns="0" bIns="0" rIns="0"/>
            <a:lstStyle/>
            <a:p>
              <a:pPr algn="l">
                <a:lnSpc>
                  <a:spcPts val="2160"/>
                </a:lnSpc>
              </a:pPr>
              <a:r>
                <a:rPr lang="en-US" b="true" sz="1800" spc="450">
                  <a:solidFill>
                    <a:srgbClr val="CADCFC"/>
                  </a:solidFill>
                  <a:latin typeface="Calibri (MS) Bold"/>
                  <a:ea typeface="Calibri (MS) Bold"/>
                  <a:cs typeface="Calibri (MS) Bold"/>
                  <a:sym typeface="Calibri (MS) Bold"/>
                </a:rPr>
                <a:t>IRONHACK  AI  CONSULTING</a:t>
              </a:r>
            </a:p>
          </p:txBody>
        </p:sp>
      </p:grpSp>
      <p:sp>
        <p:nvSpPr>
          <p:cNvPr name="Freeform 5" id="5"/>
          <p:cNvSpPr/>
          <p:nvPr/>
        </p:nvSpPr>
        <p:spPr>
          <a:xfrm flipH="false" flipV="false" rot="0">
            <a:off x="7325702" y="4635"/>
            <a:ext cx="11957636" cy="6716205"/>
          </a:xfrm>
          <a:custGeom>
            <a:avLst/>
            <a:gdLst/>
            <a:ahLst/>
            <a:cxnLst/>
            <a:rect r="r" b="b" t="t" l="l"/>
            <a:pathLst>
              <a:path h="6716205" w="11957636">
                <a:moveTo>
                  <a:pt x="0" y="0"/>
                </a:moveTo>
                <a:lnTo>
                  <a:pt x="11957636" y="0"/>
                </a:lnTo>
                <a:lnTo>
                  <a:pt x="11957636" y="6716205"/>
                </a:lnTo>
                <a:lnTo>
                  <a:pt x="0" y="6716205"/>
                </a:lnTo>
                <a:lnTo>
                  <a:pt x="0" y="0"/>
                </a:lnTo>
                <a:close/>
              </a:path>
            </a:pathLst>
          </a:custGeom>
          <a:blipFill>
            <a:blip r:embed="rId4"/>
            <a:stretch>
              <a:fillRect l="0" t="0" r="0" b="0"/>
            </a:stretch>
          </a:blipFill>
        </p:spPr>
      </p:sp>
      <p:grpSp>
        <p:nvGrpSpPr>
          <p:cNvPr name="Group 6" id="6"/>
          <p:cNvGrpSpPr/>
          <p:nvPr/>
        </p:nvGrpSpPr>
        <p:grpSpPr>
          <a:xfrm rot="0">
            <a:off x="1028700" y="-431532"/>
            <a:ext cx="7400184" cy="6109450"/>
            <a:chOff x="0" y="0"/>
            <a:chExt cx="9866913" cy="8145934"/>
          </a:xfrm>
        </p:grpSpPr>
        <p:sp>
          <p:nvSpPr>
            <p:cNvPr name="Freeform 7" id="7"/>
            <p:cNvSpPr/>
            <p:nvPr/>
          </p:nvSpPr>
          <p:spPr>
            <a:xfrm flipH="false" flipV="false" rot="0">
              <a:off x="0" y="0"/>
              <a:ext cx="9866912" cy="8145934"/>
            </a:xfrm>
            <a:custGeom>
              <a:avLst/>
              <a:gdLst/>
              <a:ahLst/>
              <a:cxnLst/>
              <a:rect r="r" b="b" t="t" l="l"/>
              <a:pathLst>
                <a:path h="8145934" w="9866912">
                  <a:moveTo>
                    <a:pt x="0" y="0"/>
                  </a:moveTo>
                  <a:lnTo>
                    <a:pt x="9866912" y="0"/>
                  </a:lnTo>
                  <a:lnTo>
                    <a:pt x="9866912" y="8145934"/>
                  </a:lnTo>
                  <a:lnTo>
                    <a:pt x="0" y="8145934"/>
                  </a:lnTo>
                  <a:close/>
                </a:path>
              </a:pathLst>
            </a:custGeom>
            <a:blipFill>
              <a:blip r:embed="rId3">
                <a:alphaModFix amt="0"/>
              </a:blip>
              <a:stretch>
                <a:fillRect l="0" t="-37958" r="-113148" b="37345"/>
              </a:stretch>
            </a:blipFill>
          </p:spPr>
        </p:sp>
        <p:sp>
          <p:nvSpPr>
            <p:cNvPr name="TextBox 8" id="8"/>
            <p:cNvSpPr txBox="true"/>
            <p:nvPr/>
          </p:nvSpPr>
          <p:spPr>
            <a:xfrm>
              <a:off x="0" y="-9525"/>
              <a:ext cx="9866913" cy="8155459"/>
            </a:xfrm>
            <a:prstGeom prst="rect">
              <a:avLst/>
            </a:prstGeom>
          </p:spPr>
          <p:txBody>
            <a:bodyPr anchor="ctr" rtlCol="false" tIns="0" lIns="0" bIns="0" rIns="0"/>
            <a:lstStyle/>
            <a:p>
              <a:pPr algn="l">
                <a:lnSpc>
                  <a:spcPts val="8280"/>
                </a:lnSpc>
              </a:pPr>
              <a:r>
                <a:rPr lang="en-US" sz="6900" b="true">
                  <a:solidFill>
                    <a:srgbClr val="FFFFFF"/>
                  </a:solidFill>
                  <a:latin typeface="Cambria Bold"/>
                  <a:ea typeface="Cambria Bold"/>
                  <a:cs typeface="Cambria Bold"/>
                  <a:sym typeface="Cambria Bold"/>
                </a:rPr>
                <a:t>The night the flight cancels</a:t>
              </a:r>
            </a:p>
          </p:txBody>
        </p:sp>
      </p:grpSp>
      <p:grpSp>
        <p:nvGrpSpPr>
          <p:cNvPr name="Group 9" id="9"/>
          <p:cNvGrpSpPr/>
          <p:nvPr/>
        </p:nvGrpSpPr>
        <p:grpSpPr>
          <a:xfrm rot="0">
            <a:off x="1028700" y="4368173"/>
            <a:ext cx="6365582" cy="2352667"/>
            <a:chOff x="0" y="0"/>
            <a:chExt cx="8487443" cy="3136889"/>
          </a:xfrm>
        </p:grpSpPr>
        <p:sp>
          <p:nvSpPr>
            <p:cNvPr name="Freeform 10" id="10"/>
            <p:cNvSpPr/>
            <p:nvPr/>
          </p:nvSpPr>
          <p:spPr>
            <a:xfrm flipH="false" flipV="false" rot="0">
              <a:off x="0" y="0"/>
              <a:ext cx="8487443" cy="3136889"/>
            </a:xfrm>
            <a:custGeom>
              <a:avLst/>
              <a:gdLst/>
              <a:ahLst/>
              <a:cxnLst/>
              <a:rect r="r" b="b" t="t" l="l"/>
              <a:pathLst>
                <a:path h="3136889" w="8487443">
                  <a:moveTo>
                    <a:pt x="0" y="0"/>
                  </a:moveTo>
                  <a:lnTo>
                    <a:pt x="8487443" y="0"/>
                  </a:lnTo>
                  <a:lnTo>
                    <a:pt x="8487443" y="3136889"/>
                  </a:lnTo>
                  <a:lnTo>
                    <a:pt x="0" y="3136889"/>
                  </a:lnTo>
                  <a:close/>
                </a:path>
              </a:pathLst>
            </a:custGeom>
            <a:blipFill>
              <a:blip r:embed="rId3">
                <a:alphaModFix amt="0"/>
              </a:blip>
              <a:stretch>
                <a:fillRect l="0" t="-82818" r="-106852" b="-35288"/>
              </a:stretch>
            </a:blipFill>
          </p:spPr>
        </p:sp>
        <p:sp>
          <p:nvSpPr>
            <p:cNvPr name="TextBox 11" id="11"/>
            <p:cNvSpPr txBox="true"/>
            <p:nvPr/>
          </p:nvSpPr>
          <p:spPr>
            <a:xfrm>
              <a:off x="0" y="-123825"/>
              <a:ext cx="8487443" cy="3260714"/>
            </a:xfrm>
            <a:prstGeom prst="rect">
              <a:avLst/>
            </a:prstGeom>
          </p:spPr>
          <p:txBody>
            <a:bodyPr anchor="ctr" rtlCol="false" tIns="0" lIns="0" bIns="0" rIns="0"/>
            <a:lstStyle/>
            <a:p>
              <a:pPr algn="l">
                <a:lnSpc>
                  <a:spcPts val="3899"/>
                </a:lnSpc>
              </a:pPr>
              <a:r>
                <a:rPr lang="en-US" sz="2550">
                  <a:solidFill>
                    <a:srgbClr val="CADCFC"/>
                  </a:solidFill>
                  <a:latin typeface="Calibri (MS)"/>
                  <a:ea typeface="Calibri (MS)"/>
                  <a:cs typeface="Calibri (MS)"/>
                  <a:sym typeface="Calibri (MS)"/>
                </a:rPr>
                <a:t>Decision support for airline disruption care. Three working n8n workflows that cost the night, source the rooms, and capture what was agreed.</a:t>
              </a:r>
            </a:p>
          </p:txBody>
        </p:sp>
      </p:grpSp>
      <p:grpSp>
        <p:nvGrpSpPr>
          <p:cNvPr name="Group 12" id="12"/>
          <p:cNvGrpSpPr/>
          <p:nvPr/>
        </p:nvGrpSpPr>
        <p:grpSpPr>
          <a:xfrm rot="0">
            <a:off x="1028700" y="8001851"/>
            <a:ext cx="12344400" cy="411480"/>
            <a:chOff x="0" y="0"/>
            <a:chExt cx="16459200" cy="548640"/>
          </a:xfrm>
        </p:grpSpPr>
        <p:sp>
          <p:nvSpPr>
            <p:cNvPr name="Freeform 13" id="13"/>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4" id="14"/>
            <p:cNvSpPr txBox="true"/>
            <p:nvPr/>
          </p:nvSpPr>
          <p:spPr>
            <a:xfrm>
              <a:off x="0" y="-47625"/>
              <a:ext cx="16459200" cy="596265"/>
            </a:xfrm>
            <a:prstGeom prst="rect">
              <a:avLst/>
            </a:prstGeom>
          </p:spPr>
          <p:txBody>
            <a:bodyPr anchor="ctr" rtlCol="false" tIns="0" lIns="0" bIns="0" rIns="0"/>
            <a:lstStyle/>
            <a:p>
              <a:pPr algn="l">
                <a:lnSpc>
                  <a:spcPts val="2340"/>
                </a:lnSpc>
              </a:pPr>
              <a:r>
                <a:rPr lang="en-US" sz="1950">
                  <a:solidFill>
                    <a:srgbClr val="CADCFC"/>
                  </a:solidFill>
                  <a:latin typeface="Calibri (MS)"/>
                  <a:ea typeface="Calibri (MS)"/>
                  <a:cs typeface="Calibri (MS)"/>
                  <a:sym typeface="Calibri (MS)"/>
                </a:rPr>
                <a:t>Gordan Skopljak   |   September 2026</a:t>
              </a:r>
            </a:p>
          </p:txBody>
        </p:sp>
      </p:grpSp>
      <p:grpSp>
        <p:nvGrpSpPr>
          <p:cNvPr name="Group 15" id="15"/>
          <p:cNvGrpSpPr/>
          <p:nvPr/>
        </p:nvGrpSpPr>
        <p:grpSpPr>
          <a:xfrm rot="0">
            <a:off x="960120" y="8915400"/>
            <a:ext cx="12344400" cy="411480"/>
            <a:chOff x="0" y="0"/>
            <a:chExt cx="16459200" cy="548640"/>
          </a:xfrm>
        </p:grpSpPr>
        <p:sp>
          <p:nvSpPr>
            <p:cNvPr name="Freeform 16" id="16"/>
            <p:cNvSpPr/>
            <p:nvPr/>
          </p:nvSpPr>
          <p:spPr>
            <a:xfrm flipH="false" flipV="false" rot="0">
              <a:off x="0" y="0"/>
              <a:ext cx="16459200" cy="548640"/>
            </a:xfrm>
            <a:custGeom>
              <a:avLst/>
              <a:gdLst/>
              <a:ahLst/>
              <a:cxnLst/>
              <a:rect r="r" b="b" t="t" l="l"/>
              <a:pathLst>
                <a:path h="548640" w="16459200">
                  <a:moveTo>
                    <a:pt x="0" y="0"/>
                  </a:moveTo>
                  <a:lnTo>
                    <a:pt x="16459200" y="0"/>
                  </a:lnTo>
                  <a:lnTo>
                    <a:pt x="16459200" y="548640"/>
                  </a:lnTo>
                  <a:lnTo>
                    <a:pt x="0" y="548640"/>
                  </a:lnTo>
                  <a:close/>
                </a:path>
              </a:pathLst>
            </a:custGeom>
            <a:blipFill>
              <a:blip r:embed="rId3">
                <a:alphaModFix amt="0"/>
              </a:blip>
              <a:stretch>
                <a:fillRect l="0" t="-534551" r="0" b="-534551"/>
              </a:stretch>
            </a:blipFill>
          </p:spPr>
        </p:sp>
        <p:sp>
          <p:nvSpPr>
            <p:cNvPr name="TextBox 17" id="17"/>
            <p:cNvSpPr txBox="true"/>
            <p:nvPr/>
          </p:nvSpPr>
          <p:spPr>
            <a:xfrm>
              <a:off x="0" y="-28575"/>
              <a:ext cx="16459200" cy="577215"/>
            </a:xfrm>
            <a:prstGeom prst="rect">
              <a:avLst/>
            </a:prstGeom>
          </p:spPr>
          <p:txBody>
            <a:bodyPr anchor="ctr" rtlCol="false" tIns="0" lIns="0" bIns="0" rIns="0"/>
            <a:lstStyle/>
            <a:p>
              <a:pPr algn="l">
                <a:lnSpc>
                  <a:spcPts val="1980"/>
                </a:lnSpc>
              </a:pPr>
              <a:r>
                <a:rPr lang="en-US" sz="1650" i="true">
                  <a:solidFill>
                    <a:srgbClr val="8FA3C9"/>
                  </a:solidFill>
                  <a:latin typeface="Calibri (MS) Italics"/>
                  <a:ea typeface="Calibri (MS) Italics"/>
                  <a:cs typeface="Calibri (MS) Italics"/>
                  <a:sym typeface="Calibri (MS) Italics"/>
                </a:rPr>
                <a:t>Synthetic and public data only. No real passenger data was used.</a:t>
              </a:r>
            </a:p>
          </p:txBody>
        </p:sp>
      </p:grpSp>
      <p:sp>
        <p:nvSpPr>
          <p:cNvPr name="Freeform 18" id="18"/>
          <p:cNvSpPr/>
          <p:nvPr/>
        </p:nvSpPr>
        <p:spPr>
          <a:xfrm flipH="false" flipV="false" rot="0">
            <a:off x="13540945" y="6720840"/>
            <a:ext cx="4747055" cy="6020655"/>
          </a:xfrm>
          <a:custGeom>
            <a:avLst/>
            <a:gdLst/>
            <a:ahLst/>
            <a:cxnLst/>
            <a:rect r="r" b="b" t="t" l="l"/>
            <a:pathLst>
              <a:path h="6020655" w="4747055">
                <a:moveTo>
                  <a:pt x="0" y="0"/>
                </a:moveTo>
                <a:lnTo>
                  <a:pt x="4747055" y="0"/>
                </a:lnTo>
                <a:lnTo>
                  <a:pt x="4747055" y="6020655"/>
                </a:lnTo>
                <a:lnTo>
                  <a:pt x="0" y="6020655"/>
                </a:lnTo>
                <a:lnTo>
                  <a:pt x="0" y="0"/>
                </a:lnTo>
                <a:close/>
              </a:path>
            </a:pathLst>
          </a:custGeom>
          <a:blipFill>
            <a:blip r:embed="rId5"/>
            <a:stretch>
              <a:fillRect l="0" t="0" r="0" b="0"/>
            </a:stretch>
          </a:blipFill>
        </p:spPr>
      </p:sp>
      <p:sp>
        <p:nvSpPr>
          <p:cNvPr name="Freeform 19" id="19"/>
          <p:cNvSpPr/>
          <p:nvPr/>
        </p:nvSpPr>
        <p:spPr>
          <a:xfrm flipH="false" flipV="false" rot="0">
            <a:off x="7325702" y="6720840"/>
            <a:ext cx="6215243" cy="3739606"/>
          </a:xfrm>
          <a:custGeom>
            <a:avLst/>
            <a:gdLst/>
            <a:ahLst/>
            <a:cxnLst/>
            <a:rect r="r" b="b" t="t" l="l"/>
            <a:pathLst>
              <a:path h="3739606" w="6215243">
                <a:moveTo>
                  <a:pt x="0" y="0"/>
                </a:moveTo>
                <a:lnTo>
                  <a:pt x="6215243" y="0"/>
                </a:lnTo>
                <a:lnTo>
                  <a:pt x="6215243" y="3739606"/>
                </a:lnTo>
                <a:lnTo>
                  <a:pt x="0" y="3739606"/>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THE PROBLEM</a:t>
              </a:r>
            </a:p>
          </p:txBody>
        </p:sp>
      </p:grpSp>
      <p:grpSp>
        <p:nvGrpSpPr>
          <p:cNvPr name="Group 5" id="5"/>
          <p:cNvGrpSpPr/>
          <p:nvPr/>
        </p:nvGrpSpPr>
        <p:grpSpPr>
          <a:xfrm rot="0">
            <a:off x="939546"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One person, three hours, no numbers</a:t>
              </a:r>
            </a:p>
          </p:txBody>
        </p:sp>
      </p:grpSp>
      <p:grpSp>
        <p:nvGrpSpPr>
          <p:cNvPr name="Group 8" id="8"/>
          <p:cNvGrpSpPr/>
          <p:nvPr/>
        </p:nvGrpSpPr>
        <p:grpSpPr>
          <a:xfrm rot="0">
            <a:off x="950595" y="2390775"/>
            <a:ext cx="5231130" cy="2967990"/>
            <a:chOff x="0" y="0"/>
            <a:chExt cx="6974840" cy="3957320"/>
          </a:xfrm>
        </p:grpSpPr>
        <p:sp>
          <p:nvSpPr>
            <p:cNvPr name="Freeform 9" id="9"/>
            <p:cNvSpPr/>
            <p:nvPr/>
          </p:nvSpPr>
          <p:spPr>
            <a:xfrm flipH="false" flipV="false" rot="0">
              <a:off x="0" y="0"/>
              <a:ext cx="6974840" cy="3957320"/>
            </a:xfrm>
            <a:custGeom>
              <a:avLst/>
              <a:gdLst/>
              <a:ahLst/>
              <a:cxnLst/>
              <a:rect r="r" b="b" t="t" l="l"/>
              <a:pathLst>
                <a:path h="3957320" w="6974840">
                  <a:moveTo>
                    <a:pt x="0" y="147193"/>
                  </a:moveTo>
                  <a:cubicBezTo>
                    <a:pt x="0" y="65913"/>
                    <a:pt x="65913" y="0"/>
                    <a:pt x="147193" y="0"/>
                  </a:cubicBezTo>
                  <a:lnTo>
                    <a:pt x="6827647" y="0"/>
                  </a:lnTo>
                  <a:cubicBezTo>
                    <a:pt x="6908927" y="0"/>
                    <a:pt x="6974840" y="65913"/>
                    <a:pt x="6974840" y="147193"/>
                  </a:cubicBezTo>
                  <a:lnTo>
                    <a:pt x="6974840" y="3810127"/>
                  </a:lnTo>
                  <a:cubicBezTo>
                    <a:pt x="6974840" y="3891407"/>
                    <a:pt x="6908927" y="3957320"/>
                    <a:pt x="6827647" y="3957320"/>
                  </a:cubicBezTo>
                  <a:lnTo>
                    <a:pt x="147193" y="3957320"/>
                  </a:lnTo>
                  <a:cubicBezTo>
                    <a:pt x="65913" y="3957320"/>
                    <a:pt x="0" y="3891407"/>
                    <a:pt x="0" y="3810127"/>
                  </a:cubicBezTo>
                  <a:close/>
                </a:path>
              </a:pathLst>
            </a:custGeom>
            <a:solidFill>
              <a:srgbClr val="F7F7F9"/>
            </a:solidFill>
            <a:ln w="19050" cap="sq">
              <a:solidFill>
                <a:srgbClr val="F7F7F9"/>
              </a:solidFill>
              <a:prstDash val="solid"/>
              <a:miter/>
            </a:ln>
          </p:spPr>
        </p:sp>
      </p:grpSp>
      <p:grpSp>
        <p:nvGrpSpPr>
          <p:cNvPr name="Group 10" id="10"/>
          <p:cNvGrpSpPr/>
          <p:nvPr/>
        </p:nvGrpSpPr>
        <p:grpSpPr>
          <a:xfrm rot="0">
            <a:off x="1371600" y="2674620"/>
            <a:ext cx="4389120" cy="1028700"/>
            <a:chOff x="0" y="0"/>
            <a:chExt cx="5852160" cy="1371600"/>
          </a:xfrm>
        </p:grpSpPr>
        <p:sp>
          <p:nvSpPr>
            <p:cNvPr name="Freeform 11" id="11"/>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12" id="12"/>
            <p:cNvSpPr txBox="true"/>
            <p:nvPr/>
          </p:nvSpPr>
          <p:spPr>
            <a:xfrm>
              <a:off x="0" y="-9525"/>
              <a:ext cx="5852160" cy="1381125"/>
            </a:xfrm>
            <a:prstGeom prst="rect">
              <a:avLst/>
            </a:prstGeom>
          </p:spPr>
          <p:txBody>
            <a:bodyPr anchor="ctr" rtlCol="false" tIns="0" lIns="0" bIns="0" rIns="0"/>
            <a:lstStyle/>
            <a:p>
              <a:pPr algn="l">
                <a:lnSpc>
                  <a:spcPts val="7200"/>
                </a:lnSpc>
              </a:pPr>
              <a:r>
                <a:rPr lang="en-US" sz="6000" b="true">
                  <a:solidFill>
                    <a:srgbClr val="A15C00"/>
                  </a:solidFill>
                  <a:latin typeface="Cambria Bold"/>
                  <a:ea typeface="Cambria Bold"/>
                  <a:cs typeface="Cambria Bold"/>
                  <a:sym typeface="Cambria Bold"/>
                </a:rPr>
                <a:t>19:40</a:t>
              </a:r>
            </a:p>
          </p:txBody>
        </p:sp>
      </p:grpSp>
      <p:grpSp>
        <p:nvGrpSpPr>
          <p:cNvPr name="Group 13" id="13"/>
          <p:cNvGrpSpPr/>
          <p:nvPr/>
        </p:nvGrpSpPr>
        <p:grpSpPr>
          <a:xfrm rot="0">
            <a:off x="1371600" y="3730752"/>
            <a:ext cx="4389120" cy="411480"/>
            <a:chOff x="0" y="0"/>
            <a:chExt cx="5852160" cy="548640"/>
          </a:xfrm>
        </p:grpSpPr>
        <p:sp>
          <p:nvSpPr>
            <p:cNvPr name="Freeform 14" id="14"/>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15" id="15"/>
            <p:cNvSpPr txBox="true"/>
            <p:nvPr/>
          </p:nvSpPr>
          <p:spPr>
            <a:xfrm>
              <a:off x="0" y="-47625"/>
              <a:ext cx="5852160" cy="596265"/>
            </a:xfrm>
            <a:prstGeom prst="rect">
              <a:avLst/>
            </a:prstGeom>
          </p:spPr>
          <p:txBody>
            <a:bodyPr anchor="ctr" rtlCol="false" tIns="0" lIns="0" bIns="0" rIns="0"/>
            <a:lstStyle/>
            <a:p>
              <a:pPr algn="l">
                <a:lnSpc>
                  <a:spcPts val="2520"/>
                </a:lnSpc>
              </a:pPr>
              <a:r>
                <a:rPr lang="en-US" sz="2100" b="true">
                  <a:solidFill>
                    <a:srgbClr val="1C1C1E"/>
                  </a:solidFill>
                  <a:latin typeface="Calibri (MS) Bold"/>
                  <a:ea typeface="Calibri (MS) Bold"/>
                  <a:cs typeface="Calibri (MS) Bold"/>
                  <a:sym typeface="Calibri (MS) Bold"/>
                </a:rPr>
                <a:t>Flight cancels</a:t>
              </a:r>
            </a:p>
          </p:txBody>
        </p:sp>
      </p:grpSp>
      <p:grpSp>
        <p:nvGrpSpPr>
          <p:cNvPr name="Group 16" id="16"/>
          <p:cNvGrpSpPr/>
          <p:nvPr/>
        </p:nvGrpSpPr>
        <p:grpSpPr>
          <a:xfrm rot="0">
            <a:off x="1371600" y="4183380"/>
            <a:ext cx="4389120" cy="1028700"/>
            <a:chOff x="0" y="0"/>
            <a:chExt cx="5852160" cy="1371600"/>
          </a:xfrm>
        </p:grpSpPr>
        <p:sp>
          <p:nvSpPr>
            <p:cNvPr name="Freeform 17" id="17"/>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18" id="18"/>
            <p:cNvSpPr txBox="true"/>
            <p:nvPr/>
          </p:nvSpPr>
          <p:spPr>
            <a:xfrm>
              <a:off x="0" y="-57150"/>
              <a:ext cx="5852160" cy="1428750"/>
            </a:xfrm>
            <a:prstGeom prst="rect">
              <a:avLst/>
            </a:prstGeom>
          </p:spPr>
          <p:txBody>
            <a:bodyPr anchor="ctr" rtlCol="false" tIns="0" lIns="0" bIns="0" rIns="0"/>
            <a:lstStyle/>
            <a:p>
              <a:pPr algn="l">
                <a:lnSpc>
                  <a:spcPts val="2399"/>
                </a:lnSpc>
              </a:pPr>
              <a:r>
                <a:rPr lang="en-US" sz="1800">
                  <a:solidFill>
                    <a:srgbClr val="6B6B70"/>
                  </a:solidFill>
                  <a:latin typeface="Calibri (MS)"/>
                  <a:ea typeface="Calibri (MS)"/>
                  <a:cs typeface="Calibri (MS)"/>
                  <a:sym typeface="Calibri (MS)"/>
                </a:rPr>
                <a:t>195 passengers, 18 crew, nobody has costed anything yet.</a:t>
              </a:r>
            </a:p>
          </p:txBody>
        </p:sp>
      </p:grpSp>
      <p:grpSp>
        <p:nvGrpSpPr>
          <p:cNvPr name="Group 19" id="19"/>
          <p:cNvGrpSpPr/>
          <p:nvPr/>
        </p:nvGrpSpPr>
        <p:grpSpPr>
          <a:xfrm rot="0">
            <a:off x="6519291" y="2390775"/>
            <a:ext cx="5231130" cy="2967990"/>
            <a:chOff x="0" y="0"/>
            <a:chExt cx="6974840" cy="3957320"/>
          </a:xfrm>
        </p:grpSpPr>
        <p:sp>
          <p:nvSpPr>
            <p:cNvPr name="Freeform 20" id="20"/>
            <p:cNvSpPr/>
            <p:nvPr/>
          </p:nvSpPr>
          <p:spPr>
            <a:xfrm flipH="false" flipV="false" rot="0">
              <a:off x="0" y="0"/>
              <a:ext cx="6974840" cy="3957320"/>
            </a:xfrm>
            <a:custGeom>
              <a:avLst/>
              <a:gdLst/>
              <a:ahLst/>
              <a:cxnLst/>
              <a:rect r="r" b="b" t="t" l="l"/>
              <a:pathLst>
                <a:path h="3957320" w="6974840">
                  <a:moveTo>
                    <a:pt x="0" y="147193"/>
                  </a:moveTo>
                  <a:cubicBezTo>
                    <a:pt x="0" y="65913"/>
                    <a:pt x="65913" y="0"/>
                    <a:pt x="147193" y="0"/>
                  </a:cubicBezTo>
                  <a:lnTo>
                    <a:pt x="6827647" y="0"/>
                  </a:lnTo>
                  <a:cubicBezTo>
                    <a:pt x="6908927" y="0"/>
                    <a:pt x="6974840" y="65913"/>
                    <a:pt x="6974840" y="147193"/>
                  </a:cubicBezTo>
                  <a:lnTo>
                    <a:pt x="6974840" y="3810127"/>
                  </a:lnTo>
                  <a:cubicBezTo>
                    <a:pt x="6974840" y="3891407"/>
                    <a:pt x="6908927" y="3957320"/>
                    <a:pt x="6827647" y="3957320"/>
                  </a:cubicBezTo>
                  <a:lnTo>
                    <a:pt x="147193" y="3957320"/>
                  </a:lnTo>
                  <a:cubicBezTo>
                    <a:pt x="65913" y="3957320"/>
                    <a:pt x="0" y="3891407"/>
                    <a:pt x="0" y="3810127"/>
                  </a:cubicBezTo>
                  <a:close/>
                </a:path>
              </a:pathLst>
            </a:custGeom>
            <a:solidFill>
              <a:srgbClr val="F7F7F9"/>
            </a:solidFill>
            <a:ln w="19050" cap="sq">
              <a:solidFill>
                <a:srgbClr val="F7F7F9"/>
              </a:solidFill>
              <a:prstDash val="solid"/>
              <a:miter/>
            </a:ln>
          </p:spPr>
        </p:sp>
      </p:grpSp>
      <p:grpSp>
        <p:nvGrpSpPr>
          <p:cNvPr name="Group 21" id="21"/>
          <p:cNvGrpSpPr/>
          <p:nvPr/>
        </p:nvGrpSpPr>
        <p:grpSpPr>
          <a:xfrm rot="0">
            <a:off x="6940296" y="2674620"/>
            <a:ext cx="4389120" cy="1028700"/>
            <a:chOff x="0" y="0"/>
            <a:chExt cx="5852160" cy="1371600"/>
          </a:xfrm>
        </p:grpSpPr>
        <p:sp>
          <p:nvSpPr>
            <p:cNvPr name="Freeform 22" id="22"/>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23" id="23"/>
            <p:cNvSpPr txBox="true"/>
            <p:nvPr/>
          </p:nvSpPr>
          <p:spPr>
            <a:xfrm>
              <a:off x="0" y="-9525"/>
              <a:ext cx="5852160" cy="1381125"/>
            </a:xfrm>
            <a:prstGeom prst="rect">
              <a:avLst/>
            </a:prstGeom>
          </p:spPr>
          <p:txBody>
            <a:bodyPr anchor="ctr" rtlCol="false" tIns="0" lIns="0" bIns="0" rIns="0"/>
            <a:lstStyle/>
            <a:p>
              <a:pPr algn="l">
                <a:lnSpc>
                  <a:spcPts val="7200"/>
                </a:lnSpc>
              </a:pPr>
              <a:r>
                <a:rPr lang="en-US" sz="6000" b="true">
                  <a:solidFill>
                    <a:srgbClr val="29528F"/>
                  </a:solidFill>
                  <a:latin typeface="Cambria Bold"/>
                  <a:ea typeface="Cambria Bold"/>
                  <a:cs typeface="Cambria Bold"/>
                  <a:sym typeface="Cambria Bold"/>
                </a:rPr>
                <a:t>23:30</a:t>
              </a:r>
            </a:p>
          </p:txBody>
        </p:sp>
      </p:grpSp>
      <p:grpSp>
        <p:nvGrpSpPr>
          <p:cNvPr name="Group 24" id="24"/>
          <p:cNvGrpSpPr/>
          <p:nvPr/>
        </p:nvGrpSpPr>
        <p:grpSpPr>
          <a:xfrm rot="0">
            <a:off x="6940296" y="3730752"/>
            <a:ext cx="4389120" cy="411480"/>
            <a:chOff x="0" y="0"/>
            <a:chExt cx="5852160" cy="548640"/>
          </a:xfrm>
        </p:grpSpPr>
        <p:sp>
          <p:nvSpPr>
            <p:cNvPr name="Freeform 25" id="25"/>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26" id="26"/>
            <p:cNvSpPr txBox="true"/>
            <p:nvPr/>
          </p:nvSpPr>
          <p:spPr>
            <a:xfrm>
              <a:off x="0" y="-47625"/>
              <a:ext cx="5852160" cy="596265"/>
            </a:xfrm>
            <a:prstGeom prst="rect">
              <a:avLst/>
            </a:prstGeom>
          </p:spPr>
          <p:txBody>
            <a:bodyPr anchor="ctr" rtlCol="false" tIns="0" lIns="0" bIns="0" rIns="0"/>
            <a:lstStyle/>
            <a:p>
              <a:pPr algn="l">
                <a:lnSpc>
                  <a:spcPts val="2520"/>
                </a:lnSpc>
              </a:pPr>
              <a:r>
                <a:rPr lang="en-US" sz="2100" b="true">
                  <a:solidFill>
                    <a:srgbClr val="1C1C1E"/>
                  </a:solidFill>
                  <a:latin typeface="Calibri (MS) Bold"/>
                  <a:ea typeface="Calibri (MS) Bold"/>
                  <a:cs typeface="Calibri (MS) Bold"/>
                  <a:sym typeface="Calibri (MS) Bold"/>
                </a:rPr>
                <a:t>Hotels stop check in</a:t>
              </a:r>
            </a:p>
          </p:txBody>
        </p:sp>
      </p:grpSp>
      <p:grpSp>
        <p:nvGrpSpPr>
          <p:cNvPr name="Group 27" id="27"/>
          <p:cNvGrpSpPr/>
          <p:nvPr/>
        </p:nvGrpSpPr>
        <p:grpSpPr>
          <a:xfrm rot="0">
            <a:off x="6940296" y="4183380"/>
            <a:ext cx="4389120" cy="1028700"/>
            <a:chOff x="0" y="0"/>
            <a:chExt cx="5852160" cy="1371600"/>
          </a:xfrm>
        </p:grpSpPr>
        <p:sp>
          <p:nvSpPr>
            <p:cNvPr name="Freeform 28" id="28"/>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29" id="29"/>
            <p:cNvSpPr txBox="true"/>
            <p:nvPr/>
          </p:nvSpPr>
          <p:spPr>
            <a:xfrm>
              <a:off x="0" y="-57150"/>
              <a:ext cx="5852160" cy="1428750"/>
            </a:xfrm>
            <a:prstGeom prst="rect">
              <a:avLst/>
            </a:prstGeom>
          </p:spPr>
          <p:txBody>
            <a:bodyPr anchor="ctr" rtlCol="false" tIns="0" lIns="0" bIns="0" rIns="0"/>
            <a:lstStyle/>
            <a:p>
              <a:pPr algn="l">
                <a:lnSpc>
                  <a:spcPts val="2399"/>
                </a:lnSpc>
              </a:pPr>
              <a:r>
                <a:rPr lang="en-US" sz="1800">
                  <a:solidFill>
                    <a:srgbClr val="6B6B70"/>
                  </a:solidFill>
                  <a:latin typeface="Calibri (MS)"/>
                  <a:ea typeface="Calibri (MS)"/>
                  <a:cs typeface="Calibri (MS)"/>
                  <a:sym typeface="Calibri (MS)"/>
                </a:rPr>
                <a:t>Rooms must be found, priced and approved before this.</a:t>
              </a:r>
            </a:p>
          </p:txBody>
        </p:sp>
      </p:grpSp>
      <p:grpSp>
        <p:nvGrpSpPr>
          <p:cNvPr name="Group 30" id="30"/>
          <p:cNvGrpSpPr/>
          <p:nvPr/>
        </p:nvGrpSpPr>
        <p:grpSpPr>
          <a:xfrm rot="0">
            <a:off x="12087987" y="2390775"/>
            <a:ext cx="5231130" cy="2967990"/>
            <a:chOff x="0" y="0"/>
            <a:chExt cx="6974840" cy="3957320"/>
          </a:xfrm>
        </p:grpSpPr>
        <p:sp>
          <p:nvSpPr>
            <p:cNvPr name="Freeform 31" id="31"/>
            <p:cNvSpPr/>
            <p:nvPr/>
          </p:nvSpPr>
          <p:spPr>
            <a:xfrm flipH="false" flipV="false" rot="0">
              <a:off x="0" y="0"/>
              <a:ext cx="6974840" cy="3957320"/>
            </a:xfrm>
            <a:custGeom>
              <a:avLst/>
              <a:gdLst/>
              <a:ahLst/>
              <a:cxnLst/>
              <a:rect r="r" b="b" t="t" l="l"/>
              <a:pathLst>
                <a:path h="3957320" w="6974840">
                  <a:moveTo>
                    <a:pt x="0" y="147193"/>
                  </a:moveTo>
                  <a:cubicBezTo>
                    <a:pt x="0" y="65913"/>
                    <a:pt x="65913" y="0"/>
                    <a:pt x="147193" y="0"/>
                  </a:cubicBezTo>
                  <a:lnTo>
                    <a:pt x="6827647" y="0"/>
                  </a:lnTo>
                  <a:cubicBezTo>
                    <a:pt x="6908927" y="0"/>
                    <a:pt x="6974840" y="65913"/>
                    <a:pt x="6974840" y="147193"/>
                  </a:cubicBezTo>
                  <a:lnTo>
                    <a:pt x="6974840" y="3810127"/>
                  </a:lnTo>
                  <a:cubicBezTo>
                    <a:pt x="6974840" y="3891407"/>
                    <a:pt x="6908927" y="3957320"/>
                    <a:pt x="6827647" y="3957320"/>
                  </a:cubicBezTo>
                  <a:lnTo>
                    <a:pt x="147193" y="3957320"/>
                  </a:lnTo>
                  <a:cubicBezTo>
                    <a:pt x="65913" y="3957320"/>
                    <a:pt x="0" y="3891407"/>
                    <a:pt x="0" y="3810127"/>
                  </a:cubicBezTo>
                  <a:close/>
                </a:path>
              </a:pathLst>
            </a:custGeom>
            <a:solidFill>
              <a:srgbClr val="F7F7F9"/>
            </a:solidFill>
            <a:ln w="19050" cap="sq">
              <a:solidFill>
                <a:srgbClr val="F7F7F9"/>
              </a:solidFill>
              <a:prstDash val="solid"/>
              <a:miter/>
            </a:ln>
          </p:spPr>
        </p:sp>
      </p:grpSp>
      <p:grpSp>
        <p:nvGrpSpPr>
          <p:cNvPr name="Group 32" id="32"/>
          <p:cNvGrpSpPr/>
          <p:nvPr/>
        </p:nvGrpSpPr>
        <p:grpSpPr>
          <a:xfrm rot="0">
            <a:off x="12508992" y="2674620"/>
            <a:ext cx="4389120" cy="1028700"/>
            <a:chOff x="0" y="0"/>
            <a:chExt cx="5852160" cy="1371600"/>
          </a:xfrm>
        </p:grpSpPr>
        <p:sp>
          <p:nvSpPr>
            <p:cNvPr name="Freeform 33" id="33"/>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34" id="34"/>
            <p:cNvSpPr txBox="true"/>
            <p:nvPr/>
          </p:nvSpPr>
          <p:spPr>
            <a:xfrm>
              <a:off x="0" y="-9525"/>
              <a:ext cx="5852160" cy="1381125"/>
            </a:xfrm>
            <a:prstGeom prst="rect">
              <a:avLst/>
            </a:prstGeom>
          </p:spPr>
          <p:txBody>
            <a:bodyPr anchor="ctr" rtlCol="false" tIns="0" lIns="0" bIns="0" rIns="0"/>
            <a:lstStyle/>
            <a:p>
              <a:pPr algn="l">
                <a:lnSpc>
                  <a:spcPts val="7200"/>
                </a:lnSpc>
              </a:pPr>
              <a:r>
                <a:rPr lang="en-US" sz="6000" b="true">
                  <a:solidFill>
                    <a:srgbClr val="29528F"/>
                  </a:solidFill>
                  <a:latin typeface="Cambria Bold"/>
                  <a:ea typeface="Cambria Bold"/>
                  <a:cs typeface="Cambria Bold"/>
                  <a:sym typeface="Cambria Bold"/>
                </a:rPr>
                <a:t>07:00</a:t>
              </a:r>
            </a:p>
          </p:txBody>
        </p:sp>
      </p:grpSp>
      <p:grpSp>
        <p:nvGrpSpPr>
          <p:cNvPr name="Group 35" id="35"/>
          <p:cNvGrpSpPr/>
          <p:nvPr/>
        </p:nvGrpSpPr>
        <p:grpSpPr>
          <a:xfrm rot="0">
            <a:off x="12508992" y="3730752"/>
            <a:ext cx="4389120" cy="411480"/>
            <a:chOff x="0" y="0"/>
            <a:chExt cx="5852160" cy="548640"/>
          </a:xfrm>
        </p:grpSpPr>
        <p:sp>
          <p:nvSpPr>
            <p:cNvPr name="Freeform 36" id="36"/>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37" id="37"/>
            <p:cNvSpPr txBox="true"/>
            <p:nvPr/>
          </p:nvSpPr>
          <p:spPr>
            <a:xfrm>
              <a:off x="0" y="-47625"/>
              <a:ext cx="5852160" cy="596265"/>
            </a:xfrm>
            <a:prstGeom prst="rect">
              <a:avLst/>
            </a:prstGeom>
          </p:spPr>
          <p:txBody>
            <a:bodyPr anchor="ctr" rtlCol="false" tIns="0" lIns="0" bIns="0" rIns="0"/>
            <a:lstStyle/>
            <a:p>
              <a:pPr algn="l">
                <a:lnSpc>
                  <a:spcPts val="2520"/>
                </a:lnSpc>
              </a:pPr>
              <a:r>
                <a:rPr lang="en-US" sz="2100" b="true">
                  <a:solidFill>
                    <a:srgbClr val="1C1C1E"/>
                  </a:solidFill>
                  <a:latin typeface="Calibri (MS) Bold"/>
                  <a:ea typeface="Calibri (MS) Bold"/>
                  <a:cs typeface="Calibri (MS) Bold"/>
                  <a:sym typeface="Calibri (MS) Bold"/>
                </a:rPr>
                <a:t>Next departure</a:t>
              </a:r>
            </a:p>
          </p:txBody>
        </p:sp>
      </p:grpSp>
      <p:grpSp>
        <p:nvGrpSpPr>
          <p:cNvPr name="Group 38" id="38"/>
          <p:cNvGrpSpPr/>
          <p:nvPr/>
        </p:nvGrpSpPr>
        <p:grpSpPr>
          <a:xfrm rot="0">
            <a:off x="12508992" y="4183380"/>
            <a:ext cx="4389120" cy="1028700"/>
            <a:chOff x="0" y="0"/>
            <a:chExt cx="5852160" cy="1371600"/>
          </a:xfrm>
        </p:grpSpPr>
        <p:sp>
          <p:nvSpPr>
            <p:cNvPr name="Freeform 39" id="39"/>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40" id="40"/>
            <p:cNvSpPr txBox="true"/>
            <p:nvPr/>
          </p:nvSpPr>
          <p:spPr>
            <a:xfrm>
              <a:off x="0" y="-57150"/>
              <a:ext cx="5852160" cy="1428750"/>
            </a:xfrm>
            <a:prstGeom prst="rect">
              <a:avLst/>
            </a:prstGeom>
          </p:spPr>
          <p:txBody>
            <a:bodyPr anchor="ctr" rtlCol="false" tIns="0" lIns="0" bIns="0" rIns="0"/>
            <a:lstStyle/>
            <a:p>
              <a:pPr algn="l">
                <a:lnSpc>
                  <a:spcPts val="2399"/>
                </a:lnSpc>
              </a:pPr>
              <a:r>
                <a:rPr lang="en-US" sz="1800">
                  <a:solidFill>
                    <a:srgbClr val="6B6B70"/>
                  </a:solidFill>
                  <a:latin typeface="Calibri (MS)"/>
                  <a:ea typeface="Calibri (MS)"/>
                  <a:cs typeface="Calibri (MS)"/>
                  <a:sym typeface="Calibri (MS)"/>
                </a:rPr>
                <a:t>Whatever rest is left after coaches out and back.</a:t>
              </a:r>
            </a:p>
          </p:txBody>
        </p:sp>
      </p:grpSp>
      <p:grpSp>
        <p:nvGrpSpPr>
          <p:cNvPr name="Group 41" id="41"/>
          <p:cNvGrpSpPr/>
          <p:nvPr/>
        </p:nvGrpSpPr>
        <p:grpSpPr>
          <a:xfrm rot="0">
            <a:off x="960120" y="5966460"/>
            <a:ext cx="16322040" cy="548640"/>
            <a:chOff x="0" y="0"/>
            <a:chExt cx="21762720" cy="731520"/>
          </a:xfrm>
        </p:grpSpPr>
        <p:sp>
          <p:nvSpPr>
            <p:cNvPr name="Freeform 42" id="42"/>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43" id="43"/>
            <p:cNvSpPr txBox="true"/>
            <p:nvPr/>
          </p:nvSpPr>
          <p:spPr>
            <a:xfrm>
              <a:off x="0" y="-9525"/>
              <a:ext cx="21762720" cy="741045"/>
            </a:xfrm>
            <a:prstGeom prst="rect">
              <a:avLst/>
            </a:prstGeom>
          </p:spPr>
          <p:txBody>
            <a:bodyPr anchor="ctr" rtlCol="false" tIns="0" lIns="0" bIns="0" rIns="0"/>
            <a:lstStyle/>
            <a:p>
              <a:pPr algn="l">
                <a:lnSpc>
                  <a:spcPts val="3960"/>
                </a:lnSpc>
              </a:pPr>
              <a:r>
                <a:rPr lang="en-US" sz="3300" b="true">
                  <a:solidFill>
                    <a:srgbClr val="1C1C1E"/>
                  </a:solidFill>
                  <a:latin typeface="Cambria Bold"/>
                  <a:ea typeface="Cambria Bold"/>
                  <a:cs typeface="Cambria Bold"/>
                  <a:sym typeface="Cambria Bold"/>
                </a:rPr>
                <a:t>The station duty manager works from memory and a phone list.</a:t>
              </a:r>
            </a:p>
          </p:txBody>
        </p:sp>
      </p:grpSp>
      <p:grpSp>
        <p:nvGrpSpPr>
          <p:cNvPr name="Group 44" id="44"/>
          <p:cNvGrpSpPr/>
          <p:nvPr/>
        </p:nvGrpSpPr>
        <p:grpSpPr>
          <a:xfrm rot="0">
            <a:off x="960120" y="6652260"/>
            <a:ext cx="16322040" cy="1645920"/>
            <a:chOff x="0" y="0"/>
            <a:chExt cx="21762720" cy="2194560"/>
          </a:xfrm>
        </p:grpSpPr>
        <p:sp>
          <p:nvSpPr>
            <p:cNvPr name="Freeform 45" id="45"/>
            <p:cNvSpPr/>
            <p:nvPr/>
          </p:nvSpPr>
          <p:spPr>
            <a:xfrm flipH="false" flipV="false" rot="0">
              <a:off x="0" y="0"/>
              <a:ext cx="21762720" cy="2194560"/>
            </a:xfrm>
            <a:custGeom>
              <a:avLst/>
              <a:gdLst/>
              <a:ahLst/>
              <a:cxnLst/>
              <a:rect r="r" b="b" t="t" l="l"/>
              <a:pathLst>
                <a:path h="2194560" w="21762720">
                  <a:moveTo>
                    <a:pt x="0" y="0"/>
                  </a:moveTo>
                  <a:lnTo>
                    <a:pt x="21762720" y="0"/>
                  </a:lnTo>
                  <a:lnTo>
                    <a:pt x="21762720" y="2194560"/>
                  </a:lnTo>
                  <a:lnTo>
                    <a:pt x="0" y="2194560"/>
                  </a:lnTo>
                  <a:close/>
                </a:path>
              </a:pathLst>
            </a:custGeom>
            <a:blipFill>
              <a:blip r:embed="rId3">
                <a:alphaModFix amt="0"/>
              </a:blip>
              <a:stretch>
                <a:fillRect l="0" t="-143226" r="0" b="-143226"/>
              </a:stretch>
            </a:blipFill>
          </p:spPr>
        </p:sp>
        <p:sp>
          <p:nvSpPr>
            <p:cNvPr name="TextBox 46" id="46"/>
            <p:cNvSpPr txBox="true"/>
            <p:nvPr/>
          </p:nvSpPr>
          <p:spPr>
            <a:xfrm>
              <a:off x="0" y="-76200"/>
              <a:ext cx="21762720" cy="2270760"/>
            </a:xfrm>
            <a:prstGeom prst="rect">
              <a:avLst/>
            </a:prstGeom>
          </p:spPr>
          <p:txBody>
            <a:bodyPr anchor="ctr" rtlCol="false" tIns="0" lIns="0" bIns="0" rIns="0"/>
            <a:lstStyle/>
            <a:p>
              <a:pPr algn="l" marL="407194" indent="-203597" lvl="1">
                <a:lnSpc>
                  <a:spcPts val="2999"/>
                </a:lnSpc>
                <a:buFont typeface="Arial"/>
                <a:buChar char="•"/>
              </a:pPr>
              <a:r>
                <a:rPr lang="en-US" sz="2250">
                  <a:solidFill>
                    <a:srgbClr val="1C1C1E"/>
                  </a:solidFill>
                  <a:latin typeface="Calibri (MS)"/>
                  <a:ea typeface="Calibri (MS)"/>
                  <a:cs typeface="Calibri (MS)"/>
                  <a:sym typeface="Calibri (MS)"/>
                </a:rPr>
                <a:t>He over books rooms, because nothing tells him which passengers started their journey here and are simply going home.</a:t>
              </a:r>
            </a:p>
            <a:p>
              <a:pPr algn="l" marL="407194" indent="-203597" lvl="1">
                <a:lnSpc>
                  <a:spcPts val="2999"/>
                </a:lnSpc>
                <a:buFont typeface="Arial"/>
                <a:buChar char="•"/>
              </a:pPr>
              <a:r>
                <a:rPr lang="en-US" sz="2250">
                  <a:solidFill>
                    <a:srgbClr val="1C1C1E"/>
                  </a:solidFill>
                  <a:latin typeface="Calibri (MS)"/>
                  <a:ea typeface="Calibri (MS)"/>
                  <a:cs typeface="Calibri (MS)"/>
                  <a:sym typeface="Calibri (MS)"/>
                </a:rPr>
                <a:t>The decision stalls, because authority to commit the spend sits above the station and the case for it is not in front of anyone.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THE LEGAL FLOOR</a:t>
              </a:r>
            </a:p>
          </p:txBody>
        </p:sp>
      </p:grpSp>
      <p:grpSp>
        <p:nvGrpSpPr>
          <p:cNvPr name="Group 5" id="5"/>
          <p:cNvGrpSpPr/>
          <p:nvPr/>
        </p:nvGrpSpPr>
        <p:grpSpPr>
          <a:xfrm rot="0">
            <a:off x="960120"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Compensation is conditional. Care is not.</a:t>
              </a:r>
            </a:p>
          </p:txBody>
        </p:sp>
      </p:grpSp>
      <p:grpSp>
        <p:nvGrpSpPr>
          <p:cNvPr name="Group 8" id="8"/>
          <p:cNvGrpSpPr/>
          <p:nvPr/>
        </p:nvGrpSpPr>
        <p:grpSpPr>
          <a:xfrm rot="0">
            <a:off x="950595" y="2459355"/>
            <a:ext cx="7974330" cy="4133850"/>
            <a:chOff x="0" y="0"/>
            <a:chExt cx="10632440" cy="5511800"/>
          </a:xfrm>
        </p:grpSpPr>
        <p:sp>
          <p:nvSpPr>
            <p:cNvPr name="Freeform 9" id="9"/>
            <p:cNvSpPr/>
            <p:nvPr/>
          </p:nvSpPr>
          <p:spPr>
            <a:xfrm flipH="false" flipV="false" rot="0">
              <a:off x="0" y="0"/>
              <a:ext cx="10632440" cy="5511800"/>
            </a:xfrm>
            <a:custGeom>
              <a:avLst/>
              <a:gdLst/>
              <a:ahLst/>
              <a:cxnLst/>
              <a:rect r="r" b="b" t="t" l="l"/>
              <a:pathLst>
                <a:path h="5511800" w="10632440">
                  <a:moveTo>
                    <a:pt x="0" y="146939"/>
                  </a:moveTo>
                  <a:cubicBezTo>
                    <a:pt x="0" y="65786"/>
                    <a:pt x="65786" y="0"/>
                    <a:pt x="146939" y="0"/>
                  </a:cubicBezTo>
                  <a:lnTo>
                    <a:pt x="10485501" y="0"/>
                  </a:lnTo>
                  <a:cubicBezTo>
                    <a:pt x="10566654" y="0"/>
                    <a:pt x="10632440" y="65786"/>
                    <a:pt x="10632440" y="146939"/>
                  </a:cubicBezTo>
                  <a:lnTo>
                    <a:pt x="10632440" y="5364861"/>
                  </a:lnTo>
                  <a:cubicBezTo>
                    <a:pt x="10632440" y="5446014"/>
                    <a:pt x="10566654" y="5511800"/>
                    <a:pt x="10485501" y="5511800"/>
                  </a:cubicBezTo>
                  <a:lnTo>
                    <a:pt x="146939" y="5511800"/>
                  </a:lnTo>
                  <a:cubicBezTo>
                    <a:pt x="65786" y="5511800"/>
                    <a:pt x="0" y="5446014"/>
                    <a:pt x="0" y="5364861"/>
                  </a:cubicBezTo>
                  <a:close/>
                </a:path>
              </a:pathLst>
            </a:custGeom>
            <a:solidFill>
              <a:srgbClr val="F7F7F9"/>
            </a:solidFill>
            <a:ln w="19050" cap="sq">
              <a:solidFill>
                <a:srgbClr val="F7F7F9"/>
              </a:solidFill>
              <a:prstDash val="solid"/>
              <a:miter/>
            </a:ln>
          </p:spPr>
        </p:sp>
      </p:grpSp>
      <p:grpSp>
        <p:nvGrpSpPr>
          <p:cNvPr name="Group 10" id="10"/>
          <p:cNvGrpSpPr/>
          <p:nvPr/>
        </p:nvGrpSpPr>
        <p:grpSpPr>
          <a:xfrm rot="0">
            <a:off x="1440180" y="2811780"/>
            <a:ext cx="6995160" cy="480060"/>
            <a:chOff x="0" y="0"/>
            <a:chExt cx="9326880" cy="640080"/>
          </a:xfrm>
        </p:grpSpPr>
        <p:sp>
          <p:nvSpPr>
            <p:cNvPr name="Freeform 11" id="11"/>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12" id="12"/>
            <p:cNvSpPr txBox="true"/>
            <p:nvPr/>
          </p:nvSpPr>
          <p:spPr>
            <a:xfrm>
              <a:off x="0" y="-47625"/>
              <a:ext cx="9326880" cy="687705"/>
            </a:xfrm>
            <a:prstGeom prst="rect">
              <a:avLst/>
            </a:prstGeom>
          </p:spPr>
          <p:txBody>
            <a:bodyPr anchor="ctr" rtlCol="false" tIns="0" lIns="0" bIns="0" rIns="0"/>
            <a:lstStyle/>
            <a:p>
              <a:pPr algn="l">
                <a:lnSpc>
                  <a:spcPts val="2340"/>
                </a:lnSpc>
              </a:pPr>
              <a:r>
                <a:rPr lang="en-US" b="true" sz="1950" spc="150">
                  <a:solidFill>
                    <a:srgbClr val="6B6B70"/>
                  </a:solidFill>
                  <a:latin typeface="Calibri (MS) Bold"/>
                  <a:ea typeface="Calibri (MS) Bold"/>
                  <a:cs typeface="Calibri (MS) Bold"/>
                  <a:sym typeface="Calibri (MS) Bold"/>
                </a:rPr>
                <a:t>Article 7  Compensation</a:t>
              </a:r>
            </a:p>
          </p:txBody>
        </p:sp>
      </p:grpSp>
      <p:grpSp>
        <p:nvGrpSpPr>
          <p:cNvPr name="Group 13" id="13"/>
          <p:cNvGrpSpPr/>
          <p:nvPr/>
        </p:nvGrpSpPr>
        <p:grpSpPr>
          <a:xfrm rot="0">
            <a:off x="1440180" y="3360420"/>
            <a:ext cx="6995160" cy="822960"/>
            <a:chOff x="0" y="0"/>
            <a:chExt cx="9326880" cy="1097280"/>
          </a:xfrm>
        </p:grpSpPr>
        <p:sp>
          <p:nvSpPr>
            <p:cNvPr name="Freeform 14" id="14"/>
            <p:cNvSpPr/>
            <p:nvPr/>
          </p:nvSpPr>
          <p:spPr>
            <a:xfrm flipH="false" flipV="false" rot="0">
              <a:off x="0" y="0"/>
              <a:ext cx="9326880" cy="1097280"/>
            </a:xfrm>
            <a:custGeom>
              <a:avLst/>
              <a:gdLst/>
              <a:ahLst/>
              <a:cxnLst/>
              <a:rect r="r" b="b" t="t" l="l"/>
              <a:pathLst>
                <a:path h="1097280" w="9326880">
                  <a:moveTo>
                    <a:pt x="0" y="0"/>
                  </a:moveTo>
                  <a:lnTo>
                    <a:pt x="9326880" y="0"/>
                  </a:lnTo>
                  <a:lnTo>
                    <a:pt x="9326880" y="1097280"/>
                  </a:lnTo>
                  <a:lnTo>
                    <a:pt x="0" y="1097280"/>
                  </a:lnTo>
                  <a:close/>
                </a:path>
              </a:pathLst>
            </a:custGeom>
            <a:blipFill>
              <a:blip r:embed="rId3">
                <a:alphaModFix amt="0"/>
              </a:blip>
              <a:stretch>
                <a:fillRect l="0" t="-115622" r="0" b="-115622"/>
              </a:stretch>
            </a:blipFill>
          </p:spPr>
        </p:sp>
        <p:sp>
          <p:nvSpPr>
            <p:cNvPr name="TextBox 15" id="15"/>
            <p:cNvSpPr txBox="true"/>
            <p:nvPr/>
          </p:nvSpPr>
          <p:spPr>
            <a:xfrm>
              <a:off x="0" y="-9525"/>
              <a:ext cx="9326880" cy="1106805"/>
            </a:xfrm>
            <a:prstGeom prst="rect">
              <a:avLst/>
            </a:prstGeom>
          </p:spPr>
          <p:txBody>
            <a:bodyPr anchor="ctr" rtlCol="false" tIns="0" lIns="0" bIns="0" rIns="0"/>
            <a:lstStyle/>
            <a:p>
              <a:pPr algn="l">
                <a:lnSpc>
                  <a:spcPts val="5759"/>
                </a:lnSpc>
              </a:pPr>
              <a:r>
                <a:rPr lang="en-US" sz="4800" b="true">
                  <a:solidFill>
                    <a:srgbClr val="6B6B70"/>
                  </a:solidFill>
                  <a:latin typeface="Cambria Bold"/>
                  <a:ea typeface="Cambria Bold"/>
                  <a:cs typeface="Cambria Bold"/>
                  <a:sym typeface="Cambria Bold"/>
                </a:rPr>
                <a:t>Can be zero</a:t>
              </a:r>
            </a:p>
          </p:txBody>
        </p:sp>
      </p:grpSp>
      <p:grpSp>
        <p:nvGrpSpPr>
          <p:cNvPr name="Group 16" id="16"/>
          <p:cNvGrpSpPr/>
          <p:nvPr/>
        </p:nvGrpSpPr>
        <p:grpSpPr>
          <a:xfrm rot="0">
            <a:off x="1440180" y="4320540"/>
            <a:ext cx="6995160" cy="2057400"/>
            <a:chOff x="0" y="0"/>
            <a:chExt cx="9326880" cy="2743200"/>
          </a:xfrm>
        </p:grpSpPr>
        <p:sp>
          <p:nvSpPr>
            <p:cNvPr name="Freeform 17" id="17"/>
            <p:cNvSpPr/>
            <p:nvPr/>
          </p:nvSpPr>
          <p:spPr>
            <a:xfrm flipH="false" flipV="false" rot="0">
              <a:off x="0" y="0"/>
              <a:ext cx="9326880" cy="2743200"/>
            </a:xfrm>
            <a:custGeom>
              <a:avLst/>
              <a:gdLst/>
              <a:ahLst/>
              <a:cxnLst/>
              <a:rect r="r" b="b" t="t" l="l"/>
              <a:pathLst>
                <a:path h="2743200" w="9326880">
                  <a:moveTo>
                    <a:pt x="0" y="0"/>
                  </a:moveTo>
                  <a:lnTo>
                    <a:pt x="9326880" y="0"/>
                  </a:lnTo>
                  <a:lnTo>
                    <a:pt x="9326880" y="2743200"/>
                  </a:lnTo>
                  <a:lnTo>
                    <a:pt x="0" y="2743200"/>
                  </a:lnTo>
                  <a:close/>
                </a:path>
              </a:pathLst>
            </a:custGeom>
            <a:blipFill>
              <a:blip r:embed="rId3">
                <a:alphaModFix amt="0"/>
              </a:blip>
              <a:stretch>
                <a:fillRect l="0" t="-16249" r="0" b="-16249"/>
              </a:stretch>
            </a:blipFill>
          </p:spPr>
        </p:sp>
        <p:sp>
          <p:nvSpPr>
            <p:cNvPr name="TextBox 18" id="18"/>
            <p:cNvSpPr txBox="true"/>
            <p:nvPr/>
          </p:nvSpPr>
          <p:spPr>
            <a:xfrm>
              <a:off x="0" y="-47625"/>
              <a:ext cx="9326880" cy="2790825"/>
            </a:xfrm>
            <a:prstGeom prst="rect">
              <a:avLst/>
            </a:prstGeom>
          </p:spPr>
          <p:txBody>
            <a:bodyPr anchor="ctr" rtlCol="false" tIns="0" lIns="0" bIns="0" rIns="0"/>
            <a:lstStyle/>
            <a:p>
              <a:pPr algn="l" marL="352901" indent="-176451" lvl="1">
                <a:lnSpc>
                  <a:spcPts val="2340"/>
                </a:lnSpc>
                <a:buFont typeface="Arial"/>
                <a:buChar char="•"/>
              </a:pPr>
              <a:r>
                <a:rPr lang="en-US" sz="1950">
                  <a:solidFill>
                    <a:srgbClr val="1C1C1E"/>
                  </a:solidFill>
                  <a:latin typeface="Calibri (MS)"/>
                  <a:ea typeface="Calibri (MS)"/>
                  <a:cs typeface="Calibri (MS)"/>
                  <a:sym typeface="Calibri (MS)"/>
                </a:rPr>
                <a:t>Owed only when the cause is within the airline's control</a:t>
              </a:r>
            </a:p>
            <a:p>
              <a:pPr algn="l" marL="352901" indent="-176451" lvl="1">
                <a:lnSpc>
                  <a:spcPts val="2340"/>
                </a:lnSpc>
                <a:buFont typeface="Arial"/>
                <a:buChar char="•"/>
              </a:pPr>
              <a:r>
                <a:rPr lang="en-US" sz="1950">
                  <a:solidFill>
                    <a:srgbClr val="1C1C1E"/>
                  </a:solidFill>
                  <a:latin typeface="Calibri (MS)"/>
                  <a:ea typeface="Calibri (MS)"/>
                  <a:cs typeface="Calibri (MS)"/>
                  <a:sym typeface="Calibri (MS)"/>
                </a:rPr>
                <a:t>Extraordinary circumstances remove it entirely</a:t>
              </a:r>
            </a:p>
            <a:p>
              <a:pPr algn="l" marL="352901" indent="-176451" lvl="1">
                <a:lnSpc>
                  <a:spcPts val="2340"/>
                </a:lnSpc>
                <a:buFont typeface="Arial"/>
                <a:buChar char="•"/>
              </a:pPr>
              <a:r>
                <a:rPr lang="en-US" sz="1950">
                  <a:solidFill>
                    <a:srgbClr val="1C1C1E"/>
                  </a:solidFill>
                  <a:latin typeface="Calibri (MS)"/>
                  <a:ea typeface="Calibri (MS)"/>
                  <a:cs typeface="Calibri (MS)"/>
                  <a:sym typeface="Calibri (MS)"/>
                </a:rPr>
                <a:t>Never a station decision</a:t>
              </a:r>
            </a:p>
          </p:txBody>
        </p:sp>
      </p:grpSp>
      <p:grpSp>
        <p:nvGrpSpPr>
          <p:cNvPr name="Group 19" id="19"/>
          <p:cNvGrpSpPr/>
          <p:nvPr/>
        </p:nvGrpSpPr>
        <p:grpSpPr>
          <a:xfrm rot="0">
            <a:off x="9317355" y="2459355"/>
            <a:ext cx="7974330" cy="4133850"/>
            <a:chOff x="0" y="0"/>
            <a:chExt cx="10632440" cy="5511800"/>
          </a:xfrm>
        </p:grpSpPr>
        <p:sp>
          <p:nvSpPr>
            <p:cNvPr name="Freeform 20" id="20"/>
            <p:cNvSpPr/>
            <p:nvPr/>
          </p:nvSpPr>
          <p:spPr>
            <a:xfrm flipH="false" flipV="false" rot="0">
              <a:off x="0" y="0"/>
              <a:ext cx="10632440" cy="5511800"/>
            </a:xfrm>
            <a:custGeom>
              <a:avLst/>
              <a:gdLst/>
              <a:ahLst/>
              <a:cxnLst/>
              <a:rect r="r" b="b" t="t" l="l"/>
              <a:pathLst>
                <a:path h="5511800" w="10632440">
                  <a:moveTo>
                    <a:pt x="0" y="146939"/>
                  </a:moveTo>
                  <a:cubicBezTo>
                    <a:pt x="0" y="65786"/>
                    <a:pt x="65786" y="0"/>
                    <a:pt x="146939" y="0"/>
                  </a:cubicBezTo>
                  <a:lnTo>
                    <a:pt x="10485501" y="0"/>
                  </a:lnTo>
                  <a:cubicBezTo>
                    <a:pt x="10566654" y="0"/>
                    <a:pt x="10632440" y="65786"/>
                    <a:pt x="10632440" y="146939"/>
                  </a:cubicBezTo>
                  <a:lnTo>
                    <a:pt x="10632440" y="5364861"/>
                  </a:lnTo>
                  <a:cubicBezTo>
                    <a:pt x="10632440" y="5446014"/>
                    <a:pt x="10566654" y="5511800"/>
                    <a:pt x="10485501" y="5511800"/>
                  </a:cubicBezTo>
                  <a:lnTo>
                    <a:pt x="146939" y="5511800"/>
                  </a:lnTo>
                  <a:cubicBezTo>
                    <a:pt x="65786" y="5511800"/>
                    <a:pt x="0" y="5446014"/>
                    <a:pt x="0" y="5364861"/>
                  </a:cubicBezTo>
                  <a:close/>
                </a:path>
              </a:pathLst>
            </a:custGeom>
            <a:solidFill>
              <a:srgbClr val="E8F5EE"/>
            </a:solidFill>
            <a:ln w="19050" cap="sq">
              <a:solidFill>
                <a:srgbClr val="E8F5EE"/>
              </a:solidFill>
              <a:prstDash val="solid"/>
              <a:miter/>
            </a:ln>
          </p:spPr>
        </p:sp>
      </p:grpSp>
      <p:grpSp>
        <p:nvGrpSpPr>
          <p:cNvPr name="Group 21" id="21"/>
          <p:cNvGrpSpPr/>
          <p:nvPr/>
        </p:nvGrpSpPr>
        <p:grpSpPr>
          <a:xfrm rot="0">
            <a:off x="9806940" y="2811780"/>
            <a:ext cx="6995160" cy="480060"/>
            <a:chOff x="0" y="0"/>
            <a:chExt cx="9326880" cy="640080"/>
          </a:xfrm>
        </p:grpSpPr>
        <p:sp>
          <p:nvSpPr>
            <p:cNvPr name="Freeform 22" id="22"/>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23" id="23"/>
            <p:cNvSpPr txBox="true"/>
            <p:nvPr/>
          </p:nvSpPr>
          <p:spPr>
            <a:xfrm>
              <a:off x="0" y="-47625"/>
              <a:ext cx="9326880" cy="687705"/>
            </a:xfrm>
            <a:prstGeom prst="rect">
              <a:avLst/>
            </a:prstGeom>
          </p:spPr>
          <p:txBody>
            <a:bodyPr anchor="ctr" rtlCol="false" tIns="0" lIns="0" bIns="0" rIns="0"/>
            <a:lstStyle/>
            <a:p>
              <a:pPr algn="l">
                <a:lnSpc>
                  <a:spcPts val="2340"/>
                </a:lnSpc>
              </a:pPr>
              <a:r>
                <a:rPr lang="en-US" b="true" sz="1950" spc="150">
                  <a:solidFill>
                    <a:srgbClr val="0F7B4F"/>
                  </a:solidFill>
                  <a:latin typeface="Calibri (MS) Bold"/>
                  <a:ea typeface="Calibri (MS) Bold"/>
                  <a:cs typeface="Calibri (MS) Bold"/>
                  <a:sym typeface="Calibri (MS) Bold"/>
                </a:rPr>
                <a:t>Article 9  Duty of care</a:t>
              </a:r>
            </a:p>
          </p:txBody>
        </p:sp>
      </p:grpSp>
      <p:grpSp>
        <p:nvGrpSpPr>
          <p:cNvPr name="Group 24" id="24"/>
          <p:cNvGrpSpPr/>
          <p:nvPr/>
        </p:nvGrpSpPr>
        <p:grpSpPr>
          <a:xfrm rot="0">
            <a:off x="9806940" y="3360420"/>
            <a:ext cx="6995160" cy="822960"/>
            <a:chOff x="0" y="0"/>
            <a:chExt cx="9326880" cy="1097280"/>
          </a:xfrm>
        </p:grpSpPr>
        <p:sp>
          <p:nvSpPr>
            <p:cNvPr name="Freeform 25" id="25"/>
            <p:cNvSpPr/>
            <p:nvPr/>
          </p:nvSpPr>
          <p:spPr>
            <a:xfrm flipH="false" flipV="false" rot="0">
              <a:off x="0" y="0"/>
              <a:ext cx="9326880" cy="1097280"/>
            </a:xfrm>
            <a:custGeom>
              <a:avLst/>
              <a:gdLst/>
              <a:ahLst/>
              <a:cxnLst/>
              <a:rect r="r" b="b" t="t" l="l"/>
              <a:pathLst>
                <a:path h="1097280" w="9326880">
                  <a:moveTo>
                    <a:pt x="0" y="0"/>
                  </a:moveTo>
                  <a:lnTo>
                    <a:pt x="9326880" y="0"/>
                  </a:lnTo>
                  <a:lnTo>
                    <a:pt x="9326880" y="1097280"/>
                  </a:lnTo>
                  <a:lnTo>
                    <a:pt x="0" y="1097280"/>
                  </a:lnTo>
                  <a:close/>
                </a:path>
              </a:pathLst>
            </a:custGeom>
            <a:blipFill>
              <a:blip r:embed="rId3">
                <a:alphaModFix amt="0"/>
              </a:blip>
              <a:stretch>
                <a:fillRect l="0" t="-115622" r="0" b="-115622"/>
              </a:stretch>
            </a:blipFill>
          </p:spPr>
        </p:sp>
        <p:sp>
          <p:nvSpPr>
            <p:cNvPr name="TextBox 26" id="26"/>
            <p:cNvSpPr txBox="true"/>
            <p:nvPr/>
          </p:nvSpPr>
          <p:spPr>
            <a:xfrm>
              <a:off x="0" y="-9525"/>
              <a:ext cx="9326880" cy="1106805"/>
            </a:xfrm>
            <a:prstGeom prst="rect">
              <a:avLst/>
            </a:prstGeom>
          </p:spPr>
          <p:txBody>
            <a:bodyPr anchor="ctr" rtlCol="false" tIns="0" lIns="0" bIns="0" rIns="0"/>
            <a:lstStyle/>
            <a:p>
              <a:pPr algn="l">
                <a:lnSpc>
                  <a:spcPts val="5759"/>
                </a:lnSpc>
              </a:pPr>
              <a:r>
                <a:rPr lang="en-US" sz="4800" b="true">
                  <a:solidFill>
                    <a:srgbClr val="0F7B4F"/>
                  </a:solidFill>
                  <a:latin typeface="Cambria Bold"/>
                  <a:ea typeface="Cambria Bold"/>
                  <a:cs typeface="Cambria Bold"/>
                  <a:sym typeface="Cambria Bold"/>
                </a:rPr>
                <a:t>Always owed, no ceiling</a:t>
              </a:r>
            </a:p>
          </p:txBody>
        </p:sp>
      </p:grpSp>
      <p:grpSp>
        <p:nvGrpSpPr>
          <p:cNvPr name="Group 27" id="27"/>
          <p:cNvGrpSpPr/>
          <p:nvPr/>
        </p:nvGrpSpPr>
        <p:grpSpPr>
          <a:xfrm rot="0">
            <a:off x="9806940" y="4320540"/>
            <a:ext cx="6995160" cy="2057400"/>
            <a:chOff x="0" y="0"/>
            <a:chExt cx="9326880" cy="2743200"/>
          </a:xfrm>
        </p:grpSpPr>
        <p:sp>
          <p:nvSpPr>
            <p:cNvPr name="Freeform 28" id="28"/>
            <p:cNvSpPr/>
            <p:nvPr/>
          </p:nvSpPr>
          <p:spPr>
            <a:xfrm flipH="false" flipV="false" rot="0">
              <a:off x="0" y="0"/>
              <a:ext cx="9326880" cy="2743200"/>
            </a:xfrm>
            <a:custGeom>
              <a:avLst/>
              <a:gdLst/>
              <a:ahLst/>
              <a:cxnLst/>
              <a:rect r="r" b="b" t="t" l="l"/>
              <a:pathLst>
                <a:path h="2743200" w="9326880">
                  <a:moveTo>
                    <a:pt x="0" y="0"/>
                  </a:moveTo>
                  <a:lnTo>
                    <a:pt x="9326880" y="0"/>
                  </a:lnTo>
                  <a:lnTo>
                    <a:pt x="9326880" y="2743200"/>
                  </a:lnTo>
                  <a:lnTo>
                    <a:pt x="0" y="2743200"/>
                  </a:lnTo>
                  <a:close/>
                </a:path>
              </a:pathLst>
            </a:custGeom>
            <a:blipFill>
              <a:blip r:embed="rId3">
                <a:alphaModFix amt="0"/>
              </a:blip>
              <a:stretch>
                <a:fillRect l="0" t="-16249" r="0" b="-16249"/>
              </a:stretch>
            </a:blipFill>
          </p:spPr>
        </p:sp>
        <p:sp>
          <p:nvSpPr>
            <p:cNvPr name="TextBox 29" id="29"/>
            <p:cNvSpPr txBox="true"/>
            <p:nvPr/>
          </p:nvSpPr>
          <p:spPr>
            <a:xfrm>
              <a:off x="0" y="-47625"/>
              <a:ext cx="9326880" cy="2790825"/>
            </a:xfrm>
            <a:prstGeom prst="rect">
              <a:avLst/>
            </a:prstGeom>
          </p:spPr>
          <p:txBody>
            <a:bodyPr anchor="ctr" rtlCol="false" tIns="0" lIns="0" bIns="0" rIns="0"/>
            <a:lstStyle/>
            <a:p>
              <a:pPr algn="l" marL="352901" indent="-176451" lvl="1">
                <a:lnSpc>
                  <a:spcPts val="2340"/>
                </a:lnSpc>
                <a:buFont typeface="Arial"/>
                <a:buChar char="•"/>
              </a:pPr>
              <a:r>
                <a:rPr lang="en-US" sz="1950">
                  <a:solidFill>
                    <a:srgbClr val="1C1C1E"/>
                  </a:solidFill>
                  <a:latin typeface="Calibri (MS)"/>
                  <a:ea typeface="Calibri (MS)"/>
                  <a:cs typeface="Calibri (MS)"/>
                  <a:sym typeface="Calibri (MS)"/>
                </a:rPr>
                <a:t>Rooms, meals and transport, whatever the cause</a:t>
              </a:r>
            </a:p>
            <a:p>
              <a:pPr algn="l" marL="352901" indent="-176451" lvl="1">
                <a:lnSpc>
                  <a:spcPts val="2340"/>
                </a:lnSpc>
                <a:buFont typeface="Arial"/>
                <a:buChar char="•"/>
              </a:pPr>
              <a:r>
                <a:rPr lang="en-US" sz="1950">
                  <a:solidFill>
                    <a:srgbClr val="1C1C1E"/>
                  </a:solidFill>
                  <a:latin typeface="Calibri (MS)"/>
                  <a:ea typeface="Calibri (MS)"/>
                  <a:cs typeface="Calibri (MS)"/>
                  <a:sym typeface="Calibri (MS)"/>
                </a:rPr>
                <a:t>Survives extraordinary circumstances</a:t>
              </a:r>
            </a:p>
            <a:p>
              <a:pPr algn="l" marL="352901" indent="-176451" lvl="1">
                <a:lnSpc>
                  <a:spcPts val="2340"/>
                </a:lnSpc>
                <a:buFont typeface="Arial"/>
                <a:buChar char="•"/>
              </a:pPr>
              <a:r>
                <a:rPr lang="en-US" sz="1950">
                  <a:solidFill>
                    <a:srgbClr val="1C1C1E"/>
                  </a:solidFill>
                  <a:latin typeface="Calibri (MS)"/>
                  <a:ea typeface="Calibri (MS)"/>
                  <a:cs typeface="Calibri (MS)"/>
                  <a:sym typeface="Calibri (MS)"/>
                </a:rPr>
                <a:t>CJEU McDonagh v Ryanair: no financial cap</a:t>
              </a:r>
            </a:p>
          </p:txBody>
        </p:sp>
      </p:grpSp>
      <p:grpSp>
        <p:nvGrpSpPr>
          <p:cNvPr name="Group 30" id="30"/>
          <p:cNvGrpSpPr/>
          <p:nvPr/>
        </p:nvGrpSpPr>
        <p:grpSpPr>
          <a:xfrm rot="0">
            <a:off x="960120" y="7063740"/>
            <a:ext cx="16322040" cy="685800"/>
            <a:chOff x="0" y="0"/>
            <a:chExt cx="21762720" cy="914400"/>
          </a:xfrm>
        </p:grpSpPr>
        <p:sp>
          <p:nvSpPr>
            <p:cNvPr name="Freeform 31" id="31"/>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32" id="32"/>
            <p:cNvSpPr txBox="true"/>
            <p:nvPr/>
          </p:nvSpPr>
          <p:spPr>
            <a:xfrm>
              <a:off x="0" y="-19050"/>
              <a:ext cx="21762720" cy="933450"/>
            </a:xfrm>
            <a:prstGeom prst="rect">
              <a:avLst/>
            </a:prstGeom>
          </p:spPr>
          <p:txBody>
            <a:bodyPr anchor="ctr" rtlCol="false" tIns="0" lIns="0" bIns="0" rIns="0"/>
            <a:lstStyle/>
            <a:p>
              <a:pPr algn="l">
                <a:lnSpc>
                  <a:spcPts val="4320"/>
                </a:lnSpc>
              </a:pPr>
              <a:r>
                <a:rPr lang="en-US" sz="3600" b="true">
                  <a:solidFill>
                    <a:srgbClr val="1C1C1E"/>
                  </a:solidFill>
                  <a:latin typeface="Cambria Bold"/>
                  <a:ea typeface="Cambria Bold"/>
                  <a:cs typeface="Cambria Bold"/>
                  <a:sym typeface="Cambria Bold"/>
                </a:rPr>
                <a:t>Care is the bill the airline always pays. That is the cost this system attacks.</a:t>
              </a:r>
            </a:p>
          </p:txBody>
        </p:sp>
      </p:grpSp>
      <p:grpSp>
        <p:nvGrpSpPr>
          <p:cNvPr name="Group 33" id="33"/>
          <p:cNvGrpSpPr/>
          <p:nvPr/>
        </p:nvGrpSpPr>
        <p:grpSpPr>
          <a:xfrm rot="0">
            <a:off x="960120" y="7886700"/>
            <a:ext cx="16322040" cy="548640"/>
            <a:chOff x="0" y="0"/>
            <a:chExt cx="21762720" cy="731520"/>
          </a:xfrm>
        </p:grpSpPr>
        <p:sp>
          <p:nvSpPr>
            <p:cNvPr name="Freeform 34" id="34"/>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35" id="35"/>
            <p:cNvSpPr txBox="true"/>
            <p:nvPr/>
          </p:nvSpPr>
          <p:spPr>
            <a:xfrm>
              <a:off x="0" y="-47625"/>
              <a:ext cx="21762720" cy="779145"/>
            </a:xfrm>
            <a:prstGeom prst="rect">
              <a:avLst/>
            </a:prstGeom>
          </p:spPr>
          <p:txBody>
            <a:bodyPr anchor="ctr" rtlCol="false" tIns="0" lIns="0" bIns="0" rIns="0"/>
            <a:lstStyle/>
            <a:p>
              <a:pPr algn="l">
                <a:lnSpc>
                  <a:spcPts val="2340"/>
                </a:lnSpc>
              </a:pPr>
              <a:r>
                <a:rPr lang="en-US" sz="1950" i="true">
                  <a:solidFill>
                    <a:srgbClr val="6B6B70"/>
                  </a:solidFill>
                  <a:latin typeface="Calibri (MS) Italics"/>
                  <a:ea typeface="Calibri (MS) Italics"/>
                  <a:cs typeface="Calibri (MS) Italics"/>
                  <a:sym typeface="Calibri (MS) Italics"/>
                </a:rPr>
                <a:t>The system does not reduce statutory care or compensation. Both are legal obligations and no saving is claimed against either.</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THE OPPORTUNITY</a:t>
              </a:r>
            </a:p>
          </p:txBody>
        </p:sp>
      </p:grpSp>
      <p:grpSp>
        <p:nvGrpSpPr>
          <p:cNvPr name="Group 5" id="5"/>
          <p:cNvGrpSpPr/>
          <p:nvPr/>
        </p:nvGrpSpPr>
        <p:grpSpPr>
          <a:xfrm rot="0">
            <a:off x="960120"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The money is in rooms nobody needed</a:t>
              </a:r>
            </a:p>
          </p:txBody>
        </p:sp>
      </p:grpSp>
      <p:grpSp>
        <p:nvGrpSpPr>
          <p:cNvPr name="Group 8" id="8"/>
          <p:cNvGrpSpPr/>
          <p:nvPr/>
        </p:nvGrpSpPr>
        <p:grpSpPr>
          <a:xfrm rot="0">
            <a:off x="950595" y="2459355"/>
            <a:ext cx="7288530" cy="3585210"/>
            <a:chOff x="0" y="0"/>
            <a:chExt cx="9718040" cy="4780280"/>
          </a:xfrm>
        </p:grpSpPr>
        <p:sp>
          <p:nvSpPr>
            <p:cNvPr name="Freeform 9" id="9"/>
            <p:cNvSpPr/>
            <p:nvPr/>
          </p:nvSpPr>
          <p:spPr>
            <a:xfrm flipH="false" flipV="false" rot="0">
              <a:off x="0" y="0"/>
              <a:ext cx="9718040" cy="4780280"/>
            </a:xfrm>
            <a:custGeom>
              <a:avLst/>
              <a:gdLst/>
              <a:ahLst/>
              <a:cxnLst/>
              <a:rect r="r" b="b" t="t" l="l"/>
              <a:pathLst>
                <a:path h="4780280" w="9718040">
                  <a:moveTo>
                    <a:pt x="0" y="147066"/>
                  </a:moveTo>
                  <a:cubicBezTo>
                    <a:pt x="0" y="65913"/>
                    <a:pt x="65913" y="0"/>
                    <a:pt x="147066" y="0"/>
                  </a:cubicBezTo>
                  <a:lnTo>
                    <a:pt x="9570974" y="0"/>
                  </a:lnTo>
                  <a:cubicBezTo>
                    <a:pt x="9652254" y="0"/>
                    <a:pt x="9718040" y="65913"/>
                    <a:pt x="9718040" y="147066"/>
                  </a:cubicBezTo>
                  <a:lnTo>
                    <a:pt x="9718040" y="4633214"/>
                  </a:lnTo>
                  <a:cubicBezTo>
                    <a:pt x="9718040" y="4714494"/>
                    <a:pt x="9652127" y="4780280"/>
                    <a:pt x="9570974" y="4780280"/>
                  </a:cubicBezTo>
                  <a:lnTo>
                    <a:pt x="147066" y="4780280"/>
                  </a:lnTo>
                  <a:cubicBezTo>
                    <a:pt x="65913" y="4780280"/>
                    <a:pt x="0" y="4714367"/>
                    <a:pt x="0" y="4633214"/>
                  </a:cubicBezTo>
                  <a:close/>
                </a:path>
              </a:pathLst>
            </a:custGeom>
            <a:solidFill>
              <a:srgbClr val="1B2A4A"/>
            </a:solidFill>
            <a:ln w="19050" cap="sq">
              <a:solidFill>
                <a:srgbClr val="1B2A4A"/>
              </a:solidFill>
              <a:prstDash val="solid"/>
              <a:miter/>
            </a:ln>
          </p:spPr>
        </p:sp>
      </p:grpSp>
      <p:grpSp>
        <p:nvGrpSpPr>
          <p:cNvPr name="Group 10" id="10"/>
          <p:cNvGrpSpPr/>
          <p:nvPr/>
        </p:nvGrpSpPr>
        <p:grpSpPr>
          <a:xfrm rot="0">
            <a:off x="1508760" y="705511"/>
            <a:ext cx="6172200" cy="5940754"/>
            <a:chOff x="0" y="0"/>
            <a:chExt cx="8229600" cy="7921005"/>
          </a:xfrm>
        </p:grpSpPr>
        <p:sp>
          <p:nvSpPr>
            <p:cNvPr name="Freeform 11" id="11"/>
            <p:cNvSpPr/>
            <p:nvPr/>
          </p:nvSpPr>
          <p:spPr>
            <a:xfrm flipH="false" flipV="false" rot="0">
              <a:off x="0" y="0"/>
              <a:ext cx="8229600" cy="7921005"/>
            </a:xfrm>
            <a:custGeom>
              <a:avLst/>
              <a:gdLst/>
              <a:ahLst/>
              <a:cxnLst/>
              <a:rect r="r" b="b" t="t" l="l"/>
              <a:pathLst>
                <a:path h="7921005" w="8229600">
                  <a:moveTo>
                    <a:pt x="0" y="0"/>
                  </a:moveTo>
                  <a:lnTo>
                    <a:pt x="8229600" y="0"/>
                  </a:lnTo>
                  <a:lnTo>
                    <a:pt x="8229600" y="7921005"/>
                  </a:lnTo>
                  <a:lnTo>
                    <a:pt x="0" y="7921005"/>
                  </a:lnTo>
                  <a:close/>
                </a:path>
              </a:pathLst>
            </a:custGeom>
            <a:blipFill>
              <a:blip r:embed="rId3">
                <a:alphaModFix amt="0"/>
              </a:blip>
              <a:stretch>
                <a:fillRect l="0" t="-8700" r="0" b="68211"/>
              </a:stretch>
            </a:blipFill>
          </p:spPr>
        </p:sp>
        <p:sp>
          <p:nvSpPr>
            <p:cNvPr name="TextBox 12" id="12"/>
            <p:cNvSpPr txBox="true"/>
            <p:nvPr/>
          </p:nvSpPr>
          <p:spPr>
            <a:xfrm>
              <a:off x="0" y="-19050"/>
              <a:ext cx="8229600" cy="7940055"/>
            </a:xfrm>
            <a:prstGeom prst="rect">
              <a:avLst/>
            </a:prstGeom>
          </p:spPr>
          <p:txBody>
            <a:bodyPr anchor="ctr" rtlCol="false" tIns="0" lIns="0" bIns="0" rIns="0"/>
            <a:lstStyle/>
            <a:p>
              <a:pPr algn="l">
                <a:lnSpc>
                  <a:spcPts val="9720"/>
                </a:lnSpc>
              </a:pPr>
              <a:r>
                <a:rPr lang="en-US" sz="8100" b="true">
                  <a:solidFill>
                    <a:srgbClr val="FFFFFF"/>
                  </a:solidFill>
                  <a:latin typeface="Cambria Bold"/>
                  <a:ea typeface="Cambria Bold"/>
                  <a:cs typeface="Cambria Bold"/>
                  <a:sym typeface="Cambria Bold"/>
                </a:rPr>
                <a:t>9.2M USD</a:t>
              </a:r>
            </a:p>
          </p:txBody>
        </p:sp>
      </p:grpSp>
      <p:grpSp>
        <p:nvGrpSpPr>
          <p:cNvPr name="Group 13" id="13"/>
          <p:cNvGrpSpPr/>
          <p:nvPr/>
        </p:nvGrpSpPr>
        <p:grpSpPr>
          <a:xfrm rot="0">
            <a:off x="1508760" y="4320540"/>
            <a:ext cx="6172200" cy="1097280"/>
            <a:chOff x="0" y="0"/>
            <a:chExt cx="8229600" cy="1463040"/>
          </a:xfrm>
        </p:grpSpPr>
        <p:sp>
          <p:nvSpPr>
            <p:cNvPr name="Freeform 14" id="14"/>
            <p:cNvSpPr/>
            <p:nvPr/>
          </p:nvSpPr>
          <p:spPr>
            <a:xfrm flipH="false" flipV="false" rot="0">
              <a:off x="0" y="0"/>
              <a:ext cx="8229600" cy="1463040"/>
            </a:xfrm>
            <a:custGeom>
              <a:avLst/>
              <a:gdLst/>
              <a:ahLst/>
              <a:cxnLst/>
              <a:rect r="r" b="b" t="t" l="l"/>
              <a:pathLst>
                <a:path h="1463040" w="8229600">
                  <a:moveTo>
                    <a:pt x="0" y="0"/>
                  </a:moveTo>
                  <a:lnTo>
                    <a:pt x="8229600" y="0"/>
                  </a:lnTo>
                  <a:lnTo>
                    <a:pt x="8229600" y="1463040"/>
                  </a:lnTo>
                  <a:lnTo>
                    <a:pt x="0" y="1463040"/>
                  </a:lnTo>
                  <a:close/>
                </a:path>
              </a:pathLst>
            </a:custGeom>
            <a:blipFill>
              <a:blip r:embed="rId3">
                <a:alphaModFix amt="0"/>
              </a:blip>
              <a:stretch>
                <a:fillRect l="0" t="-59603" r="0" b="-59603"/>
              </a:stretch>
            </a:blipFill>
          </p:spPr>
        </p:sp>
        <p:sp>
          <p:nvSpPr>
            <p:cNvPr name="TextBox 15" id="15"/>
            <p:cNvSpPr txBox="true"/>
            <p:nvPr/>
          </p:nvSpPr>
          <p:spPr>
            <a:xfrm>
              <a:off x="0" y="-76200"/>
              <a:ext cx="8229600" cy="1539240"/>
            </a:xfrm>
            <a:prstGeom prst="rect">
              <a:avLst/>
            </a:prstGeom>
          </p:spPr>
          <p:txBody>
            <a:bodyPr anchor="ctr" rtlCol="false" tIns="0" lIns="0" bIns="0" rIns="0"/>
            <a:lstStyle/>
            <a:p>
              <a:pPr algn="l">
                <a:lnSpc>
                  <a:spcPts val="2849"/>
                </a:lnSpc>
              </a:pPr>
              <a:r>
                <a:rPr lang="en-US" sz="2100">
                  <a:solidFill>
                    <a:srgbClr val="CADCFC"/>
                  </a:solidFill>
                  <a:latin typeface="Calibri (MS)"/>
                  <a:ea typeface="Calibri (MS)"/>
                  <a:cs typeface="Calibri (MS)"/>
                  <a:sym typeface="Calibri (MS)"/>
                </a:rPr>
                <a:t>a year of over provisioning, the ceiling of the addressable saving</a:t>
              </a:r>
            </a:p>
          </p:txBody>
        </p:sp>
      </p:grpSp>
      <p:grpSp>
        <p:nvGrpSpPr>
          <p:cNvPr name="Group 16" id="16"/>
          <p:cNvGrpSpPr/>
          <p:nvPr/>
        </p:nvGrpSpPr>
        <p:grpSpPr>
          <a:xfrm rot="0">
            <a:off x="8778240" y="2468880"/>
            <a:ext cx="8503920" cy="384048"/>
            <a:chOff x="0" y="0"/>
            <a:chExt cx="11338560" cy="512064"/>
          </a:xfrm>
        </p:grpSpPr>
        <p:sp>
          <p:nvSpPr>
            <p:cNvPr name="Freeform 17" id="17"/>
            <p:cNvSpPr/>
            <p:nvPr/>
          </p:nvSpPr>
          <p:spPr>
            <a:xfrm flipH="false" flipV="false" rot="0">
              <a:off x="0" y="0"/>
              <a:ext cx="11338560" cy="512064"/>
            </a:xfrm>
            <a:custGeom>
              <a:avLst/>
              <a:gdLst/>
              <a:ahLst/>
              <a:cxnLst/>
              <a:rect r="r" b="b" t="t" l="l"/>
              <a:pathLst>
                <a:path h="512064" w="11338560">
                  <a:moveTo>
                    <a:pt x="0" y="0"/>
                  </a:moveTo>
                  <a:lnTo>
                    <a:pt x="11338560" y="0"/>
                  </a:lnTo>
                  <a:lnTo>
                    <a:pt x="11338560" y="512064"/>
                  </a:lnTo>
                  <a:lnTo>
                    <a:pt x="0" y="512064"/>
                  </a:lnTo>
                  <a:close/>
                </a:path>
              </a:pathLst>
            </a:custGeom>
            <a:blipFill>
              <a:blip r:embed="rId3">
                <a:alphaModFix amt="0"/>
              </a:blip>
              <a:stretch>
                <a:fillRect l="0" t="-381454" r="0" b="-381454"/>
              </a:stretch>
            </a:blipFill>
          </p:spPr>
        </p:sp>
        <p:sp>
          <p:nvSpPr>
            <p:cNvPr name="TextBox 18" id="18"/>
            <p:cNvSpPr txBox="true"/>
            <p:nvPr/>
          </p:nvSpPr>
          <p:spPr>
            <a:xfrm>
              <a:off x="0" y="-47625"/>
              <a:ext cx="11338560" cy="559689"/>
            </a:xfrm>
            <a:prstGeom prst="rect">
              <a:avLst/>
            </a:prstGeom>
          </p:spPr>
          <p:txBody>
            <a:bodyPr anchor="ctr" rtlCol="false" tIns="0" lIns="0" bIns="0" rIns="0"/>
            <a:lstStyle/>
            <a:p>
              <a:pPr algn="l">
                <a:lnSpc>
                  <a:spcPts val="2340"/>
                </a:lnSpc>
              </a:pPr>
              <a:r>
                <a:rPr lang="en-US" sz="1950" b="true">
                  <a:solidFill>
                    <a:srgbClr val="29528F"/>
                  </a:solidFill>
                  <a:latin typeface="Calibri (MS) Bold"/>
                  <a:ea typeface="Calibri (MS) Bold"/>
                  <a:cs typeface="Calibri (MS) Bold"/>
                  <a:sym typeface="Calibri (MS) Bold"/>
                </a:rPr>
                <a:t>Where it comes from</a:t>
              </a:r>
            </a:p>
          </p:txBody>
        </p:sp>
      </p:grpSp>
      <p:grpSp>
        <p:nvGrpSpPr>
          <p:cNvPr name="Group 19" id="19"/>
          <p:cNvGrpSpPr/>
          <p:nvPr/>
        </p:nvGrpSpPr>
        <p:grpSpPr>
          <a:xfrm rot="0">
            <a:off x="8778240" y="2852928"/>
            <a:ext cx="8503920" cy="822960"/>
            <a:chOff x="0" y="0"/>
            <a:chExt cx="11338560" cy="1097280"/>
          </a:xfrm>
        </p:grpSpPr>
        <p:sp>
          <p:nvSpPr>
            <p:cNvPr name="Freeform 20" id="20"/>
            <p:cNvSpPr/>
            <p:nvPr/>
          </p:nvSpPr>
          <p:spPr>
            <a:xfrm flipH="false" flipV="false" rot="0">
              <a:off x="0" y="0"/>
              <a:ext cx="11338560" cy="1097280"/>
            </a:xfrm>
            <a:custGeom>
              <a:avLst/>
              <a:gdLst/>
              <a:ahLst/>
              <a:cxnLst/>
              <a:rect r="r" b="b" t="t" l="l"/>
              <a:pathLst>
                <a:path h="1097280" w="11338560">
                  <a:moveTo>
                    <a:pt x="0" y="0"/>
                  </a:moveTo>
                  <a:lnTo>
                    <a:pt x="11338560" y="0"/>
                  </a:lnTo>
                  <a:lnTo>
                    <a:pt x="11338560" y="1097280"/>
                  </a:lnTo>
                  <a:lnTo>
                    <a:pt x="0" y="1097280"/>
                  </a:lnTo>
                  <a:close/>
                </a:path>
              </a:pathLst>
            </a:custGeom>
            <a:blipFill>
              <a:blip r:embed="rId3">
                <a:alphaModFix amt="0"/>
              </a:blip>
              <a:stretch>
                <a:fillRect l="0" t="-151345" r="0" b="-151345"/>
              </a:stretch>
            </a:blipFill>
          </p:spPr>
        </p:sp>
        <p:sp>
          <p:nvSpPr>
            <p:cNvPr name="TextBox 21" id="21"/>
            <p:cNvSpPr txBox="true"/>
            <p:nvPr/>
          </p:nvSpPr>
          <p:spPr>
            <a:xfrm>
              <a:off x="0" y="-85725"/>
              <a:ext cx="11338560" cy="1183005"/>
            </a:xfrm>
            <a:prstGeom prst="rect">
              <a:avLst/>
            </a:prstGeom>
          </p:spPr>
          <p:txBody>
            <a:bodyPr anchor="ctr" rtlCol="false" tIns="0" lIns="0" bIns="0" rIns="0"/>
            <a:lstStyle/>
            <a:p>
              <a:pPr algn="l">
                <a:lnSpc>
                  <a:spcPts val="2700"/>
                </a:lnSpc>
              </a:pPr>
              <a:r>
                <a:rPr lang="en-US" sz="1950">
                  <a:solidFill>
                    <a:srgbClr val="1C1C1E"/>
                  </a:solidFill>
                  <a:latin typeface="Calibri (MS)"/>
                  <a:ea typeface="Calibri (MS)"/>
                  <a:cs typeface="Calibri (MS)"/>
                  <a:sym typeface="Calibri (MS)"/>
                </a:rPr>
                <a:t>3,305 overnight care events out of 10,919 real cancellations. American Airlines 2015, US DOT.</a:t>
              </a:r>
            </a:p>
          </p:txBody>
        </p:sp>
      </p:grpSp>
      <p:grpSp>
        <p:nvGrpSpPr>
          <p:cNvPr name="Group 22" id="22"/>
          <p:cNvGrpSpPr/>
          <p:nvPr/>
        </p:nvGrpSpPr>
        <p:grpSpPr>
          <a:xfrm rot="0">
            <a:off x="8778240" y="3730752"/>
            <a:ext cx="8503920" cy="384048"/>
            <a:chOff x="0" y="0"/>
            <a:chExt cx="11338560" cy="512064"/>
          </a:xfrm>
        </p:grpSpPr>
        <p:sp>
          <p:nvSpPr>
            <p:cNvPr name="Freeform 23" id="23"/>
            <p:cNvSpPr/>
            <p:nvPr/>
          </p:nvSpPr>
          <p:spPr>
            <a:xfrm flipH="false" flipV="false" rot="0">
              <a:off x="0" y="0"/>
              <a:ext cx="11338560" cy="512064"/>
            </a:xfrm>
            <a:custGeom>
              <a:avLst/>
              <a:gdLst/>
              <a:ahLst/>
              <a:cxnLst/>
              <a:rect r="r" b="b" t="t" l="l"/>
              <a:pathLst>
                <a:path h="512064" w="11338560">
                  <a:moveTo>
                    <a:pt x="0" y="0"/>
                  </a:moveTo>
                  <a:lnTo>
                    <a:pt x="11338560" y="0"/>
                  </a:lnTo>
                  <a:lnTo>
                    <a:pt x="11338560" y="512064"/>
                  </a:lnTo>
                  <a:lnTo>
                    <a:pt x="0" y="512064"/>
                  </a:lnTo>
                  <a:close/>
                </a:path>
              </a:pathLst>
            </a:custGeom>
            <a:blipFill>
              <a:blip r:embed="rId3">
                <a:alphaModFix amt="0"/>
              </a:blip>
              <a:stretch>
                <a:fillRect l="0" t="-381454" r="0" b="-381454"/>
              </a:stretch>
            </a:blipFill>
          </p:spPr>
        </p:sp>
        <p:sp>
          <p:nvSpPr>
            <p:cNvPr name="TextBox 24" id="24"/>
            <p:cNvSpPr txBox="true"/>
            <p:nvPr/>
          </p:nvSpPr>
          <p:spPr>
            <a:xfrm>
              <a:off x="0" y="-47625"/>
              <a:ext cx="11338560" cy="559689"/>
            </a:xfrm>
            <a:prstGeom prst="rect">
              <a:avLst/>
            </a:prstGeom>
          </p:spPr>
          <p:txBody>
            <a:bodyPr anchor="ctr" rtlCol="false" tIns="0" lIns="0" bIns="0" rIns="0"/>
            <a:lstStyle/>
            <a:p>
              <a:pPr algn="l">
                <a:lnSpc>
                  <a:spcPts val="2340"/>
                </a:lnSpc>
              </a:pPr>
              <a:r>
                <a:rPr lang="en-US" sz="1950" b="true">
                  <a:solidFill>
                    <a:srgbClr val="29528F"/>
                  </a:solidFill>
                  <a:latin typeface="Calibri (MS) Bold"/>
                  <a:ea typeface="Calibri (MS) Bold"/>
                  <a:cs typeface="Calibri (MS) Bold"/>
                  <a:sym typeface="Calibri (MS) Bold"/>
                </a:rPr>
                <a:t>Why it happens</a:t>
              </a:r>
            </a:p>
          </p:txBody>
        </p:sp>
      </p:grpSp>
      <p:grpSp>
        <p:nvGrpSpPr>
          <p:cNvPr name="Group 25" id="25"/>
          <p:cNvGrpSpPr/>
          <p:nvPr/>
        </p:nvGrpSpPr>
        <p:grpSpPr>
          <a:xfrm rot="0">
            <a:off x="8778240" y="4114800"/>
            <a:ext cx="8503920" cy="822960"/>
            <a:chOff x="0" y="0"/>
            <a:chExt cx="11338560" cy="1097280"/>
          </a:xfrm>
        </p:grpSpPr>
        <p:sp>
          <p:nvSpPr>
            <p:cNvPr name="Freeform 26" id="26"/>
            <p:cNvSpPr/>
            <p:nvPr/>
          </p:nvSpPr>
          <p:spPr>
            <a:xfrm flipH="false" flipV="false" rot="0">
              <a:off x="0" y="0"/>
              <a:ext cx="11338560" cy="1097280"/>
            </a:xfrm>
            <a:custGeom>
              <a:avLst/>
              <a:gdLst/>
              <a:ahLst/>
              <a:cxnLst/>
              <a:rect r="r" b="b" t="t" l="l"/>
              <a:pathLst>
                <a:path h="1097280" w="11338560">
                  <a:moveTo>
                    <a:pt x="0" y="0"/>
                  </a:moveTo>
                  <a:lnTo>
                    <a:pt x="11338560" y="0"/>
                  </a:lnTo>
                  <a:lnTo>
                    <a:pt x="11338560" y="1097280"/>
                  </a:lnTo>
                  <a:lnTo>
                    <a:pt x="0" y="1097280"/>
                  </a:lnTo>
                  <a:close/>
                </a:path>
              </a:pathLst>
            </a:custGeom>
            <a:blipFill>
              <a:blip r:embed="rId3">
                <a:alphaModFix amt="0"/>
              </a:blip>
              <a:stretch>
                <a:fillRect l="0" t="-151345" r="0" b="-151345"/>
              </a:stretch>
            </a:blipFill>
          </p:spPr>
        </p:sp>
        <p:sp>
          <p:nvSpPr>
            <p:cNvPr name="TextBox 27" id="27"/>
            <p:cNvSpPr txBox="true"/>
            <p:nvPr/>
          </p:nvSpPr>
          <p:spPr>
            <a:xfrm>
              <a:off x="0" y="-85725"/>
              <a:ext cx="11338560" cy="1183005"/>
            </a:xfrm>
            <a:prstGeom prst="rect">
              <a:avLst/>
            </a:prstGeom>
          </p:spPr>
          <p:txBody>
            <a:bodyPr anchor="ctr" rtlCol="false" tIns="0" lIns="0" bIns="0" rIns="0"/>
            <a:lstStyle/>
            <a:p>
              <a:pPr algn="l">
                <a:lnSpc>
                  <a:spcPts val="2700"/>
                </a:lnSpc>
              </a:pPr>
              <a:r>
                <a:rPr lang="en-US" sz="1950">
                  <a:solidFill>
                    <a:srgbClr val="1C1C1E"/>
                  </a:solidFill>
                  <a:latin typeface="Calibri (MS)"/>
                  <a:ea typeface="Calibri (MS)"/>
                  <a:cs typeface="Calibri (MS)"/>
                  <a:sym typeface="Calibri (MS)"/>
                </a:rPr>
                <a:t>The station cannot see which passengers began their journey here, so everyone is costed a room.</a:t>
              </a:r>
            </a:p>
          </p:txBody>
        </p:sp>
      </p:grpSp>
      <p:grpSp>
        <p:nvGrpSpPr>
          <p:cNvPr name="Group 28" id="28"/>
          <p:cNvGrpSpPr/>
          <p:nvPr/>
        </p:nvGrpSpPr>
        <p:grpSpPr>
          <a:xfrm rot="0">
            <a:off x="8778240" y="4992624"/>
            <a:ext cx="8503920" cy="384048"/>
            <a:chOff x="0" y="0"/>
            <a:chExt cx="11338560" cy="512064"/>
          </a:xfrm>
        </p:grpSpPr>
        <p:sp>
          <p:nvSpPr>
            <p:cNvPr name="Freeform 29" id="29"/>
            <p:cNvSpPr/>
            <p:nvPr/>
          </p:nvSpPr>
          <p:spPr>
            <a:xfrm flipH="false" flipV="false" rot="0">
              <a:off x="0" y="0"/>
              <a:ext cx="11338560" cy="512064"/>
            </a:xfrm>
            <a:custGeom>
              <a:avLst/>
              <a:gdLst/>
              <a:ahLst/>
              <a:cxnLst/>
              <a:rect r="r" b="b" t="t" l="l"/>
              <a:pathLst>
                <a:path h="512064" w="11338560">
                  <a:moveTo>
                    <a:pt x="0" y="0"/>
                  </a:moveTo>
                  <a:lnTo>
                    <a:pt x="11338560" y="0"/>
                  </a:lnTo>
                  <a:lnTo>
                    <a:pt x="11338560" y="512064"/>
                  </a:lnTo>
                  <a:lnTo>
                    <a:pt x="0" y="512064"/>
                  </a:lnTo>
                  <a:close/>
                </a:path>
              </a:pathLst>
            </a:custGeom>
            <a:blipFill>
              <a:blip r:embed="rId3">
                <a:alphaModFix amt="0"/>
              </a:blip>
              <a:stretch>
                <a:fillRect l="0" t="-381454" r="0" b="-381454"/>
              </a:stretch>
            </a:blipFill>
          </p:spPr>
        </p:sp>
        <p:sp>
          <p:nvSpPr>
            <p:cNvPr name="TextBox 30" id="30"/>
            <p:cNvSpPr txBox="true"/>
            <p:nvPr/>
          </p:nvSpPr>
          <p:spPr>
            <a:xfrm>
              <a:off x="0" y="-47625"/>
              <a:ext cx="11338560" cy="559689"/>
            </a:xfrm>
            <a:prstGeom prst="rect">
              <a:avLst/>
            </a:prstGeom>
          </p:spPr>
          <p:txBody>
            <a:bodyPr anchor="ctr" rtlCol="false" tIns="0" lIns="0" bIns="0" rIns="0"/>
            <a:lstStyle/>
            <a:p>
              <a:pPr algn="l">
                <a:lnSpc>
                  <a:spcPts val="2340"/>
                </a:lnSpc>
              </a:pPr>
              <a:r>
                <a:rPr lang="en-US" sz="1950" b="true">
                  <a:solidFill>
                    <a:srgbClr val="29528F"/>
                  </a:solidFill>
                  <a:latin typeface="Calibri (MS) Bold"/>
                  <a:ea typeface="Calibri (MS) Bold"/>
                  <a:cs typeface="Calibri (MS) Bold"/>
                  <a:sym typeface="Calibri (MS) Bold"/>
                </a:rPr>
                <a:t>What changes</a:t>
              </a:r>
            </a:p>
          </p:txBody>
        </p:sp>
      </p:grpSp>
      <p:grpSp>
        <p:nvGrpSpPr>
          <p:cNvPr name="Group 31" id="31"/>
          <p:cNvGrpSpPr/>
          <p:nvPr/>
        </p:nvGrpSpPr>
        <p:grpSpPr>
          <a:xfrm rot="0">
            <a:off x="8778240" y="5376672"/>
            <a:ext cx="8503920" cy="822960"/>
            <a:chOff x="0" y="0"/>
            <a:chExt cx="11338560" cy="1097280"/>
          </a:xfrm>
        </p:grpSpPr>
        <p:sp>
          <p:nvSpPr>
            <p:cNvPr name="Freeform 32" id="32"/>
            <p:cNvSpPr/>
            <p:nvPr/>
          </p:nvSpPr>
          <p:spPr>
            <a:xfrm flipH="false" flipV="false" rot="0">
              <a:off x="0" y="0"/>
              <a:ext cx="11338560" cy="1097280"/>
            </a:xfrm>
            <a:custGeom>
              <a:avLst/>
              <a:gdLst/>
              <a:ahLst/>
              <a:cxnLst/>
              <a:rect r="r" b="b" t="t" l="l"/>
              <a:pathLst>
                <a:path h="1097280" w="11338560">
                  <a:moveTo>
                    <a:pt x="0" y="0"/>
                  </a:moveTo>
                  <a:lnTo>
                    <a:pt x="11338560" y="0"/>
                  </a:lnTo>
                  <a:lnTo>
                    <a:pt x="11338560" y="1097280"/>
                  </a:lnTo>
                  <a:lnTo>
                    <a:pt x="0" y="1097280"/>
                  </a:lnTo>
                  <a:close/>
                </a:path>
              </a:pathLst>
            </a:custGeom>
            <a:blipFill>
              <a:blip r:embed="rId3">
                <a:alphaModFix amt="0"/>
              </a:blip>
              <a:stretch>
                <a:fillRect l="0" t="-151345" r="0" b="-151345"/>
              </a:stretch>
            </a:blipFill>
          </p:spPr>
        </p:sp>
        <p:sp>
          <p:nvSpPr>
            <p:cNvPr name="TextBox 33" id="33"/>
            <p:cNvSpPr txBox="true"/>
            <p:nvPr/>
          </p:nvSpPr>
          <p:spPr>
            <a:xfrm>
              <a:off x="0" y="-85725"/>
              <a:ext cx="11338560" cy="1183005"/>
            </a:xfrm>
            <a:prstGeom prst="rect">
              <a:avLst/>
            </a:prstGeom>
          </p:spPr>
          <p:txBody>
            <a:bodyPr anchor="ctr" rtlCol="false" tIns="0" lIns="0" bIns="0" rIns="0"/>
            <a:lstStyle/>
            <a:p>
              <a:pPr algn="l">
                <a:lnSpc>
                  <a:spcPts val="2700"/>
                </a:lnSpc>
              </a:pPr>
              <a:r>
                <a:rPr lang="en-US" sz="1950">
                  <a:solidFill>
                    <a:srgbClr val="1C1C1E"/>
                  </a:solidFill>
                  <a:latin typeface="Calibri (MS)"/>
                  <a:ea typeface="Calibri (MS)"/>
                  <a:cs typeface="Calibri (MS)"/>
                  <a:sym typeface="Calibri (MS)"/>
                </a:rPr>
                <a:t>Trip origin from the reservation record turns a guess into a counted number.</a:t>
              </a:r>
            </a:p>
          </p:txBody>
        </p:sp>
      </p:grpSp>
      <p:grpSp>
        <p:nvGrpSpPr>
          <p:cNvPr name="Group 34" id="34"/>
          <p:cNvGrpSpPr/>
          <p:nvPr/>
        </p:nvGrpSpPr>
        <p:grpSpPr>
          <a:xfrm rot="0">
            <a:off x="960120" y="6515100"/>
            <a:ext cx="16322040" cy="548640"/>
            <a:chOff x="0" y="0"/>
            <a:chExt cx="21762720" cy="731520"/>
          </a:xfrm>
        </p:grpSpPr>
        <p:sp>
          <p:nvSpPr>
            <p:cNvPr name="Freeform 35" id="35"/>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36" id="36"/>
            <p:cNvSpPr txBox="true"/>
            <p:nvPr/>
          </p:nvSpPr>
          <p:spPr>
            <a:xfrm>
              <a:off x="0" y="-9525"/>
              <a:ext cx="21762720" cy="741045"/>
            </a:xfrm>
            <a:prstGeom prst="rect">
              <a:avLst/>
            </a:prstGeom>
          </p:spPr>
          <p:txBody>
            <a:bodyPr anchor="ctr" rtlCol="false" tIns="0" lIns="0" bIns="0" rIns="0"/>
            <a:lstStyle/>
            <a:p>
              <a:pPr algn="l">
                <a:lnSpc>
                  <a:spcPts val="3419"/>
                </a:lnSpc>
              </a:pPr>
              <a:r>
                <a:rPr lang="en-US" sz="2850" b="true">
                  <a:solidFill>
                    <a:srgbClr val="1C1C1E"/>
                  </a:solidFill>
                  <a:latin typeface="Cambria Bold"/>
                  <a:ea typeface="Cambria Bold"/>
                  <a:cs typeface="Cambria Bold"/>
                  <a:sym typeface="Cambria Bold"/>
                </a:rPr>
                <a:t>Sourcing time falls from about 2h40 to under 40 minutes.</a:t>
              </a:r>
            </a:p>
          </p:txBody>
        </p:sp>
      </p:grpSp>
      <p:grpSp>
        <p:nvGrpSpPr>
          <p:cNvPr name="Group 37" id="37"/>
          <p:cNvGrpSpPr/>
          <p:nvPr/>
        </p:nvGrpSpPr>
        <p:grpSpPr>
          <a:xfrm rot="0">
            <a:off x="960120" y="7338060"/>
            <a:ext cx="16322040" cy="685800"/>
            <a:chOff x="0" y="0"/>
            <a:chExt cx="21762720" cy="914400"/>
          </a:xfrm>
        </p:grpSpPr>
        <p:sp>
          <p:nvSpPr>
            <p:cNvPr name="Freeform 38" id="38"/>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3">
                <a:alphaModFix amt="0"/>
              </a:blip>
              <a:stretch>
                <a:fillRect l="0" t="-413743" r="0" b="-413743"/>
              </a:stretch>
            </a:blipFill>
          </p:spPr>
        </p:sp>
        <p:sp>
          <p:nvSpPr>
            <p:cNvPr name="TextBox 39" id="39"/>
            <p:cNvSpPr txBox="true"/>
            <p:nvPr/>
          </p:nvSpPr>
          <p:spPr>
            <a:xfrm>
              <a:off x="0" y="-76200"/>
              <a:ext cx="21762720" cy="990600"/>
            </a:xfrm>
            <a:prstGeom prst="rect">
              <a:avLst/>
            </a:prstGeom>
          </p:spPr>
          <p:txBody>
            <a:bodyPr anchor="ctr" rtlCol="false" tIns="0" lIns="0" bIns="0" rIns="0"/>
            <a:lstStyle/>
            <a:p>
              <a:pPr algn="l">
                <a:lnSpc>
                  <a:spcPts val="2550"/>
                </a:lnSpc>
              </a:pPr>
              <a:r>
                <a:rPr lang="en-US" sz="1800" i="true">
                  <a:solidFill>
                    <a:srgbClr val="6B6B70"/>
                  </a:solidFill>
                  <a:latin typeface="Calibri (MS) Italics"/>
                  <a:ea typeface="Calibri (MS) Italics"/>
                  <a:cs typeface="Calibri (MS) Italics"/>
                  <a:sym typeface="Calibri (MS) Italics"/>
                </a:rPr>
                <a:t>Figures are illustrative, modelled on the American Airlines 2015 analog with unverified unit costs. A real engagement re runs the model on the carrier's own invoices.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THE SOLUTION</a:t>
              </a:r>
            </a:p>
          </p:txBody>
        </p:sp>
      </p:grpSp>
      <p:grpSp>
        <p:nvGrpSpPr>
          <p:cNvPr name="Group 5" id="5"/>
          <p:cNvGrpSpPr/>
          <p:nvPr/>
        </p:nvGrpSpPr>
        <p:grpSpPr>
          <a:xfrm rot="0">
            <a:off x="960120"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Three workflows, one night</a:t>
              </a:r>
            </a:p>
          </p:txBody>
        </p:sp>
      </p:grpSp>
      <p:grpSp>
        <p:nvGrpSpPr>
          <p:cNvPr name="Group 8" id="8"/>
          <p:cNvGrpSpPr/>
          <p:nvPr/>
        </p:nvGrpSpPr>
        <p:grpSpPr>
          <a:xfrm rot="0">
            <a:off x="950595" y="2390775"/>
            <a:ext cx="5231130" cy="3448050"/>
            <a:chOff x="0" y="0"/>
            <a:chExt cx="6974840" cy="4597400"/>
          </a:xfrm>
        </p:grpSpPr>
        <p:sp>
          <p:nvSpPr>
            <p:cNvPr name="Freeform 9" id="9"/>
            <p:cNvSpPr/>
            <p:nvPr/>
          </p:nvSpPr>
          <p:spPr>
            <a:xfrm flipH="false" flipV="false" rot="0">
              <a:off x="0" y="0"/>
              <a:ext cx="6974840" cy="4597400"/>
            </a:xfrm>
            <a:custGeom>
              <a:avLst/>
              <a:gdLst/>
              <a:ahLst/>
              <a:cxnLst/>
              <a:rect r="r" b="b" t="t" l="l"/>
              <a:pathLst>
                <a:path h="4597400" w="6974840">
                  <a:moveTo>
                    <a:pt x="0" y="147066"/>
                  </a:moveTo>
                  <a:cubicBezTo>
                    <a:pt x="0" y="65913"/>
                    <a:pt x="65913" y="0"/>
                    <a:pt x="147066" y="0"/>
                  </a:cubicBezTo>
                  <a:lnTo>
                    <a:pt x="6827774" y="0"/>
                  </a:lnTo>
                  <a:cubicBezTo>
                    <a:pt x="6909054" y="0"/>
                    <a:pt x="6974840" y="65913"/>
                    <a:pt x="6974840" y="147066"/>
                  </a:cubicBezTo>
                  <a:lnTo>
                    <a:pt x="6974840" y="4450334"/>
                  </a:lnTo>
                  <a:cubicBezTo>
                    <a:pt x="6974840" y="4531614"/>
                    <a:pt x="6908927" y="4597400"/>
                    <a:pt x="6827774" y="4597400"/>
                  </a:cubicBezTo>
                  <a:lnTo>
                    <a:pt x="147066" y="4597400"/>
                  </a:lnTo>
                  <a:cubicBezTo>
                    <a:pt x="65913" y="4597400"/>
                    <a:pt x="0" y="4531487"/>
                    <a:pt x="0" y="4450334"/>
                  </a:cubicBezTo>
                  <a:close/>
                </a:path>
              </a:pathLst>
            </a:custGeom>
            <a:solidFill>
              <a:srgbClr val="F7F7F9"/>
            </a:solidFill>
            <a:ln w="19050" cap="sq">
              <a:solidFill>
                <a:srgbClr val="F7F7F9"/>
              </a:solidFill>
              <a:prstDash val="solid"/>
              <a:miter/>
            </a:ln>
          </p:spPr>
        </p:sp>
      </p:grpSp>
      <p:grpSp>
        <p:nvGrpSpPr>
          <p:cNvPr name="Group 10" id="10"/>
          <p:cNvGrpSpPr/>
          <p:nvPr/>
        </p:nvGrpSpPr>
        <p:grpSpPr>
          <a:xfrm rot="0">
            <a:off x="1362075" y="2706243"/>
            <a:ext cx="773430" cy="773430"/>
            <a:chOff x="0" y="0"/>
            <a:chExt cx="1031240" cy="1031240"/>
          </a:xfrm>
        </p:grpSpPr>
        <p:sp>
          <p:nvSpPr>
            <p:cNvPr name="Freeform 11" id="11"/>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29528F"/>
            </a:solidFill>
            <a:ln w="19050" cap="sq">
              <a:solidFill>
                <a:srgbClr val="29528F"/>
              </a:solidFill>
              <a:prstDash val="solid"/>
              <a:miter/>
            </a:ln>
          </p:spPr>
        </p:sp>
      </p:grpSp>
      <p:grpSp>
        <p:nvGrpSpPr>
          <p:cNvPr name="Group 12" id="12"/>
          <p:cNvGrpSpPr/>
          <p:nvPr/>
        </p:nvGrpSpPr>
        <p:grpSpPr>
          <a:xfrm rot="0">
            <a:off x="1371600" y="2811780"/>
            <a:ext cx="754380" cy="576072"/>
            <a:chOff x="0" y="0"/>
            <a:chExt cx="1005840" cy="768096"/>
          </a:xfrm>
        </p:grpSpPr>
        <p:sp>
          <p:nvSpPr>
            <p:cNvPr name="Freeform 13" id="13"/>
            <p:cNvSpPr/>
            <p:nvPr/>
          </p:nvSpPr>
          <p:spPr>
            <a:xfrm flipH="false" flipV="false" rot="0">
              <a:off x="0" y="0"/>
              <a:ext cx="1005840" cy="768096"/>
            </a:xfrm>
            <a:custGeom>
              <a:avLst/>
              <a:gdLst/>
              <a:ahLst/>
              <a:cxnLst/>
              <a:rect r="r" b="b" t="t" l="l"/>
              <a:pathLst>
                <a:path h="768096" w="1005840">
                  <a:moveTo>
                    <a:pt x="0" y="0"/>
                  </a:moveTo>
                  <a:lnTo>
                    <a:pt x="1005840" y="0"/>
                  </a:lnTo>
                  <a:lnTo>
                    <a:pt x="1005840" y="768096"/>
                  </a:lnTo>
                  <a:lnTo>
                    <a:pt x="0" y="768096"/>
                  </a:lnTo>
                  <a:close/>
                </a:path>
              </a:pathLst>
            </a:custGeom>
            <a:blipFill>
              <a:blip r:embed="rId3">
                <a:alphaModFix amt="0"/>
              </a:blip>
              <a:stretch>
                <a:fillRect l="-47977" t="0" r="-47977" b="0"/>
              </a:stretch>
            </a:blipFill>
          </p:spPr>
        </p:sp>
        <p:sp>
          <p:nvSpPr>
            <p:cNvPr name="TextBox 14" id="14"/>
            <p:cNvSpPr txBox="true"/>
            <p:nvPr/>
          </p:nvSpPr>
          <p:spPr>
            <a:xfrm>
              <a:off x="0" y="-19050"/>
              <a:ext cx="1005840" cy="787146"/>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1</a:t>
              </a:r>
            </a:p>
          </p:txBody>
        </p:sp>
      </p:grpSp>
      <p:grpSp>
        <p:nvGrpSpPr>
          <p:cNvPr name="Group 15" id="15"/>
          <p:cNvGrpSpPr/>
          <p:nvPr/>
        </p:nvGrpSpPr>
        <p:grpSpPr>
          <a:xfrm rot="0">
            <a:off x="1371600" y="3675888"/>
            <a:ext cx="4389120" cy="480060"/>
            <a:chOff x="0" y="0"/>
            <a:chExt cx="5852160" cy="640080"/>
          </a:xfrm>
        </p:grpSpPr>
        <p:sp>
          <p:nvSpPr>
            <p:cNvPr name="Freeform 16" id="16"/>
            <p:cNvSpPr/>
            <p:nvPr/>
          </p:nvSpPr>
          <p:spPr>
            <a:xfrm flipH="false" flipV="false" rot="0">
              <a:off x="0" y="0"/>
              <a:ext cx="5852160" cy="640080"/>
            </a:xfrm>
            <a:custGeom>
              <a:avLst/>
              <a:gdLst/>
              <a:ahLst/>
              <a:cxnLst/>
              <a:rect r="r" b="b" t="t" l="l"/>
              <a:pathLst>
                <a:path h="640080" w="5852160">
                  <a:moveTo>
                    <a:pt x="0" y="0"/>
                  </a:moveTo>
                  <a:lnTo>
                    <a:pt x="5852160" y="0"/>
                  </a:lnTo>
                  <a:lnTo>
                    <a:pt x="5852160" y="640080"/>
                  </a:lnTo>
                  <a:lnTo>
                    <a:pt x="0" y="640080"/>
                  </a:lnTo>
                  <a:close/>
                </a:path>
              </a:pathLst>
            </a:custGeom>
            <a:blipFill>
              <a:blip r:embed="rId3">
                <a:alphaModFix amt="0"/>
              </a:blip>
              <a:stretch>
                <a:fillRect l="0" t="-128148" r="0" b="-128148"/>
              </a:stretch>
            </a:blipFill>
          </p:spPr>
        </p:sp>
        <p:sp>
          <p:nvSpPr>
            <p:cNvPr name="TextBox 17" id="17"/>
            <p:cNvSpPr txBox="true"/>
            <p:nvPr/>
          </p:nvSpPr>
          <p:spPr>
            <a:xfrm>
              <a:off x="0" y="-9525"/>
              <a:ext cx="5852160" cy="649605"/>
            </a:xfrm>
            <a:prstGeom prst="rect">
              <a:avLst/>
            </a:prstGeom>
          </p:spPr>
          <p:txBody>
            <a:bodyPr anchor="ctr" rtlCol="false" tIns="0" lIns="0" bIns="0" rIns="0"/>
            <a:lstStyle/>
            <a:p>
              <a:pPr algn="l">
                <a:lnSpc>
                  <a:spcPts val="3060"/>
                </a:lnSpc>
              </a:pPr>
              <a:r>
                <a:rPr lang="en-US" sz="2550" b="true">
                  <a:solidFill>
                    <a:srgbClr val="1C1C1E"/>
                  </a:solidFill>
                  <a:latin typeface="Cambria Bold"/>
                  <a:ea typeface="Cambria Bold"/>
                  <a:cs typeface="Cambria Bold"/>
                  <a:sym typeface="Cambria Bold"/>
                </a:rPr>
                <a:t>Cancellation exposure</a:t>
              </a:r>
            </a:p>
          </p:txBody>
        </p:sp>
      </p:grpSp>
      <p:grpSp>
        <p:nvGrpSpPr>
          <p:cNvPr name="Group 18" id="18"/>
          <p:cNvGrpSpPr/>
          <p:nvPr/>
        </p:nvGrpSpPr>
        <p:grpSpPr>
          <a:xfrm rot="0">
            <a:off x="1371600" y="4224528"/>
            <a:ext cx="4389120" cy="1371600"/>
            <a:chOff x="0" y="0"/>
            <a:chExt cx="5852160" cy="1828800"/>
          </a:xfrm>
        </p:grpSpPr>
        <p:sp>
          <p:nvSpPr>
            <p:cNvPr name="Freeform 19" id="19"/>
            <p:cNvSpPr/>
            <p:nvPr/>
          </p:nvSpPr>
          <p:spPr>
            <a:xfrm flipH="false" flipV="false" rot="0">
              <a:off x="0" y="0"/>
              <a:ext cx="5852160" cy="1828800"/>
            </a:xfrm>
            <a:custGeom>
              <a:avLst/>
              <a:gdLst/>
              <a:ahLst/>
              <a:cxnLst/>
              <a:rect r="r" b="b" t="t" l="l"/>
              <a:pathLst>
                <a:path h="1828800" w="5852160">
                  <a:moveTo>
                    <a:pt x="0" y="0"/>
                  </a:moveTo>
                  <a:lnTo>
                    <a:pt x="5852160" y="0"/>
                  </a:lnTo>
                  <a:lnTo>
                    <a:pt x="5852160" y="1828800"/>
                  </a:lnTo>
                  <a:lnTo>
                    <a:pt x="0" y="1828800"/>
                  </a:lnTo>
                  <a:close/>
                </a:path>
              </a:pathLst>
            </a:custGeom>
            <a:blipFill>
              <a:blip r:embed="rId3">
                <a:alphaModFix amt="0"/>
              </a:blip>
              <a:stretch>
                <a:fillRect l="0" t="-12352" r="0" b="-12352"/>
              </a:stretch>
            </a:blipFill>
          </p:spPr>
        </p:sp>
        <p:sp>
          <p:nvSpPr>
            <p:cNvPr name="TextBox 20" id="20"/>
            <p:cNvSpPr txBox="true"/>
            <p:nvPr/>
          </p:nvSpPr>
          <p:spPr>
            <a:xfrm>
              <a:off x="0" y="-66675"/>
              <a:ext cx="5852160" cy="1895475"/>
            </a:xfrm>
            <a:prstGeom prst="rect">
              <a:avLst/>
            </a:prstGeom>
          </p:spPr>
          <p:txBody>
            <a:bodyPr anchor="ctr" rtlCol="false" tIns="0" lIns="0" bIns="0" rIns="0"/>
            <a:lstStyle/>
            <a:p>
              <a:pPr algn="l">
                <a:lnSpc>
                  <a:spcPts val="2550"/>
                </a:lnSpc>
              </a:pPr>
              <a:r>
                <a:rPr lang="en-US" sz="1875">
                  <a:solidFill>
                    <a:srgbClr val="6B6B70"/>
                  </a:solidFill>
                  <a:latin typeface="Calibri (MS)"/>
                  <a:ea typeface="Calibri (MS)"/>
                  <a:cs typeface="Calibri (MS)"/>
                  <a:sym typeface="Calibri (MS)"/>
                </a:rPr>
                <a:t>Reads the manifest, destroys the names, costs the night, and says who is allowed to approve it.</a:t>
              </a:r>
            </a:p>
          </p:txBody>
        </p:sp>
      </p:grpSp>
      <p:grpSp>
        <p:nvGrpSpPr>
          <p:cNvPr name="Group 21" id="21"/>
          <p:cNvGrpSpPr/>
          <p:nvPr/>
        </p:nvGrpSpPr>
        <p:grpSpPr>
          <a:xfrm rot="0">
            <a:off x="6199632" y="3771900"/>
            <a:ext cx="329184" cy="548640"/>
            <a:chOff x="0" y="0"/>
            <a:chExt cx="438912" cy="731520"/>
          </a:xfrm>
        </p:grpSpPr>
        <p:sp>
          <p:nvSpPr>
            <p:cNvPr name="Freeform 22" id="22"/>
            <p:cNvSpPr/>
            <p:nvPr/>
          </p:nvSpPr>
          <p:spPr>
            <a:xfrm flipH="false" flipV="false" rot="0">
              <a:off x="0" y="0"/>
              <a:ext cx="438912" cy="731520"/>
            </a:xfrm>
            <a:custGeom>
              <a:avLst/>
              <a:gdLst/>
              <a:ahLst/>
              <a:cxnLst/>
              <a:rect r="r" b="b" t="t" l="l"/>
              <a:pathLst>
                <a:path h="731520" w="438912">
                  <a:moveTo>
                    <a:pt x="0" y="0"/>
                  </a:moveTo>
                  <a:lnTo>
                    <a:pt x="438912" y="0"/>
                  </a:lnTo>
                  <a:lnTo>
                    <a:pt x="438912" y="731520"/>
                  </a:lnTo>
                  <a:lnTo>
                    <a:pt x="0" y="731520"/>
                  </a:lnTo>
                  <a:close/>
                </a:path>
              </a:pathLst>
            </a:custGeom>
            <a:blipFill>
              <a:blip r:embed="rId3">
                <a:alphaModFix amt="0"/>
              </a:blip>
              <a:stretch>
                <a:fillRect l="-163839" t="0" r="-163839" b="0"/>
              </a:stretch>
            </a:blipFill>
          </p:spPr>
        </p:sp>
        <p:sp>
          <p:nvSpPr>
            <p:cNvPr name="TextBox 23" id="23"/>
            <p:cNvSpPr txBox="true"/>
            <p:nvPr/>
          </p:nvSpPr>
          <p:spPr>
            <a:xfrm>
              <a:off x="0" y="-66675"/>
              <a:ext cx="438912" cy="798195"/>
            </a:xfrm>
            <a:prstGeom prst="rect">
              <a:avLst/>
            </a:prstGeom>
          </p:spPr>
          <p:txBody>
            <a:bodyPr anchor="ctr" rtlCol="false" tIns="0" lIns="0" bIns="0" rIns="0"/>
            <a:lstStyle/>
            <a:p>
              <a:pPr algn="ctr">
                <a:lnSpc>
                  <a:spcPts val="3600"/>
                </a:lnSpc>
              </a:pPr>
              <a:r>
                <a:rPr lang="en-US" sz="3000" b="true">
                  <a:solidFill>
                    <a:srgbClr val="29528F"/>
                  </a:solidFill>
                  <a:latin typeface="Calibri (MS) Bold"/>
                  <a:ea typeface="Calibri (MS) Bold"/>
                  <a:cs typeface="Calibri (MS) Bold"/>
                  <a:sym typeface="Calibri (MS) Bold"/>
                </a:rPr>
                <a:t>→</a:t>
              </a:r>
            </a:p>
          </p:txBody>
        </p:sp>
      </p:grpSp>
      <p:grpSp>
        <p:nvGrpSpPr>
          <p:cNvPr name="Group 24" id="24"/>
          <p:cNvGrpSpPr/>
          <p:nvPr/>
        </p:nvGrpSpPr>
        <p:grpSpPr>
          <a:xfrm rot="0">
            <a:off x="6519291" y="2390775"/>
            <a:ext cx="5231130" cy="3448050"/>
            <a:chOff x="0" y="0"/>
            <a:chExt cx="6974840" cy="4597400"/>
          </a:xfrm>
        </p:grpSpPr>
        <p:sp>
          <p:nvSpPr>
            <p:cNvPr name="Freeform 25" id="25"/>
            <p:cNvSpPr/>
            <p:nvPr/>
          </p:nvSpPr>
          <p:spPr>
            <a:xfrm flipH="false" flipV="false" rot="0">
              <a:off x="0" y="0"/>
              <a:ext cx="6974840" cy="4597400"/>
            </a:xfrm>
            <a:custGeom>
              <a:avLst/>
              <a:gdLst/>
              <a:ahLst/>
              <a:cxnLst/>
              <a:rect r="r" b="b" t="t" l="l"/>
              <a:pathLst>
                <a:path h="4597400" w="6974840">
                  <a:moveTo>
                    <a:pt x="0" y="147066"/>
                  </a:moveTo>
                  <a:cubicBezTo>
                    <a:pt x="0" y="65913"/>
                    <a:pt x="65913" y="0"/>
                    <a:pt x="147066" y="0"/>
                  </a:cubicBezTo>
                  <a:lnTo>
                    <a:pt x="6827774" y="0"/>
                  </a:lnTo>
                  <a:cubicBezTo>
                    <a:pt x="6909054" y="0"/>
                    <a:pt x="6974840" y="65913"/>
                    <a:pt x="6974840" y="147066"/>
                  </a:cubicBezTo>
                  <a:lnTo>
                    <a:pt x="6974840" y="4450334"/>
                  </a:lnTo>
                  <a:cubicBezTo>
                    <a:pt x="6974840" y="4531614"/>
                    <a:pt x="6908927" y="4597400"/>
                    <a:pt x="6827774" y="4597400"/>
                  </a:cubicBezTo>
                  <a:lnTo>
                    <a:pt x="147066" y="4597400"/>
                  </a:lnTo>
                  <a:cubicBezTo>
                    <a:pt x="65913" y="4597400"/>
                    <a:pt x="0" y="4531487"/>
                    <a:pt x="0" y="4450334"/>
                  </a:cubicBezTo>
                  <a:close/>
                </a:path>
              </a:pathLst>
            </a:custGeom>
            <a:solidFill>
              <a:srgbClr val="F7F7F9"/>
            </a:solidFill>
            <a:ln w="19050" cap="sq">
              <a:solidFill>
                <a:srgbClr val="F7F7F9"/>
              </a:solidFill>
              <a:prstDash val="solid"/>
              <a:miter/>
            </a:ln>
          </p:spPr>
        </p:sp>
      </p:grpSp>
      <p:grpSp>
        <p:nvGrpSpPr>
          <p:cNvPr name="Group 26" id="26"/>
          <p:cNvGrpSpPr/>
          <p:nvPr/>
        </p:nvGrpSpPr>
        <p:grpSpPr>
          <a:xfrm rot="0">
            <a:off x="6930771" y="2706243"/>
            <a:ext cx="773430" cy="773430"/>
            <a:chOff x="0" y="0"/>
            <a:chExt cx="1031240" cy="1031240"/>
          </a:xfrm>
        </p:grpSpPr>
        <p:sp>
          <p:nvSpPr>
            <p:cNvPr name="Freeform 27" id="27"/>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29528F"/>
            </a:solidFill>
            <a:ln w="19050" cap="sq">
              <a:solidFill>
                <a:srgbClr val="29528F"/>
              </a:solidFill>
              <a:prstDash val="solid"/>
              <a:miter/>
            </a:ln>
          </p:spPr>
        </p:sp>
      </p:grpSp>
      <p:grpSp>
        <p:nvGrpSpPr>
          <p:cNvPr name="Group 28" id="28"/>
          <p:cNvGrpSpPr/>
          <p:nvPr/>
        </p:nvGrpSpPr>
        <p:grpSpPr>
          <a:xfrm rot="0">
            <a:off x="6940296" y="2811780"/>
            <a:ext cx="754380" cy="576072"/>
            <a:chOff x="0" y="0"/>
            <a:chExt cx="1005840" cy="768096"/>
          </a:xfrm>
        </p:grpSpPr>
        <p:sp>
          <p:nvSpPr>
            <p:cNvPr name="Freeform 29" id="29"/>
            <p:cNvSpPr/>
            <p:nvPr/>
          </p:nvSpPr>
          <p:spPr>
            <a:xfrm flipH="false" flipV="false" rot="0">
              <a:off x="0" y="0"/>
              <a:ext cx="1005840" cy="768096"/>
            </a:xfrm>
            <a:custGeom>
              <a:avLst/>
              <a:gdLst/>
              <a:ahLst/>
              <a:cxnLst/>
              <a:rect r="r" b="b" t="t" l="l"/>
              <a:pathLst>
                <a:path h="768096" w="1005840">
                  <a:moveTo>
                    <a:pt x="0" y="0"/>
                  </a:moveTo>
                  <a:lnTo>
                    <a:pt x="1005840" y="0"/>
                  </a:lnTo>
                  <a:lnTo>
                    <a:pt x="1005840" y="768096"/>
                  </a:lnTo>
                  <a:lnTo>
                    <a:pt x="0" y="768096"/>
                  </a:lnTo>
                  <a:close/>
                </a:path>
              </a:pathLst>
            </a:custGeom>
            <a:blipFill>
              <a:blip r:embed="rId3">
                <a:alphaModFix amt="0"/>
              </a:blip>
              <a:stretch>
                <a:fillRect l="-47977" t="0" r="-47977" b="0"/>
              </a:stretch>
            </a:blipFill>
          </p:spPr>
        </p:sp>
        <p:sp>
          <p:nvSpPr>
            <p:cNvPr name="TextBox 30" id="30"/>
            <p:cNvSpPr txBox="true"/>
            <p:nvPr/>
          </p:nvSpPr>
          <p:spPr>
            <a:xfrm>
              <a:off x="0" y="-19050"/>
              <a:ext cx="1005840" cy="787146"/>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2</a:t>
              </a:r>
            </a:p>
          </p:txBody>
        </p:sp>
      </p:grpSp>
      <p:grpSp>
        <p:nvGrpSpPr>
          <p:cNvPr name="Group 31" id="31"/>
          <p:cNvGrpSpPr/>
          <p:nvPr/>
        </p:nvGrpSpPr>
        <p:grpSpPr>
          <a:xfrm rot="0">
            <a:off x="6940296" y="3675888"/>
            <a:ext cx="4389120" cy="480060"/>
            <a:chOff x="0" y="0"/>
            <a:chExt cx="5852160" cy="640080"/>
          </a:xfrm>
        </p:grpSpPr>
        <p:sp>
          <p:nvSpPr>
            <p:cNvPr name="Freeform 32" id="32"/>
            <p:cNvSpPr/>
            <p:nvPr/>
          </p:nvSpPr>
          <p:spPr>
            <a:xfrm flipH="false" flipV="false" rot="0">
              <a:off x="0" y="0"/>
              <a:ext cx="5852160" cy="640080"/>
            </a:xfrm>
            <a:custGeom>
              <a:avLst/>
              <a:gdLst/>
              <a:ahLst/>
              <a:cxnLst/>
              <a:rect r="r" b="b" t="t" l="l"/>
              <a:pathLst>
                <a:path h="640080" w="5852160">
                  <a:moveTo>
                    <a:pt x="0" y="0"/>
                  </a:moveTo>
                  <a:lnTo>
                    <a:pt x="5852160" y="0"/>
                  </a:lnTo>
                  <a:lnTo>
                    <a:pt x="5852160" y="640080"/>
                  </a:lnTo>
                  <a:lnTo>
                    <a:pt x="0" y="640080"/>
                  </a:lnTo>
                  <a:close/>
                </a:path>
              </a:pathLst>
            </a:custGeom>
            <a:blipFill>
              <a:blip r:embed="rId3">
                <a:alphaModFix amt="0"/>
              </a:blip>
              <a:stretch>
                <a:fillRect l="0" t="-128148" r="0" b="-128148"/>
              </a:stretch>
            </a:blipFill>
          </p:spPr>
        </p:sp>
        <p:sp>
          <p:nvSpPr>
            <p:cNvPr name="TextBox 33" id="33"/>
            <p:cNvSpPr txBox="true"/>
            <p:nvPr/>
          </p:nvSpPr>
          <p:spPr>
            <a:xfrm>
              <a:off x="0" y="-9525"/>
              <a:ext cx="5852160" cy="649605"/>
            </a:xfrm>
            <a:prstGeom prst="rect">
              <a:avLst/>
            </a:prstGeom>
          </p:spPr>
          <p:txBody>
            <a:bodyPr anchor="ctr" rtlCol="false" tIns="0" lIns="0" bIns="0" rIns="0"/>
            <a:lstStyle/>
            <a:p>
              <a:pPr algn="l">
                <a:lnSpc>
                  <a:spcPts val="3060"/>
                </a:lnSpc>
              </a:pPr>
              <a:r>
                <a:rPr lang="en-US" sz="2550" b="true">
                  <a:solidFill>
                    <a:srgbClr val="1C1C1E"/>
                  </a:solidFill>
                  <a:latin typeface="Cambria Bold"/>
                  <a:ea typeface="Cambria Bold"/>
                  <a:cs typeface="Cambria Bold"/>
                  <a:sym typeface="Cambria Bold"/>
                </a:rPr>
                <a:t>Accommodation sourcing</a:t>
              </a:r>
            </a:p>
          </p:txBody>
        </p:sp>
      </p:grpSp>
      <p:grpSp>
        <p:nvGrpSpPr>
          <p:cNvPr name="Group 34" id="34"/>
          <p:cNvGrpSpPr/>
          <p:nvPr/>
        </p:nvGrpSpPr>
        <p:grpSpPr>
          <a:xfrm rot="0">
            <a:off x="6940296" y="4224528"/>
            <a:ext cx="4389120" cy="1371600"/>
            <a:chOff x="0" y="0"/>
            <a:chExt cx="5852160" cy="1828800"/>
          </a:xfrm>
        </p:grpSpPr>
        <p:sp>
          <p:nvSpPr>
            <p:cNvPr name="Freeform 35" id="35"/>
            <p:cNvSpPr/>
            <p:nvPr/>
          </p:nvSpPr>
          <p:spPr>
            <a:xfrm flipH="false" flipV="false" rot="0">
              <a:off x="0" y="0"/>
              <a:ext cx="5852160" cy="1828800"/>
            </a:xfrm>
            <a:custGeom>
              <a:avLst/>
              <a:gdLst/>
              <a:ahLst/>
              <a:cxnLst/>
              <a:rect r="r" b="b" t="t" l="l"/>
              <a:pathLst>
                <a:path h="1828800" w="5852160">
                  <a:moveTo>
                    <a:pt x="0" y="0"/>
                  </a:moveTo>
                  <a:lnTo>
                    <a:pt x="5852160" y="0"/>
                  </a:lnTo>
                  <a:lnTo>
                    <a:pt x="5852160" y="1828800"/>
                  </a:lnTo>
                  <a:lnTo>
                    <a:pt x="0" y="1828800"/>
                  </a:lnTo>
                  <a:close/>
                </a:path>
              </a:pathLst>
            </a:custGeom>
            <a:blipFill>
              <a:blip r:embed="rId3">
                <a:alphaModFix amt="0"/>
              </a:blip>
              <a:stretch>
                <a:fillRect l="0" t="-12352" r="0" b="-12352"/>
              </a:stretch>
            </a:blipFill>
          </p:spPr>
        </p:sp>
        <p:sp>
          <p:nvSpPr>
            <p:cNvPr name="TextBox 36" id="36"/>
            <p:cNvSpPr txBox="true"/>
            <p:nvPr/>
          </p:nvSpPr>
          <p:spPr>
            <a:xfrm>
              <a:off x="0" y="-66675"/>
              <a:ext cx="5852160" cy="1895475"/>
            </a:xfrm>
            <a:prstGeom prst="rect">
              <a:avLst/>
            </a:prstGeom>
          </p:spPr>
          <p:txBody>
            <a:bodyPr anchor="ctr" rtlCol="false" tIns="0" lIns="0" bIns="0" rIns="0"/>
            <a:lstStyle/>
            <a:p>
              <a:pPr algn="l">
                <a:lnSpc>
                  <a:spcPts val="2550"/>
                </a:lnSpc>
              </a:pPr>
              <a:r>
                <a:rPr lang="en-US" sz="1875">
                  <a:solidFill>
                    <a:srgbClr val="6B6B70"/>
                  </a:solidFill>
                  <a:latin typeface="Calibri (MS)"/>
                  <a:ea typeface="Calibri (MS)"/>
                  <a:cs typeface="Calibri (MS)"/>
                  <a:sym typeface="Calibri (MS)"/>
                </a:rPr>
                <a:t>Triages the partner hotels on rest before the morning flight and hands the manager a ranked shortlist.</a:t>
              </a:r>
            </a:p>
          </p:txBody>
        </p:sp>
      </p:grpSp>
      <p:grpSp>
        <p:nvGrpSpPr>
          <p:cNvPr name="Group 37" id="37"/>
          <p:cNvGrpSpPr/>
          <p:nvPr/>
        </p:nvGrpSpPr>
        <p:grpSpPr>
          <a:xfrm rot="0">
            <a:off x="11768328" y="3771900"/>
            <a:ext cx="329184" cy="548640"/>
            <a:chOff x="0" y="0"/>
            <a:chExt cx="438912" cy="731520"/>
          </a:xfrm>
        </p:grpSpPr>
        <p:sp>
          <p:nvSpPr>
            <p:cNvPr name="Freeform 38" id="38"/>
            <p:cNvSpPr/>
            <p:nvPr/>
          </p:nvSpPr>
          <p:spPr>
            <a:xfrm flipH="false" flipV="false" rot="0">
              <a:off x="0" y="0"/>
              <a:ext cx="438912" cy="731520"/>
            </a:xfrm>
            <a:custGeom>
              <a:avLst/>
              <a:gdLst/>
              <a:ahLst/>
              <a:cxnLst/>
              <a:rect r="r" b="b" t="t" l="l"/>
              <a:pathLst>
                <a:path h="731520" w="438912">
                  <a:moveTo>
                    <a:pt x="0" y="0"/>
                  </a:moveTo>
                  <a:lnTo>
                    <a:pt x="438912" y="0"/>
                  </a:lnTo>
                  <a:lnTo>
                    <a:pt x="438912" y="731520"/>
                  </a:lnTo>
                  <a:lnTo>
                    <a:pt x="0" y="731520"/>
                  </a:lnTo>
                  <a:close/>
                </a:path>
              </a:pathLst>
            </a:custGeom>
            <a:blipFill>
              <a:blip r:embed="rId3">
                <a:alphaModFix amt="0"/>
              </a:blip>
              <a:stretch>
                <a:fillRect l="-163839" t="0" r="-163839" b="0"/>
              </a:stretch>
            </a:blipFill>
          </p:spPr>
        </p:sp>
        <p:sp>
          <p:nvSpPr>
            <p:cNvPr name="TextBox 39" id="39"/>
            <p:cNvSpPr txBox="true"/>
            <p:nvPr/>
          </p:nvSpPr>
          <p:spPr>
            <a:xfrm>
              <a:off x="0" y="-66675"/>
              <a:ext cx="438912" cy="798195"/>
            </a:xfrm>
            <a:prstGeom prst="rect">
              <a:avLst/>
            </a:prstGeom>
          </p:spPr>
          <p:txBody>
            <a:bodyPr anchor="ctr" rtlCol="false" tIns="0" lIns="0" bIns="0" rIns="0"/>
            <a:lstStyle/>
            <a:p>
              <a:pPr algn="ctr">
                <a:lnSpc>
                  <a:spcPts val="3600"/>
                </a:lnSpc>
              </a:pPr>
              <a:r>
                <a:rPr lang="en-US" sz="3000" b="true">
                  <a:solidFill>
                    <a:srgbClr val="29528F"/>
                  </a:solidFill>
                  <a:latin typeface="Calibri (MS) Bold"/>
                  <a:ea typeface="Calibri (MS) Bold"/>
                  <a:cs typeface="Calibri (MS) Bold"/>
                  <a:sym typeface="Calibri (MS) Bold"/>
                </a:rPr>
                <a:t>→</a:t>
              </a:r>
            </a:p>
          </p:txBody>
        </p:sp>
      </p:grpSp>
      <p:grpSp>
        <p:nvGrpSpPr>
          <p:cNvPr name="Group 40" id="40"/>
          <p:cNvGrpSpPr/>
          <p:nvPr/>
        </p:nvGrpSpPr>
        <p:grpSpPr>
          <a:xfrm rot="0">
            <a:off x="12087987" y="2390775"/>
            <a:ext cx="5231130" cy="3448050"/>
            <a:chOff x="0" y="0"/>
            <a:chExt cx="6974840" cy="4597400"/>
          </a:xfrm>
        </p:grpSpPr>
        <p:sp>
          <p:nvSpPr>
            <p:cNvPr name="Freeform 41" id="41"/>
            <p:cNvSpPr/>
            <p:nvPr/>
          </p:nvSpPr>
          <p:spPr>
            <a:xfrm flipH="false" flipV="false" rot="0">
              <a:off x="0" y="0"/>
              <a:ext cx="6974840" cy="4597400"/>
            </a:xfrm>
            <a:custGeom>
              <a:avLst/>
              <a:gdLst/>
              <a:ahLst/>
              <a:cxnLst/>
              <a:rect r="r" b="b" t="t" l="l"/>
              <a:pathLst>
                <a:path h="4597400" w="6974840">
                  <a:moveTo>
                    <a:pt x="0" y="147066"/>
                  </a:moveTo>
                  <a:cubicBezTo>
                    <a:pt x="0" y="65913"/>
                    <a:pt x="65913" y="0"/>
                    <a:pt x="147066" y="0"/>
                  </a:cubicBezTo>
                  <a:lnTo>
                    <a:pt x="6827774" y="0"/>
                  </a:lnTo>
                  <a:cubicBezTo>
                    <a:pt x="6909054" y="0"/>
                    <a:pt x="6974840" y="65913"/>
                    <a:pt x="6974840" y="147066"/>
                  </a:cubicBezTo>
                  <a:lnTo>
                    <a:pt x="6974840" y="4450334"/>
                  </a:lnTo>
                  <a:cubicBezTo>
                    <a:pt x="6974840" y="4531614"/>
                    <a:pt x="6908927" y="4597400"/>
                    <a:pt x="6827774" y="4597400"/>
                  </a:cubicBezTo>
                  <a:lnTo>
                    <a:pt x="147066" y="4597400"/>
                  </a:lnTo>
                  <a:cubicBezTo>
                    <a:pt x="65913" y="4597400"/>
                    <a:pt x="0" y="4531487"/>
                    <a:pt x="0" y="4450334"/>
                  </a:cubicBezTo>
                  <a:close/>
                </a:path>
              </a:pathLst>
            </a:custGeom>
            <a:solidFill>
              <a:srgbClr val="F7F7F9"/>
            </a:solidFill>
            <a:ln w="19050" cap="sq">
              <a:solidFill>
                <a:srgbClr val="F7F7F9"/>
              </a:solidFill>
              <a:prstDash val="solid"/>
              <a:miter/>
            </a:ln>
          </p:spPr>
        </p:sp>
      </p:grpSp>
      <p:grpSp>
        <p:nvGrpSpPr>
          <p:cNvPr name="Group 42" id="42"/>
          <p:cNvGrpSpPr/>
          <p:nvPr/>
        </p:nvGrpSpPr>
        <p:grpSpPr>
          <a:xfrm rot="0">
            <a:off x="12499467" y="2706243"/>
            <a:ext cx="773430" cy="773430"/>
            <a:chOff x="0" y="0"/>
            <a:chExt cx="1031240" cy="1031240"/>
          </a:xfrm>
        </p:grpSpPr>
        <p:sp>
          <p:nvSpPr>
            <p:cNvPr name="Freeform 43" id="43"/>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29528F"/>
            </a:solidFill>
            <a:ln w="19050" cap="sq">
              <a:solidFill>
                <a:srgbClr val="29528F"/>
              </a:solidFill>
              <a:prstDash val="solid"/>
              <a:miter/>
            </a:ln>
          </p:spPr>
        </p:sp>
      </p:grpSp>
      <p:grpSp>
        <p:nvGrpSpPr>
          <p:cNvPr name="Group 44" id="44"/>
          <p:cNvGrpSpPr/>
          <p:nvPr/>
        </p:nvGrpSpPr>
        <p:grpSpPr>
          <a:xfrm rot="0">
            <a:off x="12508992" y="2811780"/>
            <a:ext cx="754380" cy="576072"/>
            <a:chOff x="0" y="0"/>
            <a:chExt cx="1005840" cy="768096"/>
          </a:xfrm>
        </p:grpSpPr>
        <p:sp>
          <p:nvSpPr>
            <p:cNvPr name="Freeform 45" id="45"/>
            <p:cNvSpPr/>
            <p:nvPr/>
          </p:nvSpPr>
          <p:spPr>
            <a:xfrm flipH="false" flipV="false" rot="0">
              <a:off x="0" y="0"/>
              <a:ext cx="1005840" cy="768096"/>
            </a:xfrm>
            <a:custGeom>
              <a:avLst/>
              <a:gdLst/>
              <a:ahLst/>
              <a:cxnLst/>
              <a:rect r="r" b="b" t="t" l="l"/>
              <a:pathLst>
                <a:path h="768096" w="1005840">
                  <a:moveTo>
                    <a:pt x="0" y="0"/>
                  </a:moveTo>
                  <a:lnTo>
                    <a:pt x="1005840" y="0"/>
                  </a:lnTo>
                  <a:lnTo>
                    <a:pt x="1005840" y="768096"/>
                  </a:lnTo>
                  <a:lnTo>
                    <a:pt x="0" y="768096"/>
                  </a:lnTo>
                  <a:close/>
                </a:path>
              </a:pathLst>
            </a:custGeom>
            <a:blipFill>
              <a:blip r:embed="rId3">
                <a:alphaModFix amt="0"/>
              </a:blip>
              <a:stretch>
                <a:fillRect l="-47977" t="0" r="-47977" b="0"/>
              </a:stretch>
            </a:blipFill>
          </p:spPr>
        </p:sp>
        <p:sp>
          <p:nvSpPr>
            <p:cNvPr name="TextBox 46" id="46"/>
            <p:cNvSpPr txBox="true"/>
            <p:nvPr/>
          </p:nvSpPr>
          <p:spPr>
            <a:xfrm>
              <a:off x="0" y="-19050"/>
              <a:ext cx="1005840" cy="787146"/>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3</a:t>
              </a:r>
            </a:p>
          </p:txBody>
        </p:sp>
      </p:grpSp>
      <p:grpSp>
        <p:nvGrpSpPr>
          <p:cNvPr name="Group 47" id="47"/>
          <p:cNvGrpSpPr/>
          <p:nvPr/>
        </p:nvGrpSpPr>
        <p:grpSpPr>
          <a:xfrm rot="0">
            <a:off x="12508992" y="3675888"/>
            <a:ext cx="4389120" cy="480060"/>
            <a:chOff x="0" y="0"/>
            <a:chExt cx="5852160" cy="640080"/>
          </a:xfrm>
        </p:grpSpPr>
        <p:sp>
          <p:nvSpPr>
            <p:cNvPr name="Freeform 48" id="48"/>
            <p:cNvSpPr/>
            <p:nvPr/>
          </p:nvSpPr>
          <p:spPr>
            <a:xfrm flipH="false" flipV="false" rot="0">
              <a:off x="0" y="0"/>
              <a:ext cx="5852160" cy="640080"/>
            </a:xfrm>
            <a:custGeom>
              <a:avLst/>
              <a:gdLst/>
              <a:ahLst/>
              <a:cxnLst/>
              <a:rect r="r" b="b" t="t" l="l"/>
              <a:pathLst>
                <a:path h="640080" w="5852160">
                  <a:moveTo>
                    <a:pt x="0" y="0"/>
                  </a:moveTo>
                  <a:lnTo>
                    <a:pt x="5852160" y="0"/>
                  </a:lnTo>
                  <a:lnTo>
                    <a:pt x="5852160" y="640080"/>
                  </a:lnTo>
                  <a:lnTo>
                    <a:pt x="0" y="640080"/>
                  </a:lnTo>
                  <a:close/>
                </a:path>
              </a:pathLst>
            </a:custGeom>
            <a:blipFill>
              <a:blip r:embed="rId3">
                <a:alphaModFix amt="0"/>
              </a:blip>
              <a:stretch>
                <a:fillRect l="0" t="-128148" r="0" b="-128148"/>
              </a:stretch>
            </a:blipFill>
          </p:spPr>
        </p:sp>
        <p:sp>
          <p:nvSpPr>
            <p:cNvPr name="TextBox 49" id="49"/>
            <p:cNvSpPr txBox="true"/>
            <p:nvPr/>
          </p:nvSpPr>
          <p:spPr>
            <a:xfrm>
              <a:off x="0" y="-9525"/>
              <a:ext cx="5852160" cy="649605"/>
            </a:xfrm>
            <a:prstGeom prst="rect">
              <a:avLst/>
            </a:prstGeom>
          </p:spPr>
          <p:txBody>
            <a:bodyPr anchor="ctr" rtlCol="false" tIns="0" lIns="0" bIns="0" rIns="0"/>
            <a:lstStyle/>
            <a:p>
              <a:pPr algn="l">
                <a:lnSpc>
                  <a:spcPts val="3060"/>
                </a:lnSpc>
              </a:pPr>
              <a:r>
                <a:rPr lang="en-US" sz="2550" b="true">
                  <a:solidFill>
                    <a:srgbClr val="1C1C1E"/>
                  </a:solidFill>
                  <a:latin typeface="Cambria Bold"/>
                  <a:ea typeface="Cambria Bold"/>
                  <a:cs typeface="Cambria Bold"/>
                  <a:sym typeface="Cambria Bold"/>
                </a:rPr>
                <a:t>Hotel call intelligence</a:t>
              </a:r>
            </a:p>
          </p:txBody>
        </p:sp>
      </p:grpSp>
      <p:grpSp>
        <p:nvGrpSpPr>
          <p:cNvPr name="Group 50" id="50"/>
          <p:cNvGrpSpPr/>
          <p:nvPr/>
        </p:nvGrpSpPr>
        <p:grpSpPr>
          <a:xfrm rot="0">
            <a:off x="12508992" y="4224528"/>
            <a:ext cx="4389120" cy="1371600"/>
            <a:chOff x="0" y="0"/>
            <a:chExt cx="5852160" cy="1828800"/>
          </a:xfrm>
        </p:grpSpPr>
        <p:sp>
          <p:nvSpPr>
            <p:cNvPr name="Freeform 51" id="51"/>
            <p:cNvSpPr/>
            <p:nvPr/>
          </p:nvSpPr>
          <p:spPr>
            <a:xfrm flipH="false" flipV="false" rot="0">
              <a:off x="0" y="0"/>
              <a:ext cx="5852160" cy="1828800"/>
            </a:xfrm>
            <a:custGeom>
              <a:avLst/>
              <a:gdLst/>
              <a:ahLst/>
              <a:cxnLst/>
              <a:rect r="r" b="b" t="t" l="l"/>
              <a:pathLst>
                <a:path h="1828800" w="5852160">
                  <a:moveTo>
                    <a:pt x="0" y="0"/>
                  </a:moveTo>
                  <a:lnTo>
                    <a:pt x="5852160" y="0"/>
                  </a:lnTo>
                  <a:lnTo>
                    <a:pt x="5852160" y="1828800"/>
                  </a:lnTo>
                  <a:lnTo>
                    <a:pt x="0" y="1828800"/>
                  </a:lnTo>
                  <a:close/>
                </a:path>
              </a:pathLst>
            </a:custGeom>
            <a:blipFill>
              <a:blip r:embed="rId3">
                <a:alphaModFix amt="0"/>
              </a:blip>
              <a:stretch>
                <a:fillRect l="0" t="-12352" r="0" b="-12352"/>
              </a:stretch>
            </a:blipFill>
          </p:spPr>
        </p:sp>
        <p:sp>
          <p:nvSpPr>
            <p:cNvPr name="TextBox 52" id="52"/>
            <p:cNvSpPr txBox="true"/>
            <p:nvPr/>
          </p:nvSpPr>
          <p:spPr>
            <a:xfrm>
              <a:off x="0" y="-66675"/>
              <a:ext cx="5852160" cy="1895475"/>
            </a:xfrm>
            <a:prstGeom prst="rect">
              <a:avLst/>
            </a:prstGeom>
          </p:spPr>
          <p:txBody>
            <a:bodyPr anchor="ctr" rtlCol="false" tIns="0" lIns="0" bIns="0" rIns="0"/>
            <a:lstStyle/>
            <a:p>
              <a:pPr algn="l">
                <a:lnSpc>
                  <a:spcPts val="2550"/>
                </a:lnSpc>
              </a:pPr>
              <a:r>
                <a:rPr lang="en-US" sz="1875">
                  <a:solidFill>
                    <a:srgbClr val="6B6B70"/>
                  </a:solidFill>
                  <a:latin typeface="Calibri (MS)"/>
                  <a:ea typeface="Calibri (MS)"/>
                  <a:cs typeface="Calibri (MS)"/>
                  <a:sym typeface="Calibri (MS)"/>
                </a:rPr>
                <a:t>Turns the closing phone call into structured terms with a confidence score on every one.</a:t>
              </a:r>
            </a:p>
          </p:txBody>
        </p:sp>
      </p:grpSp>
      <p:grpSp>
        <p:nvGrpSpPr>
          <p:cNvPr name="Group 53" id="53"/>
          <p:cNvGrpSpPr/>
          <p:nvPr/>
        </p:nvGrpSpPr>
        <p:grpSpPr>
          <a:xfrm rot="0">
            <a:off x="950595" y="6231255"/>
            <a:ext cx="16382238" cy="1870710"/>
            <a:chOff x="0" y="0"/>
            <a:chExt cx="21842984" cy="2494280"/>
          </a:xfrm>
        </p:grpSpPr>
        <p:sp>
          <p:nvSpPr>
            <p:cNvPr name="Freeform 54" id="54"/>
            <p:cNvSpPr/>
            <p:nvPr/>
          </p:nvSpPr>
          <p:spPr>
            <a:xfrm flipH="false" flipV="false" rot="0">
              <a:off x="0" y="0"/>
              <a:ext cx="21842985" cy="2494280"/>
            </a:xfrm>
            <a:custGeom>
              <a:avLst/>
              <a:gdLst/>
              <a:ahLst/>
              <a:cxnLst/>
              <a:rect r="r" b="b" t="t" l="l"/>
              <a:pathLst>
                <a:path h="2494280" w="21842985">
                  <a:moveTo>
                    <a:pt x="0" y="147828"/>
                  </a:moveTo>
                  <a:cubicBezTo>
                    <a:pt x="0" y="66167"/>
                    <a:pt x="66167" y="0"/>
                    <a:pt x="147828" y="0"/>
                  </a:cubicBezTo>
                  <a:lnTo>
                    <a:pt x="21695156" y="0"/>
                  </a:lnTo>
                  <a:cubicBezTo>
                    <a:pt x="21776818" y="0"/>
                    <a:pt x="21842985" y="66167"/>
                    <a:pt x="21842985" y="147828"/>
                  </a:cubicBezTo>
                  <a:lnTo>
                    <a:pt x="21842985" y="2346452"/>
                  </a:lnTo>
                  <a:cubicBezTo>
                    <a:pt x="21842985" y="2428113"/>
                    <a:pt x="21776818" y="2494280"/>
                    <a:pt x="21695156" y="2494280"/>
                  </a:cubicBezTo>
                  <a:lnTo>
                    <a:pt x="147828" y="2494280"/>
                  </a:lnTo>
                  <a:cubicBezTo>
                    <a:pt x="66167" y="2494280"/>
                    <a:pt x="0" y="2428113"/>
                    <a:pt x="0" y="2346452"/>
                  </a:cubicBezTo>
                  <a:close/>
                </a:path>
              </a:pathLst>
            </a:custGeom>
            <a:solidFill>
              <a:srgbClr val="E8F5EE"/>
            </a:solidFill>
            <a:ln w="19050" cap="sq">
              <a:solidFill>
                <a:srgbClr val="E8F5EE"/>
              </a:solidFill>
              <a:prstDash val="solid"/>
              <a:miter/>
            </a:ln>
          </p:spPr>
        </p:sp>
      </p:grpSp>
      <p:grpSp>
        <p:nvGrpSpPr>
          <p:cNvPr name="Group 55" id="55"/>
          <p:cNvGrpSpPr/>
          <p:nvPr/>
        </p:nvGrpSpPr>
        <p:grpSpPr>
          <a:xfrm rot="0">
            <a:off x="1508760" y="6556248"/>
            <a:ext cx="15224760" cy="548640"/>
            <a:chOff x="0" y="0"/>
            <a:chExt cx="20299680" cy="731520"/>
          </a:xfrm>
        </p:grpSpPr>
        <p:sp>
          <p:nvSpPr>
            <p:cNvPr name="Freeform 56" id="56"/>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57" id="57"/>
            <p:cNvSpPr txBox="true"/>
            <p:nvPr/>
          </p:nvSpPr>
          <p:spPr>
            <a:xfrm>
              <a:off x="0" y="-19050"/>
              <a:ext cx="20299680" cy="750570"/>
            </a:xfrm>
            <a:prstGeom prst="rect">
              <a:avLst/>
            </a:prstGeom>
          </p:spPr>
          <p:txBody>
            <a:bodyPr anchor="ctr" rtlCol="false" tIns="0" lIns="0" bIns="0" rIns="0"/>
            <a:lstStyle/>
            <a:p>
              <a:pPr algn="l">
                <a:lnSpc>
                  <a:spcPts val="3779"/>
                </a:lnSpc>
              </a:pPr>
              <a:r>
                <a:rPr lang="en-US" sz="3150" b="true">
                  <a:solidFill>
                    <a:srgbClr val="0F7B4F"/>
                  </a:solidFill>
                  <a:latin typeface="Cambria Bold"/>
                  <a:ea typeface="Cambria Bold"/>
                  <a:cs typeface="Cambria Bold"/>
                  <a:sym typeface="Cambria Bold"/>
                </a:rPr>
                <a:t>The system proposes, ranks and explains. A human commits.</a:t>
              </a:r>
            </a:p>
          </p:txBody>
        </p:sp>
      </p:grpSp>
      <p:grpSp>
        <p:nvGrpSpPr>
          <p:cNvPr name="Group 58" id="58"/>
          <p:cNvGrpSpPr/>
          <p:nvPr/>
        </p:nvGrpSpPr>
        <p:grpSpPr>
          <a:xfrm rot="0">
            <a:off x="1508760" y="7242048"/>
            <a:ext cx="15224760" cy="548640"/>
            <a:chOff x="0" y="0"/>
            <a:chExt cx="20299680" cy="731520"/>
          </a:xfrm>
        </p:grpSpPr>
        <p:sp>
          <p:nvSpPr>
            <p:cNvPr name="Freeform 59" id="59"/>
            <p:cNvSpPr/>
            <p:nvPr/>
          </p:nvSpPr>
          <p:spPr>
            <a:xfrm flipH="false" flipV="false" rot="0">
              <a:off x="0" y="0"/>
              <a:ext cx="20299680" cy="731520"/>
            </a:xfrm>
            <a:custGeom>
              <a:avLst/>
              <a:gdLst/>
              <a:ahLst/>
              <a:cxnLst/>
              <a:rect r="r" b="b" t="t" l="l"/>
              <a:pathLst>
                <a:path h="731520" w="20299680">
                  <a:moveTo>
                    <a:pt x="0" y="0"/>
                  </a:moveTo>
                  <a:lnTo>
                    <a:pt x="20299680" y="0"/>
                  </a:lnTo>
                  <a:lnTo>
                    <a:pt x="20299680" y="731520"/>
                  </a:lnTo>
                  <a:lnTo>
                    <a:pt x="0" y="731520"/>
                  </a:lnTo>
                  <a:close/>
                </a:path>
              </a:pathLst>
            </a:custGeom>
            <a:blipFill>
              <a:blip r:embed="rId3">
                <a:alphaModFix amt="0"/>
              </a:blip>
              <a:stretch>
                <a:fillRect l="0" t="-490709" r="0" b="-490709"/>
              </a:stretch>
            </a:blipFill>
          </p:spPr>
        </p:sp>
        <p:sp>
          <p:nvSpPr>
            <p:cNvPr name="TextBox 60" id="60"/>
            <p:cNvSpPr txBox="true"/>
            <p:nvPr/>
          </p:nvSpPr>
          <p:spPr>
            <a:xfrm>
              <a:off x="0" y="-47625"/>
              <a:ext cx="20299680" cy="779145"/>
            </a:xfrm>
            <a:prstGeom prst="rect">
              <a:avLst/>
            </a:prstGeom>
          </p:spPr>
          <p:txBody>
            <a:bodyPr anchor="ctr" rtlCol="false" tIns="0" lIns="0" bIns="0" rIns="0"/>
            <a:lstStyle/>
            <a:p>
              <a:pPr algn="l">
                <a:lnSpc>
                  <a:spcPts val="2520"/>
                </a:lnSpc>
              </a:pPr>
              <a:r>
                <a:rPr lang="en-US" sz="2100">
                  <a:solidFill>
                    <a:srgbClr val="1C1C1E"/>
                  </a:solidFill>
                  <a:latin typeface="Calibri (MS)"/>
                  <a:ea typeface="Calibri (MS)"/>
                  <a:cs typeface="Calibri (MS)"/>
                  <a:sym typeface="Calibri (MS)"/>
                </a:rPr>
                <a:t>Nothing is booked. Nothing is confirmed. No hotel is ever given a payment guarantee by the system.</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WORKFLOW 1</a:t>
              </a:r>
            </a:p>
          </p:txBody>
        </p:sp>
      </p:grpSp>
      <p:grpSp>
        <p:nvGrpSpPr>
          <p:cNvPr name="Group 5" id="5"/>
          <p:cNvGrpSpPr/>
          <p:nvPr/>
        </p:nvGrpSpPr>
        <p:grpSpPr>
          <a:xfrm rot="0">
            <a:off x="960120"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Cancellation exposure</a:t>
              </a:r>
            </a:p>
          </p:txBody>
        </p:sp>
      </p:grpSp>
      <p:grpSp>
        <p:nvGrpSpPr>
          <p:cNvPr name="Group 8" id="8"/>
          <p:cNvGrpSpPr/>
          <p:nvPr/>
        </p:nvGrpSpPr>
        <p:grpSpPr>
          <a:xfrm rot="0">
            <a:off x="950595" y="2514219"/>
            <a:ext cx="457962" cy="457962"/>
            <a:chOff x="0" y="0"/>
            <a:chExt cx="610616" cy="610616"/>
          </a:xfrm>
        </p:grpSpPr>
        <p:sp>
          <p:nvSpPr>
            <p:cNvPr name="Freeform 9" id="9"/>
            <p:cNvSpPr/>
            <p:nvPr/>
          </p:nvSpPr>
          <p:spPr>
            <a:xfrm flipH="false" flipV="false" rot="0">
              <a:off x="0" y="0"/>
              <a:ext cx="610616" cy="610616"/>
            </a:xfrm>
            <a:custGeom>
              <a:avLst/>
              <a:gdLst/>
              <a:ahLst/>
              <a:cxnLst/>
              <a:rect r="r" b="b" t="t" l="l"/>
              <a:pathLst>
                <a:path h="610616" w="610616">
                  <a:moveTo>
                    <a:pt x="0" y="305308"/>
                  </a:moveTo>
                  <a:cubicBezTo>
                    <a:pt x="0" y="136652"/>
                    <a:pt x="136652" y="0"/>
                    <a:pt x="305308" y="0"/>
                  </a:cubicBezTo>
                  <a:cubicBezTo>
                    <a:pt x="473964" y="0"/>
                    <a:pt x="610616" y="136652"/>
                    <a:pt x="610616" y="305308"/>
                  </a:cubicBezTo>
                  <a:cubicBezTo>
                    <a:pt x="610616" y="473964"/>
                    <a:pt x="473964" y="610616"/>
                    <a:pt x="305308" y="610616"/>
                  </a:cubicBezTo>
                  <a:cubicBezTo>
                    <a:pt x="136652" y="610616"/>
                    <a:pt x="0" y="473964"/>
                    <a:pt x="0" y="305308"/>
                  </a:cubicBezTo>
                  <a:close/>
                </a:path>
              </a:pathLst>
            </a:custGeom>
            <a:solidFill>
              <a:srgbClr val="29528F"/>
            </a:solidFill>
            <a:ln w="19050" cap="sq">
              <a:solidFill>
                <a:srgbClr val="29528F"/>
              </a:solidFill>
              <a:prstDash val="solid"/>
              <a:miter/>
            </a:ln>
          </p:spPr>
        </p:sp>
      </p:grpSp>
      <p:grpSp>
        <p:nvGrpSpPr>
          <p:cNvPr name="Group 10" id="10"/>
          <p:cNvGrpSpPr/>
          <p:nvPr/>
        </p:nvGrpSpPr>
        <p:grpSpPr>
          <a:xfrm rot="0">
            <a:off x="960120" y="2564892"/>
            <a:ext cx="438912" cy="356616"/>
            <a:chOff x="0" y="0"/>
            <a:chExt cx="585216" cy="475488"/>
          </a:xfrm>
        </p:grpSpPr>
        <p:sp>
          <p:nvSpPr>
            <p:cNvPr name="Freeform 11" id="11"/>
            <p:cNvSpPr/>
            <p:nvPr/>
          </p:nvSpPr>
          <p:spPr>
            <a:xfrm flipH="false" flipV="false" rot="0">
              <a:off x="0" y="0"/>
              <a:ext cx="585216" cy="475488"/>
            </a:xfrm>
            <a:custGeom>
              <a:avLst/>
              <a:gdLst/>
              <a:ahLst/>
              <a:cxnLst/>
              <a:rect r="r" b="b" t="t" l="l"/>
              <a:pathLst>
                <a:path h="475488" w="585216">
                  <a:moveTo>
                    <a:pt x="0" y="0"/>
                  </a:moveTo>
                  <a:lnTo>
                    <a:pt x="585216" y="0"/>
                  </a:lnTo>
                  <a:lnTo>
                    <a:pt x="585216" y="475488"/>
                  </a:lnTo>
                  <a:lnTo>
                    <a:pt x="0" y="475488"/>
                  </a:lnTo>
                  <a:close/>
                </a:path>
              </a:pathLst>
            </a:custGeom>
            <a:blipFill>
              <a:blip r:embed="rId3">
                <a:alphaModFix amt="0"/>
              </a:blip>
              <a:stretch>
                <a:fillRect l="-54246" t="0" r="-54246" b="0"/>
              </a:stretch>
            </a:blipFill>
          </p:spPr>
        </p:sp>
        <p:sp>
          <p:nvSpPr>
            <p:cNvPr name="TextBox 12" id="12"/>
            <p:cNvSpPr txBox="true"/>
            <p:nvPr/>
          </p:nvSpPr>
          <p:spPr>
            <a:xfrm>
              <a:off x="0" y="-38100"/>
              <a:ext cx="585216" cy="51358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a:t>
              </a:r>
            </a:p>
          </p:txBody>
        </p:sp>
      </p:grpSp>
      <p:grpSp>
        <p:nvGrpSpPr>
          <p:cNvPr name="Group 13" id="13"/>
          <p:cNvGrpSpPr/>
          <p:nvPr/>
        </p:nvGrpSpPr>
        <p:grpSpPr>
          <a:xfrm rot="0">
            <a:off x="1645920" y="2468880"/>
            <a:ext cx="8778240" cy="754380"/>
            <a:chOff x="0" y="0"/>
            <a:chExt cx="11704320" cy="1005840"/>
          </a:xfrm>
        </p:grpSpPr>
        <p:sp>
          <p:nvSpPr>
            <p:cNvPr name="Freeform 14" id="14"/>
            <p:cNvSpPr/>
            <p:nvPr/>
          </p:nvSpPr>
          <p:spPr>
            <a:xfrm flipH="false" flipV="false" rot="0">
              <a:off x="0" y="0"/>
              <a:ext cx="11704320" cy="1005840"/>
            </a:xfrm>
            <a:custGeom>
              <a:avLst/>
              <a:gdLst/>
              <a:ahLst/>
              <a:cxnLst/>
              <a:rect r="r" b="b" t="t" l="l"/>
              <a:pathLst>
                <a:path h="1005840" w="11704320">
                  <a:moveTo>
                    <a:pt x="0" y="0"/>
                  </a:moveTo>
                  <a:lnTo>
                    <a:pt x="11704320" y="0"/>
                  </a:lnTo>
                  <a:lnTo>
                    <a:pt x="11704320" y="1005840"/>
                  </a:lnTo>
                  <a:lnTo>
                    <a:pt x="0" y="1005840"/>
                  </a:lnTo>
                  <a:close/>
                </a:path>
              </a:pathLst>
            </a:custGeom>
            <a:blipFill>
              <a:blip r:embed="rId3">
                <a:alphaModFix amt="0"/>
              </a:blip>
              <a:stretch>
                <a:fillRect l="0" t="-176734" r="0" b="-176734"/>
              </a:stretch>
            </a:blipFill>
          </p:spPr>
        </p:sp>
        <p:sp>
          <p:nvSpPr>
            <p:cNvPr name="TextBox 15" id="15"/>
            <p:cNvSpPr txBox="true"/>
            <p:nvPr/>
          </p:nvSpPr>
          <p:spPr>
            <a:xfrm>
              <a:off x="0" y="-57150"/>
              <a:ext cx="11704320" cy="1062990"/>
            </a:xfrm>
            <a:prstGeom prst="rect">
              <a:avLst/>
            </a:prstGeom>
          </p:spPr>
          <p:txBody>
            <a:bodyPr anchor="ctr" rtlCol="false" tIns="0" lIns="0" bIns="0" rIns="0"/>
            <a:lstStyle/>
            <a:p>
              <a:pPr algn="l">
                <a:lnSpc>
                  <a:spcPts val="2699"/>
                </a:lnSpc>
              </a:pPr>
              <a:r>
                <a:rPr lang="en-US" sz="2100">
                  <a:solidFill>
                    <a:srgbClr val="1C1C1E"/>
                  </a:solidFill>
                  <a:latin typeface="Calibri (MS)"/>
                  <a:ea typeface="Calibri (MS)"/>
                  <a:cs typeface="Calibri (MS)"/>
                  <a:sym typeface="Calibri (MS)"/>
                </a:rPr>
                <a:t>Manifest in as CSV or PNL teletype</a:t>
              </a:r>
            </a:p>
          </p:txBody>
        </p:sp>
      </p:grpSp>
      <p:grpSp>
        <p:nvGrpSpPr>
          <p:cNvPr name="Group 16" id="16"/>
          <p:cNvGrpSpPr/>
          <p:nvPr/>
        </p:nvGrpSpPr>
        <p:grpSpPr>
          <a:xfrm rot="0">
            <a:off x="950595" y="3364611"/>
            <a:ext cx="457962" cy="457962"/>
            <a:chOff x="0" y="0"/>
            <a:chExt cx="610616" cy="610616"/>
          </a:xfrm>
        </p:grpSpPr>
        <p:sp>
          <p:nvSpPr>
            <p:cNvPr name="Freeform 17" id="17"/>
            <p:cNvSpPr/>
            <p:nvPr/>
          </p:nvSpPr>
          <p:spPr>
            <a:xfrm flipH="false" flipV="false" rot="0">
              <a:off x="0" y="0"/>
              <a:ext cx="610616" cy="610616"/>
            </a:xfrm>
            <a:custGeom>
              <a:avLst/>
              <a:gdLst/>
              <a:ahLst/>
              <a:cxnLst/>
              <a:rect r="r" b="b" t="t" l="l"/>
              <a:pathLst>
                <a:path h="610616" w="610616">
                  <a:moveTo>
                    <a:pt x="0" y="305308"/>
                  </a:moveTo>
                  <a:cubicBezTo>
                    <a:pt x="0" y="136652"/>
                    <a:pt x="136652" y="0"/>
                    <a:pt x="305308" y="0"/>
                  </a:cubicBezTo>
                  <a:cubicBezTo>
                    <a:pt x="473964" y="0"/>
                    <a:pt x="610616" y="136652"/>
                    <a:pt x="610616" y="305308"/>
                  </a:cubicBezTo>
                  <a:cubicBezTo>
                    <a:pt x="610616" y="473964"/>
                    <a:pt x="473964" y="610616"/>
                    <a:pt x="305308" y="610616"/>
                  </a:cubicBezTo>
                  <a:cubicBezTo>
                    <a:pt x="136652" y="610616"/>
                    <a:pt x="0" y="473964"/>
                    <a:pt x="0" y="305308"/>
                  </a:cubicBezTo>
                  <a:close/>
                </a:path>
              </a:pathLst>
            </a:custGeom>
            <a:solidFill>
              <a:srgbClr val="29528F"/>
            </a:solidFill>
            <a:ln w="19050" cap="sq">
              <a:solidFill>
                <a:srgbClr val="29528F"/>
              </a:solidFill>
              <a:prstDash val="solid"/>
              <a:miter/>
            </a:ln>
          </p:spPr>
        </p:sp>
      </p:grpSp>
      <p:grpSp>
        <p:nvGrpSpPr>
          <p:cNvPr name="Group 18" id="18"/>
          <p:cNvGrpSpPr/>
          <p:nvPr/>
        </p:nvGrpSpPr>
        <p:grpSpPr>
          <a:xfrm rot="0">
            <a:off x="960120" y="3415284"/>
            <a:ext cx="438912" cy="356616"/>
            <a:chOff x="0" y="0"/>
            <a:chExt cx="585216" cy="475488"/>
          </a:xfrm>
        </p:grpSpPr>
        <p:sp>
          <p:nvSpPr>
            <p:cNvPr name="Freeform 19" id="19"/>
            <p:cNvSpPr/>
            <p:nvPr/>
          </p:nvSpPr>
          <p:spPr>
            <a:xfrm flipH="false" flipV="false" rot="0">
              <a:off x="0" y="0"/>
              <a:ext cx="585216" cy="475488"/>
            </a:xfrm>
            <a:custGeom>
              <a:avLst/>
              <a:gdLst/>
              <a:ahLst/>
              <a:cxnLst/>
              <a:rect r="r" b="b" t="t" l="l"/>
              <a:pathLst>
                <a:path h="475488" w="585216">
                  <a:moveTo>
                    <a:pt x="0" y="0"/>
                  </a:moveTo>
                  <a:lnTo>
                    <a:pt x="585216" y="0"/>
                  </a:lnTo>
                  <a:lnTo>
                    <a:pt x="585216" y="475488"/>
                  </a:lnTo>
                  <a:lnTo>
                    <a:pt x="0" y="475488"/>
                  </a:lnTo>
                  <a:close/>
                </a:path>
              </a:pathLst>
            </a:custGeom>
            <a:blipFill>
              <a:blip r:embed="rId3">
                <a:alphaModFix amt="0"/>
              </a:blip>
              <a:stretch>
                <a:fillRect l="-54246" t="0" r="-54246" b="0"/>
              </a:stretch>
            </a:blipFill>
          </p:spPr>
        </p:sp>
        <p:sp>
          <p:nvSpPr>
            <p:cNvPr name="TextBox 20" id="20"/>
            <p:cNvSpPr txBox="true"/>
            <p:nvPr/>
          </p:nvSpPr>
          <p:spPr>
            <a:xfrm>
              <a:off x="0" y="-38100"/>
              <a:ext cx="585216" cy="51358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a:t>
              </a:r>
            </a:p>
          </p:txBody>
        </p:sp>
      </p:grpSp>
      <p:grpSp>
        <p:nvGrpSpPr>
          <p:cNvPr name="Group 21" id="21"/>
          <p:cNvGrpSpPr/>
          <p:nvPr/>
        </p:nvGrpSpPr>
        <p:grpSpPr>
          <a:xfrm rot="0">
            <a:off x="1645920" y="3319272"/>
            <a:ext cx="8778240" cy="754380"/>
            <a:chOff x="0" y="0"/>
            <a:chExt cx="11704320" cy="1005840"/>
          </a:xfrm>
        </p:grpSpPr>
        <p:sp>
          <p:nvSpPr>
            <p:cNvPr name="Freeform 22" id="22"/>
            <p:cNvSpPr/>
            <p:nvPr/>
          </p:nvSpPr>
          <p:spPr>
            <a:xfrm flipH="false" flipV="false" rot="0">
              <a:off x="0" y="0"/>
              <a:ext cx="11704320" cy="1005840"/>
            </a:xfrm>
            <a:custGeom>
              <a:avLst/>
              <a:gdLst/>
              <a:ahLst/>
              <a:cxnLst/>
              <a:rect r="r" b="b" t="t" l="l"/>
              <a:pathLst>
                <a:path h="1005840" w="11704320">
                  <a:moveTo>
                    <a:pt x="0" y="0"/>
                  </a:moveTo>
                  <a:lnTo>
                    <a:pt x="11704320" y="0"/>
                  </a:lnTo>
                  <a:lnTo>
                    <a:pt x="11704320" y="1005840"/>
                  </a:lnTo>
                  <a:lnTo>
                    <a:pt x="0" y="1005840"/>
                  </a:lnTo>
                  <a:close/>
                </a:path>
              </a:pathLst>
            </a:custGeom>
            <a:blipFill>
              <a:blip r:embed="rId3">
                <a:alphaModFix amt="0"/>
              </a:blip>
              <a:stretch>
                <a:fillRect l="0" t="-176734" r="0" b="-176734"/>
              </a:stretch>
            </a:blipFill>
          </p:spPr>
        </p:sp>
        <p:sp>
          <p:nvSpPr>
            <p:cNvPr name="TextBox 23" id="23"/>
            <p:cNvSpPr txBox="true"/>
            <p:nvPr/>
          </p:nvSpPr>
          <p:spPr>
            <a:xfrm>
              <a:off x="0" y="-57150"/>
              <a:ext cx="11704320" cy="1062990"/>
            </a:xfrm>
            <a:prstGeom prst="rect">
              <a:avLst/>
            </a:prstGeom>
          </p:spPr>
          <p:txBody>
            <a:bodyPr anchor="ctr" rtlCol="false" tIns="0" lIns="0" bIns="0" rIns="0"/>
            <a:lstStyle/>
            <a:p>
              <a:pPr algn="l">
                <a:lnSpc>
                  <a:spcPts val="2699"/>
                </a:lnSpc>
              </a:pPr>
              <a:r>
                <a:rPr lang="en-US" sz="2100">
                  <a:solidFill>
                    <a:srgbClr val="1C1C1E"/>
                  </a:solidFill>
                  <a:latin typeface="Calibri (MS)"/>
                  <a:ea typeface="Calibri (MS)"/>
                  <a:cs typeface="Calibri (MS)"/>
                  <a:sym typeface="Calibri (MS)"/>
                </a:rPr>
                <a:t>Names read and destroyed, booking reference replaced by a per run salted hash</a:t>
              </a:r>
            </a:p>
          </p:txBody>
        </p:sp>
      </p:grpSp>
      <p:grpSp>
        <p:nvGrpSpPr>
          <p:cNvPr name="Group 24" id="24"/>
          <p:cNvGrpSpPr/>
          <p:nvPr/>
        </p:nvGrpSpPr>
        <p:grpSpPr>
          <a:xfrm rot="0">
            <a:off x="950595" y="4215003"/>
            <a:ext cx="457962" cy="457962"/>
            <a:chOff x="0" y="0"/>
            <a:chExt cx="610616" cy="610616"/>
          </a:xfrm>
        </p:grpSpPr>
        <p:sp>
          <p:nvSpPr>
            <p:cNvPr name="Freeform 25" id="25"/>
            <p:cNvSpPr/>
            <p:nvPr/>
          </p:nvSpPr>
          <p:spPr>
            <a:xfrm flipH="false" flipV="false" rot="0">
              <a:off x="0" y="0"/>
              <a:ext cx="610616" cy="610616"/>
            </a:xfrm>
            <a:custGeom>
              <a:avLst/>
              <a:gdLst/>
              <a:ahLst/>
              <a:cxnLst/>
              <a:rect r="r" b="b" t="t" l="l"/>
              <a:pathLst>
                <a:path h="610616" w="610616">
                  <a:moveTo>
                    <a:pt x="0" y="305308"/>
                  </a:moveTo>
                  <a:cubicBezTo>
                    <a:pt x="0" y="136652"/>
                    <a:pt x="136652" y="0"/>
                    <a:pt x="305308" y="0"/>
                  </a:cubicBezTo>
                  <a:cubicBezTo>
                    <a:pt x="473964" y="0"/>
                    <a:pt x="610616" y="136652"/>
                    <a:pt x="610616" y="305308"/>
                  </a:cubicBezTo>
                  <a:cubicBezTo>
                    <a:pt x="610616" y="473964"/>
                    <a:pt x="473964" y="610616"/>
                    <a:pt x="305308" y="610616"/>
                  </a:cubicBezTo>
                  <a:cubicBezTo>
                    <a:pt x="136652" y="610616"/>
                    <a:pt x="0" y="473964"/>
                    <a:pt x="0" y="305308"/>
                  </a:cubicBezTo>
                  <a:close/>
                </a:path>
              </a:pathLst>
            </a:custGeom>
            <a:solidFill>
              <a:srgbClr val="29528F"/>
            </a:solidFill>
            <a:ln w="19050" cap="sq">
              <a:solidFill>
                <a:srgbClr val="29528F"/>
              </a:solidFill>
              <a:prstDash val="solid"/>
              <a:miter/>
            </a:ln>
          </p:spPr>
        </p:sp>
      </p:grpSp>
      <p:grpSp>
        <p:nvGrpSpPr>
          <p:cNvPr name="Group 26" id="26"/>
          <p:cNvGrpSpPr/>
          <p:nvPr/>
        </p:nvGrpSpPr>
        <p:grpSpPr>
          <a:xfrm rot="0">
            <a:off x="960120" y="4265676"/>
            <a:ext cx="438912" cy="356616"/>
            <a:chOff x="0" y="0"/>
            <a:chExt cx="585216" cy="475488"/>
          </a:xfrm>
        </p:grpSpPr>
        <p:sp>
          <p:nvSpPr>
            <p:cNvPr name="Freeform 27" id="27"/>
            <p:cNvSpPr/>
            <p:nvPr/>
          </p:nvSpPr>
          <p:spPr>
            <a:xfrm flipH="false" flipV="false" rot="0">
              <a:off x="0" y="0"/>
              <a:ext cx="585216" cy="475488"/>
            </a:xfrm>
            <a:custGeom>
              <a:avLst/>
              <a:gdLst/>
              <a:ahLst/>
              <a:cxnLst/>
              <a:rect r="r" b="b" t="t" l="l"/>
              <a:pathLst>
                <a:path h="475488" w="585216">
                  <a:moveTo>
                    <a:pt x="0" y="0"/>
                  </a:moveTo>
                  <a:lnTo>
                    <a:pt x="585216" y="0"/>
                  </a:lnTo>
                  <a:lnTo>
                    <a:pt x="585216" y="475488"/>
                  </a:lnTo>
                  <a:lnTo>
                    <a:pt x="0" y="475488"/>
                  </a:lnTo>
                  <a:close/>
                </a:path>
              </a:pathLst>
            </a:custGeom>
            <a:blipFill>
              <a:blip r:embed="rId3">
                <a:alphaModFix amt="0"/>
              </a:blip>
              <a:stretch>
                <a:fillRect l="-54246" t="0" r="-54246" b="0"/>
              </a:stretch>
            </a:blipFill>
          </p:spPr>
        </p:sp>
        <p:sp>
          <p:nvSpPr>
            <p:cNvPr name="TextBox 28" id="28"/>
            <p:cNvSpPr txBox="true"/>
            <p:nvPr/>
          </p:nvSpPr>
          <p:spPr>
            <a:xfrm>
              <a:off x="0" y="-38100"/>
              <a:ext cx="585216" cy="51358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29" id="29"/>
          <p:cNvGrpSpPr/>
          <p:nvPr/>
        </p:nvGrpSpPr>
        <p:grpSpPr>
          <a:xfrm rot="0">
            <a:off x="1645920" y="4169664"/>
            <a:ext cx="8778240" cy="754380"/>
            <a:chOff x="0" y="0"/>
            <a:chExt cx="11704320" cy="1005840"/>
          </a:xfrm>
        </p:grpSpPr>
        <p:sp>
          <p:nvSpPr>
            <p:cNvPr name="Freeform 30" id="30"/>
            <p:cNvSpPr/>
            <p:nvPr/>
          </p:nvSpPr>
          <p:spPr>
            <a:xfrm flipH="false" flipV="false" rot="0">
              <a:off x="0" y="0"/>
              <a:ext cx="11704320" cy="1005840"/>
            </a:xfrm>
            <a:custGeom>
              <a:avLst/>
              <a:gdLst/>
              <a:ahLst/>
              <a:cxnLst/>
              <a:rect r="r" b="b" t="t" l="l"/>
              <a:pathLst>
                <a:path h="1005840" w="11704320">
                  <a:moveTo>
                    <a:pt x="0" y="0"/>
                  </a:moveTo>
                  <a:lnTo>
                    <a:pt x="11704320" y="0"/>
                  </a:lnTo>
                  <a:lnTo>
                    <a:pt x="11704320" y="1005840"/>
                  </a:lnTo>
                  <a:lnTo>
                    <a:pt x="0" y="1005840"/>
                  </a:lnTo>
                  <a:close/>
                </a:path>
              </a:pathLst>
            </a:custGeom>
            <a:blipFill>
              <a:blip r:embed="rId3">
                <a:alphaModFix amt="0"/>
              </a:blip>
              <a:stretch>
                <a:fillRect l="0" t="-176734" r="0" b="-176734"/>
              </a:stretch>
            </a:blipFill>
          </p:spPr>
        </p:sp>
        <p:sp>
          <p:nvSpPr>
            <p:cNvPr name="TextBox 31" id="31"/>
            <p:cNvSpPr txBox="true"/>
            <p:nvPr/>
          </p:nvSpPr>
          <p:spPr>
            <a:xfrm>
              <a:off x="0" y="-57150"/>
              <a:ext cx="11704320" cy="1062990"/>
            </a:xfrm>
            <a:prstGeom prst="rect">
              <a:avLst/>
            </a:prstGeom>
          </p:spPr>
          <p:txBody>
            <a:bodyPr anchor="ctr" rtlCol="false" tIns="0" lIns="0" bIns="0" rIns="0"/>
            <a:lstStyle/>
            <a:p>
              <a:pPr algn="l">
                <a:lnSpc>
                  <a:spcPts val="2699"/>
                </a:lnSpc>
              </a:pPr>
              <a:r>
                <a:rPr lang="en-US" sz="2100">
                  <a:solidFill>
                    <a:srgbClr val="1C1C1E"/>
                  </a:solidFill>
                  <a:latin typeface="Calibri (MS)"/>
                  <a:ea typeface="Calibri (MS)"/>
                  <a:cs typeface="Calibri (MS)"/>
                  <a:sym typeface="Calibri (MS)"/>
                </a:rPr>
                <a:t>Parties grouped, trip origin identifies who could go home</a:t>
              </a:r>
            </a:p>
          </p:txBody>
        </p:sp>
      </p:grpSp>
      <p:grpSp>
        <p:nvGrpSpPr>
          <p:cNvPr name="Group 32" id="32"/>
          <p:cNvGrpSpPr/>
          <p:nvPr/>
        </p:nvGrpSpPr>
        <p:grpSpPr>
          <a:xfrm rot="0">
            <a:off x="950595" y="5065395"/>
            <a:ext cx="457962" cy="457962"/>
            <a:chOff x="0" y="0"/>
            <a:chExt cx="610616" cy="610616"/>
          </a:xfrm>
        </p:grpSpPr>
        <p:sp>
          <p:nvSpPr>
            <p:cNvPr name="Freeform 33" id="33"/>
            <p:cNvSpPr/>
            <p:nvPr/>
          </p:nvSpPr>
          <p:spPr>
            <a:xfrm flipH="false" flipV="false" rot="0">
              <a:off x="0" y="0"/>
              <a:ext cx="610616" cy="610616"/>
            </a:xfrm>
            <a:custGeom>
              <a:avLst/>
              <a:gdLst/>
              <a:ahLst/>
              <a:cxnLst/>
              <a:rect r="r" b="b" t="t" l="l"/>
              <a:pathLst>
                <a:path h="610616" w="610616">
                  <a:moveTo>
                    <a:pt x="0" y="305308"/>
                  </a:moveTo>
                  <a:cubicBezTo>
                    <a:pt x="0" y="136652"/>
                    <a:pt x="136652" y="0"/>
                    <a:pt x="305308" y="0"/>
                  </a:cubicBezTo>
                  <a:cubicBezTo>
                    <a:pt x="473964" y="0"/>
                    <a:pt x="610616" y="136652"/>
                    <a:pt x="610616" y="305308"/>
                  </a:cubicBezTo>
                  <a:cubicBezTo>
                    <a:pt x="610616" y="473964"/>
                    <a:pt x="473964" y="610616"/>
                    <a:pt x="305308" y="610616"/>
                  </a:cubicBezTo>
                  <a:cubicBezTo>
                    <a:pt x="136652" y="610616"/>
                    <a:pt x="0" y="473964"/>
                    <a:pt x="0" y="305308"/>
                  </a:cubicBezTo>
                  <a:close/>
                </a:path>
              </a:pathLst>
            </a:custGeom>
            <a:solidFill>
              <a:srgbClr val="29528F"/>
            </a:solidFill>
            <a:ln w="19050" cap="sq">
              <a:solidFill>
                <a:srgbClr val="29528F"/>
              </a:solidFill>
              <a:prstDash val="solid"/>
              <a:miter/>
            </a:ln>
          </p:spPr>
        </p:sp>
      </p:grpSp>
      <p:grpSp>
        <p:nvGrpSpPr>
          <p:cNvPr name="Group 34" id="34"/>
          <p:cNvGrpSpPr/>
          <p:nvPr/>
        </p:nvGrpSpPr>
        <p:grpSpPr>
          <a:xfrm rot="0">
            <a:off x="960120" y="5116068"/>
            <a:ext cx="438912" cy="356616"/>
            <a:chOff x="0" y="0"/>
            <a:chExt cx="585216" cy="475488"/>
          </a:xfrm>
        </p:grpSpPr>
        <p:sp>
          <p:nvSpPr>
            <p:cNvPr name="Freeform 35" id="35"/>
            <p:cNvSpPr/>
            <p:nvPr/>
          </p:nvSpPr>
          <p:spPr>
            <a:xfrm flipH="false" flipV="false" rot="0">
              <a:off x="0" y="0"/>
              <a:ext cx="585216" cy="475488"/>
            </a:xfrm>
            <a:custGeom>
              <a:avLst/>
              <a:gdLst/>
              <a:ahLst/>
              <a:cxnLst/>
              <a:rect r="r" b="b" t="t" l="l"/>
              <a:pathLst>
                <a:path h="475488" w="585216">
                  <a:moveTo>
                    <a:pt x="0" y="0"/>
                  </a:moveTo>
                  <a:lnTo>
                    <a:pt x="585216" y="0"/>
                  </a:lnTo>
                  <a:lnTo>
                    <a:pt x="585216" y="475488"/>
                  </a:lnTo>
                  <a:lnTo>
                    <a:pt x="0" y="475488"/>
                  </a:lnTo>
                  <a:close/>
                </a:path>
              </a:pathLst>
            </a:custGeom>
            <a:blipFill>
              <a:blip r:embed="rId3">
                <a:alphaModFix amt="0"/>
              </a:blip>
              <a:stretch>
                <a:fillRect l="-54246" t="0" r="-54246" b="0"/>
              </a:stretch>
            </a:blipFill>
          </p:spPr>
        </p:sp>
        <p:sp>
          <p:nvSpPr>
            <p:cNvPr name="TextBox 36" id="36"/>
            <p:cNvSpPr txBox="true"/>
            <p:nvPr/>
          </p:nvSpPr>
          <p:spPr>
            <a:xfrm>
              <a:off x="0" y="-38100"/>
              <a:ext cx="585216" cy="51358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37" id="37"/>
          <p:cNvGrpSpPr/>
          <p:nvPr/>
        </p:nvGrpSpPr>
        <p:grpSpPr>
          <a:xfrm rot="0">
            <a:off x="1645920" y="5020056"/>
            <a:ext cx="8778240" cy="754380"/>
            <a:chOff x="0" y="0"/>
            <a:chExt cx="11704320" cy="1005840"/>
          </a:xfrm>
        </p:grpSpPr>
        <p:sp>
          <p:nvSpPr>
            <p:cNvPr name="Freeform 38" id="38"/>
            <p:cNvSpPr/>
            <p:nvPr/>
          </p:nvSpPr>
          <p:spPr>
            <a:xfrm flipH="false" flipV="false" rot="0">
              <a:off x="0" y="0"/>
              <a:ext cx="11704320" cy="1005840"/>
            </a:xfrm>
            <a:custGeom>
              <a:avLst/>
              <a:gdLst/>
              <a:ahLst/>
              <a:cxnLst/>
              <a:rect r="r" b="b" t="t" l="l"/>
              <a:pathLst>
                <a:path h="1005840" w="11704320">
                  <a:moveTo>
                    <a:pt x="0" y="0"/>
                  </a:moveTo>
                  <a:lnTo>
                    <a:pt x="11704320" y="0"/>
                  </a:lnTo>
                  <a:lnTo>
                    <a:pt x="11704320" y="1005840"/>
                  </a:lnTo>
                  <a:lnTo>
                    <a:pt x="0" y="1005840"/>
                  </a:lnTo>
                  <a:close/>
                </a:path>
              </a:pathLst>
            </a:custGeom>
            <a:blipFill>
              <a:blip r:embed="rId3">
                <a:alphaModFix amt="0"/>
              </a:blip>
              <a:stretch>
                <a:fillRect l="0" t="-176734" r="0" b="-176734"/>
              </a:stretch>
            </a:blipFill>
          </p:spPr>
        </p:sp>
        <p:sp>
          <p:nvSpPr>
            <p:cNvPr name="TextBox 39" id="39"/>
            <p:cNvSpPr txBox="true"/>
            <p:nvPr/>
          </p:nvSpPr>
          <p:spPr>
            <a:xfrm>
              <a:off x="0" y="-57150"/>
              <a:ext cx="11704320" cy="1062990"/>
            </a:xfrm>
            <a:prstGeom prst="rect">
              <a:avLst/>
            </a:prstGeom>
          </p:spPr>
          <p:txBody>
            <a:bodyPr anchor="ctr" rtlCol="false" tIns="0" lIns="0" bIns="0" rIns="0"/>
            <a:lstStyle/>
            <a:p>
              <a:pPr algn="l">
                <a:lnSpc>
                  <a:spcPts val="2699"/>
                </a:lnSpc>
              </a:pPr>
              <a:r>
                <a:rPr lang="en-US" sz="2100">
                  <a:solidFill>
                    <a:srgbClr val="1C1C1E"/>
                  </a:solidFill>
                  <a:latin typeface="Calibri (MS)"/>
                  <a:ea typeface="Calibri (MS)"/>
                  <a:cs typeface="Calibri (MS)"/>
                  <a:sym typeface="Calibri (MS)"/>
                </a:rPr>
                <a:t>Rooms, meals, transport and EU261 liability costed as low, expected and high</a:t>
              </a:r>
            </a:p>
          </p:txBody>
        </p:sp>
      </p:grpSp>
      <p:grpSp>
        <p:nvGrpSpPr>
          <p:cNvPr name="Group 40" id="40"/>
          <p:cNvGrpSpPr/>
          <p:nvPr/>
        </p:nvGrpSpPr>
        <p:grpSpPr>
          <a:xfrm rot="0">
            <a:off x="950595" y="5915787"/>
            <a:ext cx="457962" cy="457962"/>
            <a:chOff x="0" y="0"/>
            <a:chExt cx="610616" cy="610616"/>
          </a:xfrm>
        </p:grpSpPr>
        <p:sp>
          <p:nvSpPr>
            <p:cNvPr name="Freeform 41" id="41"/>
            <p:cNvSpPr/>
            <p:nvPr/>
          </p:nvSpPr>
          <p:spPr>
            <a:xfrm flipH="false" flipV="false" rot="0">
              <a:off x="0" y="0"/>
              <a:ext cx="610616" cy="610616"/>
            </a:xfrm>
            <a:custGeom>
              <a:avLst/>
              <a:gdLst/>
              <a:ahLst/>
              <a:cxnLst/>
              <a:rect r="r" b="b" t="t" l="l"/>
              <a:pathLst>
                <a:path h="610616" w="610616">
                  <a:moveTo>
                    <a:pt x="0" y="305308"/>
                  </a:moveTo>
                  <a:cubicBezTo>
                    <a:pt x="0" y="136652"/>
                    <a:pt x="136652" y="0"/>
                    <a:pt x="305308" y="0"/>
                  </a:cubicBezTo>
                  <a:cubicBezTo>
                    <a:pt x="473964" y="0"/>
                    <a:pt x="610616" y="136652"/>
                    <a:pt x="610616" y="305308"/>
                  </a:cubicBezTo>
                  <a:cubicBezTo>
                    <a:pt x="610616" y="473964"/>
                    <a:pt x="473964" y="610616"/>
                    <a:pt x="305308" y="610616"/>
                  </a:cubicBezTo>
                  <a:cubicBezTo>
                    <a:pt x="136652" y="610616"/>
                    <a:pt x="0" y="473964"/>
                    <a:pt x="0" y="305308"/>
                  </a:cubicBezTo>
                  <a:close/>
                </a:path>
              </a:pathLst>
            </a:custGeom>
            <a:solidFill>
              <a:srgbClr val="29528F"/>
            </a:solidFill>
            <a:ln w="19050" cap="sq">
              <a:solidFill>
                <a:srgbClr val="29528F"/>
              </a:solidFill>
              <a:prstDash val="solid"/>
              <a:miter/>
            </a:ln>
          </p:spPr>
        </p:sp>
      </p:grpSp>
      <p:grpSp>
        <p:nvGrpSpPr>
          <p:cNvPr name="Group 42" id="42"/>
          <p:cNvGrpSpPr/>
          <p:nvPr/>
        </p:nvGrpSpPr>
        <p:grpSpPr>
          <a:xfrm rot="0">
            <a:off x="960120" y="5966460"/>
            <a:ext cx="438912" cy="356616"/>
            <a:chOff x="0" y="0"/>
            <a:chExt cx="585216" cy="475488"/>
          </a:xfrm>
        </p:grpSpPr>
        <p:sp>
          <p:nvSpPr>
            <p:cNvPr name="Freeform 43" id="43"/>
            <p:cNvSpPr/>
            <p:nvPr/>
          </p:nvSpPr>
          <p:spPr>
            <a:xfrm flipH="false" flipV="false" rot="0">
              <a:off x="0" y="0"/>
              <a:ext cx="585216" cy="475488"/>
            </a:xfrm>
            <a:custGeom>
              <a:avLst/>
              <a:gdLst/>
              <a:ahLst/>
              <a:cxnLst/>
              <a:rect r="r" b="b" t="t" l="l"/>
              <a:pathLst>
                <a:path h="475488" w="585216">
                  <a:moveTo>
                    <a:pt x="0" y="0"/>
                  </a:moveTo>
                  <a:lnTo>
                    <a:pt x="585216" y="0"/>
                  </a:lnTo>
                  <a:lnTo>
                    <a:pt x="585216" y="475488"/>
                  </a:lnTo>
                  <a:lnTo>
                    <a:pt x="0" y="475488"/>
                  </a:lnTo>
                  <a:close/>
                </a:path>
              </a:pathLst>
            </a:custGeom>
            <a:blipFill>
              <a:blip r:embed="rId3">
                <a:alphaModFix amt="0"/>
              </a:blip>
              <a:stretch>
                <a:fillRect l="-54246" t="0" r="-54246" b="0"/>
              </a:stretch>
            </a:blipFill>
          </p:spPr>
        </p:sp>
        <p:sp>
          <p:nvSpPr>
            <p:cNvPr name="TextBox 44" id="44"/>
            <p:cNvSpPr txBox="true"/>
            <p:nvPr/>
          </p:nvSpPr>
          <p:spPr>
            <a:xfrm>
              <a:off x="0" y="-38100"/>
              <a:ext cx="585216" cy="51358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a:t>
              </a:r>
            </a:p>
          </p:txBody>
        </p:sp>
      </p:grpSp>
      <p:grpSp>
        <p:nvGrpSpPr>
          <p:cNvPr name="Group 45" id="45"/>
          <p:cNvGrpSpPr/>
          <p:nvPr/>
        </p:nvGrpSpPr>
        <p:grpSpPr>
          <a:xfrm rot="0">
            <a:off x="1645920" y="5870448"/>
            <a:ext cx="8778240" cy="754380"/>
            <a:chOff x="0" y="0"/>
            <a:chExt cx="11704320" cy="1005840"/>
          </a:xfrm>
        </p:grpSpPr>
        <p:sp>
          <p:nvSpPr>
            <p:cNvPr name="Freeform 46" id="46"/>
            <p:cNvSpPr/>
            <p:nvPr/>
          </p:nvSpPr>
          <p:spPr>
            <a:xfrm flipH="false" flipV="false" rot="0">
              <a:off x="0" y="0"/>
              <a:ext cx="11704320" cy="1005840"/>
            </a:xfrm>
            <a:custGeom>
              <a:avLst/>
              <a:gdLst/>
              <a:ahLst/>
              <a:cxnLst/>
              <a:rect r="r" b="b" t="t" l="l"/>
              <a:pathLst>
                <a:path h="1005840" w="11704320">
                  <a:moveTo>
                    <a:pt x="0" y="0"/>
                  </a:moveTo>
                  <a:lnTo>
                    <a:pt x="11704320" y="0"/>
                  </a:lnTo>
                  <a:lnTo>
                    <a:pt x="11704320" y="1005840"/>
                  </a:lnTo>
                  <a:lnTo>
                    <a:pt x="0" y="1005840"/>
                  </a:lnTo>
                  <a:close/>
                </a:path>
              </a:pathLst>
            </a:custGeom>
            <a:blipFill>
              <a:blip r:embed="rId3">
                <a:alphaModFix amt="0"/>
              </a:blip>
              <a:stretch>
                <a:fillRect l="0" t="-176734" r="0" b="-176734"/>
              </a:stretch>
            </a:blipFill>
          </p:spPr>
        </p:sp>
        <p:sp>
          <p:nvSpPr>
            <p:cNvPr name="TextBox 47" id="47"/>
            <p:cNvSpPr txBox="true"/>
            <p:nvPr/>
          </p:nvSpPr>
          <p:spPr>
            <a:xfrm>
              <a:off x="0" y="-57150"/>
              <a:ext cx="11704320" cy="1062990"/>
            </a:xfrm>
            <a:prstGeom prst="rect">
              <a:avLst/>
            </a:prstGeom>
          </p:spPr>
          <p:txBody>
            <a:bodyPr anchor="ctr" rtlCol="false" tIns="0" lIns="0" bIns="0" rIns="0"/>
            <a:lstStyle/>
            <a:p>
              <a:pPr algn="l">
                <a:lnSpc>
                  <a:spcPts val="2699"/>
                </a:lnSpc>
              </a:pPr>
              <a:r>
                <a:rPr lang="en-US" sz="2100">
                  <a:solidFill>
                    <a:srgbClr val="1C1C1E"/>
                  </a:solidFill>
                  <a:latin typeface="Calibri (MS)"/>
                  <a:ea typeface="Calibri (MS)"/>
                  <a:cs typeface="Calibri (MS)"/>
                  <a:sym typeface="Calibri (MS)"/>
                </a:rPr>
                <a:t>Authorisation gate routes to station or carrier operations centre</a:t>
              </a:r>
            </a:p>
          </p:txBody>
        </p:sp>
      </p:grpSp>
      <p:grpSp>
        <p:nvGrpSpPr>
          <p:cNvPr name="Group 48" id="48"/>
          <p:cNvGrpSpPr/>
          <p:nvPr/>
        </p:nvGrpSpPr>
        <p:grpSpPr>
          <a:xfrm rot="0">
            <a:off x="10963275" y="2390775"/>
            <a:ext cx="6369558" cy="4408170"/>
            <a:chOff x="0" y="0"/>
            <a:chExt cx="8492744" cy="5877560"/>
          </a:xfrm>
        </p:grpSpPr>
        <p:sp>
          <p:nvSpPr>
            <p:cNvPr name="Freeform 49" id="49"/>
            <p:cNvSpPr/>
            <p:nvPr/>
          </p:nvSpPr>
          <p:spPr>
            <a:xfrm flipH="false" flipV="false" rot="0">
              <a:off x="0" y="0"/>
              <a:ext cx="8492744" cy="5877560"/>
            </a:xfrm>
            <a:custGeom>
              <a:avLst/>
              <a:gdLst/>
              <a:ahLst/>
              <a:cxnLst/>
              <a:rect r="r" b="b" t="t" l="l"/>
              <a:pathLst>
                <a:path h="5877560" w="8492744">
                  <a:moveTo>
                    <a:pt x="0" y="146939"/>
                  </a:moveTo>
                  <a:cubicBezTo>
                    <a:pt x="0" y="65786"/>
                    <a:pt x="65786" y="0"/>
                    <a:pt x="146939" y="0"/>
                  </a:cubicBezTo>
                  <a:lnTo>
                    <a:pt x="8345805" y="0"/>
                  </a:lnTo>
                  <a:cubicBezTo>
                    <a:pt x="8426958" y="0"/>
                    <a:pt x="8492744" y="65786"/>
                    <a:pt x="8492744" y="146939"/>
                  </a:cubicBezTo>
                  <a:lnTo>
                    <a:pt x="8492744" y="5730621"/>
                  </a:lnTo>
                  <a:cubicBezTo>
                    <a:pt x="8492744" y="5811774"/>
                    <a:pt x="8426958" y="5877560"/>
                    <a:pt x="8345805" y="5877560"/>
                  </a:cubicBezTo>
                  <a:lnTo>
                    <a:pt x="146939" y="5877560"/>
                  </a:lnTo>
                  <a:cubicBezTo>
                    <a:pt x="65786" y="5877560"/>
                    <a:pt x="0" y="5811774"/>
                    <a:pt x="0" y="5730621"/>
                  </a:cubicBezTo>
                  <a:close/>
                </a:path>
              </a:pathLst>
            </a:custGeom>
            <a:solidFill>
              <a:srgbClr val="F7F7F9"/>
            </a:solidFill>
            <a:ln w="19050" cap="sq">
              <a:solidFill>
                <a:srgbClr val="F7F7F9"/>
              </a:solidFill>
              <a:prstDash val="solid"/>
              <a:miter/>
            </a:ln>
          </p:spPr>
        </p:sp>
      </p:grpSp>
      <p:grpSp>
        <p:nvGrpSpPr>
          <p:cNvPr name="Group 50" id="50"/>
          <p:cNvGrpSpPr/>
          <p:nvPr/>
        </p:nvGrpSpPr>
        <p:grpSpPr>
          <a:xfrm rot="0">
            <a:off x="11452860" y="2674620"/>
            <a:ext cx="5349240" cy="411480"/>
            <a:chOff x="0" y="0"/>
            <a:chExt cx="7132320" cy="548640"/>
          </a:xfrm>
        </p:grpSpPr>
        <p:sp>
          <p:nvSpPr>
            <p:cNvPr name="Freeform 51" id="51"/>
            <p:cNvSpPr/>
            <p:nvPr/>
          </p:nvSpPr>
          <p:spPr>
            <a:xfrm flipH="false" flipV="false" rot="0">
              <a:off x="0" y="0"/>
              <a:ext cx="7132320" cy="548640"/>
            </a:xfrm>
            <a:custGeom>
              <a:avLst/>
              <a:gdLst/>
              <a:ahLst/>
              <a:cxnLst/>
              <a:rect r="r" b="b" t="t" l="l"/>
              <a:pathLst>
                <a:path h="548640" w="7132320">
                  <a:moveTo>
                    <a:pt x="0" y="0"/>
                  </a:moveTo>
                  <a:lnTo>
                    <a:pt x="7132320" y="0"/>
                  </a:lnTo>
                  <a:lnTo>
                    <a:pt x="7132320" y="548640"/>
                  </a:lnTo>
                  <a:lnTo>
                    <a:pt x="0" y="548640"/>
                  </a:lnTo>
                  <a:close/>
                </a:path>
              </a:pathLst>
            </a:custGeom>
            <a:blipFill>
              <a:blip r:embed="rId3">
                <a:alphaModFix amt="0"/>
              </a:blip>
              <a:stretch>
                <a:fillRect l="0" t="-203305" r="0" b="-203305"/>
              </a:stretch>
            </a:blipFill>
          </p:spPr>
        </p:sp>
        <p:sp>
          <p:nvSpPr>
            <p:cNvPr name="TextBox 52" id="52"/>
            <p:cNvSpPr txBox="true"/>
            <p:nvPr/>
          </p:nvSpPr>
          <p:spPr>
            <a:xfrm>
              <a:off x="0" y="-38100"/>
              <a:ext cx="7132320" cy="586740"/>
            </a:xfrm>
            <a:prstGeom prst="rect">
              <a:avLst/>
            </a:prstGeom>
          </p:spPr>
          <p:txBody>
            <a:bodyPr anchor="ctr" rtlCol="false" tIns="0" lIns="0" bIns="0" rIns="0"/>
            <a:lstStyle/>
            <a:p>
              <a:pPr algn="l">
                <a:lnSpc>
                  <a:spcPts val="2160"/>
                </a:lnSpc>
              </a:pPr>
              <a:r>
                <a:rPr lang="en-US" b="true" sz="1800" spc="149">
                  <a:solidFill>
                    <a:srgbClr val="6B6B70"/>
                  </a:solidFill>
                  <a:latin typeface="Calibri (MS) Bold"/>
                  <a:ea typeface="Calibri (MS) Bold"/>
                  <a:cs typeface="Calibri (MS) Bold"/>
                  <a:sym typeface="Calibri (MS) Bold"/>
                </a:rPr>
                <a:t>Demo run</a:t>
              </a:r>
            </a:p>
          </p:txBody>
        </p:sp>
      </p:grpSp>
      <p:grpSp>
        <p:nvGrpSpPr>
          <p:cNvPr name="Group 53" id="53"/>
          <p:cNvGrpSpPr/>
          <p:nvPr/>
        </p:nvGrpSpPr>
        <p:grpSpPr>
          <a:xfrm rot="0">
            <a:off x="11452860" y="3223260"/>
            <a:ext cx="2743200" cy="480060"/>
            <a:chOff x="0" y="0"/>
            <a:chExt cx="3657600" cy="640080"/>
          </a:xfrm>
        </p:grpSpPr>
        <p:sp>
          <p:nvSpPr>
            <p:cNvPr name="Freeform 54" id="54"/>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55" id="55"/>
            <p:cNvSpPr txBox="true"/>
            <p:nvPr/>
          </p:nvSpPr>
          <p:spPr>
            <a:xfrm>
              <a:off x="0" y="-47625"/>
              <a:ext cx="3657600" cy="687705"/>
            </a:xfrm>
            <a:prstGeom prst="rect">
              <a:avLst/>
            </a:prstGeom>
          </p:spPr>
          <p:txBody>
            <a:bodyPr anchor="ctr" rtlCol="false" tIns="0" lIns="0" bIns="0" rIns="0"/>
            <a:lstStyle/>
            <a:p>
              <a:pPr algn="l">
                <a:lnSpc>
                  <a:spcPts val="2340"/>
                </a:lnSpc>
              </a:pPr>
              <a:r>
                <a:rPr lang="en-US" sz="1950">
                  <a:solidFill>
                    <a:srgbClr val="6B6B70"/>
                  </a:solidFill>
                  <a:latin typeface="Calibri (MS)"/>
                  <a:ea typeface="Calibri (MS)"/>
                  <a:cs typeface="Calibri (MS)"/>
                  <a:sym typeface="Calibri (MS)"/>
                </a:rPr>
                <a:t>Passengers</a:t>
              </a:r>
            </a:p>
          </p:txBody>
        </p:sp>
      </p:grpSp>
      <p:grpSp>
        <p:nvGrpSpPr>
          <p:cNvPr name="Group 56" id="56"/>
          <p:cNvGrpSpPr/>
          <p:nvPr/>
        </p:nvGrpSpPr>
        <p:grpSpPr>
          <a:xfrm rot="0">
            <a:off x="14196060" y="3223260"/>
            <a:ext cx="2743200" cy="480060"/>
            <a:chOff x="0" y="0"/>
            <a:chExt cx="3657600" cy="640080"/>
          </a:xfrm>
        </p:grpSpPr>
        <p:sp>
          <p:nvSpPr>
            <p:cNvPr name="Freeform 57" id="57"/>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58" id="58"/>
            <p:cNvSpPr txBox="true"/>
            <p:nvPr/>
          </p:nvSpPr>
          <p:spPr>
            <a:xfrm>
              <a:off x="0" y="-47625"/>
              <a:ext cx="3657600" cy="687705"/>
            </a:xfrm>
            <a:prstGeom prst="rect">
              <a:avLst/>
            </a:prstGeom>
          </p:spPr>
          <p:txBody>
            <a:bodyPr anchor="ctr" rtlCol="false" tIns="0" lIns="0" bIns="0" rIns="0"/>
            <a:lstStyle/>
            <a:p>
              <a:pPr algn="l">
                <a:lnSpc>
                  <a:spcPts val="2340"/>
                </a:lnSpc>
              </a:pPr>
              <a:r>
                <a:rPr lang="en-US" sz="1950" b="true">
                  <a:solidFill>
                    <a:srgbClr val="1C1C1E"/>
                  </a:solidFill>
                  <a:latin typeface="Calibri (MS) Bold"/>
                  <a:ea typeface="Calibri (MS) Bold"/>
                  <a:cs typeface="Calibri (MS) Bold"/>
                  <a:sym typeface="Calibri (MS) Bold"/>
                </a:rPr>
                <a:t>195 in 125 parties</a:t>
              </a:r>
            </a:p>
          </p:txBody>
        </p:sp>
      </p:grpSp>
      <p:grpSp>
        <p:nvGrpSpPr>
          <p:cNvPr name="Group 59" id="59"/>
          <p:cNvGrpSpPr/>
          <p:nvPr/>
        </p:nvGrpSpPr>
        <p:grpSpPr>
          <a:xfrm rot="0">
            <a:off x="11452860" y="3881628"/>
            <a:ext cx="2743200" cy="480060"/>
            <a:chOff x="0" y="0"/>
            <a:chExt cx="3657600" cy="640080"/>
          </a:xfrm>
        </p:grpSpPr>
        <p:sp>
          <p:nvSpPr>
            <p:cNvPr name="Freeform 60" id="60"/>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61" id="61"/>
            <p:cNvSpPr txBox="true"/>
            <p:nvPr/>
          </p:nvSpPr>
          <p:spPr>
            <a:xfrm>
              <a:off x="0" y="-47625"/>
              <a:ext cx="3657600" cy="687705"/>
            </a:xfrm>
            <a:prstGeom prst="rect">
              <a:avLst/>
            </a:prstGeom>
          </p:spPr>
          <p:txBody>
            <a:bodyPr anchor="ctr" rtlCol="false" tIns="0" lIns="0" bIns="0" rIns="0"/>
            <a:lstStyle/>
            <a:p>
              <a:pPr algn="l">
                <a:lnSpc>
                  <a:spcPts val="2340"/>
                </a:lnSpc>
              </a:pPr>
              <a:r>
                <a:rPr lang="en-US" sz="1950">
                  <a:solidFill>
                    <a:srgbClr val="6B6B70"/>
                  </a:solidFill>
                  <a:latin typeface="Calibri (MS)"/>
                  <a:ea typeface="Calibri (MS)"/>
                  <a:cs typeface="Calibri (MS)"/>
                  <a:sym typeface="Calibri (MS)"/>
                </a:rPr>
                <a:t>Crew</a:t>
              </a:r>
            </a:p>
          </p:txBody>
        </p:sp>
      </p:grpSp>
      <p:grpSp>
        <p:nvGrpSpPr>
          <p:cNvPr name="Group 62" id="62"/>
          <p:cNvGrpSpPr/>
          <p:nvPr/>
        </p:nvGrpSpPr>
        <p:grpSpPr>
          <a:xfrm rot="0">
            <a:off x="14196060" y="3881628"/>
            <a:ext cx="2743200" cy="480060"/>
            <a:chOff x="0" y="0"/>
            <a:chExt cx="3657600" cy="640080"/>
          </a:xfrm>
        </p:grpSpPr>
        <p:sp>
          <p:nvSpPr>
            <p:cNvPr name="Freeform 63" id="63"/>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64" id="64"/>
            <p:cNvSpPr txBox="true"/>
            <p:nvPr/>
          </p:nvSpPr>
          <p:spPr>
            <a:xfrm>
              <a:off x="0" y="-47625"/>
              <a:ext cx="3657600" cy="687705"/>
            </a:xfrm>
            <a:prstGeom prst="rect">
              <a:avLst/>
            </a:prstGeom>
          </p:spPr>
          <p:txBody>
            <a:bodyPr anchor="ctr" rtlCol="false" tIns="0" lIns="0" bIns="0" rIns="0"/>
            <a:lstStyle/>
            <a:p>
              <a:pPr algn="l">
                <a:lnSpc>
                  <a:spcPts val="2340"/>
                </a:lnSpc>
              </a:pPr>
              <a:r>
                <a:rPr lang="en-US" sz="1950" b="true">
                  <a:solidFill>
                    <a:srgbClr val="1C1C1E"/>
                  </a:solidFill>
                  <a:latin typeface="Calibri (MS) Bold"/>
                  <a:ea typeface="Calibri (MS) Bold"/>
                  <a:cs typeface="Calibri (MS) Bold"/>
                  <a:sym typeface="Calibri (MS) Bold"/>
                </a:rPr>
                <a:t>6</a:t>
              </a:r>
            </a:p>
          </p:txBody>
        </p:sp>
      </p:grpSp>
      <p:grpSp>
        <p:nvGrpSpPr>
          <p:cNvPr name="Group 65" id="65"/>
          <p:cNvGrpSpPr/>
          <p:nvPr/>
        </p:nvGrpSpPr>
        <p:grpSpPr>
          <a:xfrm rot="0">
            <a:off x="11452860" y="4539996"/>
            <a:ext cx="2743200" cy="480060"/>
            <a:chOff x="0" y="0"/>
            <a:chExt cx="3657600" cy="640080"/>
          </a:xfrm>
        </p:grpSpPr>
        <p:sp>
          <p:nvSpPr>
            <p:cNvPr name="Freeform 66" id="66"/>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67" id="67"/>
            <p:cNvSpPr txBox="true"/>
            <p:nvPr/>
          </p:nvSpPr>
          <p:spPr>
            <a:xfrm>
              <a:off x="0" y="-47625"/>
              <a:ext cx="3657600" cy="687705"/>
            </a:xfrm>
            <a:prstGeom prst="rect">
              <a:avLst/>
            </a:prstGeom>
          </p:spPr>
          <p:txBody>
            <a:bodyPr anchor="ctr" rtlCol="false" tIns="0" lIns="0" bIns="0" rIns="0"/>
            <a:lstStyle/>
            <a:p>
              <a:pPr algn="l">
                <a:lnSpc>
                  <a:spcPts val="2340"/>
                </a:lnSpc>
              </a:pPr>
              <a:r>
                <a:rPr lang="en-US" sz="1950">
                  <a:solidFill>
                    <a:srgbClr val="6B6B70"/>
                  </a:solidFill>
                  <a:latin typeface="Calibri (MS)"/>
                  <a:ea typeface="Calibri (MS)"/>
                  <a:cs typeface="Calibri (MS)"/>
                  <a:sym typeface="Calibri (MS)"/>
                </a:rPr>
                <a:t>Rooms required</a:t>
              </a:r>
            </a:p>
          </p:txBody>
        </p:sp>
      </p:grpSp>
      <p:grpSp>
        <p:nvGrpSpPr>
          <p:cNvPr name="Group 68" id="68"/>
          <p:cNvGrpSpPr/>
          <p:nvPr/>
        </p:nvGrpSpPr>
        <p:grpSpPr>
          <a:xfrm rot="0">
            <a:off x="14196060" y="4539996"/>
            <a:ext cx="2743200" cy="480060"/>
            <a:chOff x="0" y="0"/>
            <a:chExt cx="3657600" cy="640080"/>
          </a:xfrm>
        </p:grpSpPr>
        <p:sp>
          <p:nvSpPr>
            <p:cNvPr name="Freeform 69" id="69"/>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70" id="70"/>
            <p:cNvSpPr txBox="true"/>
            <p:nvPr/>
          </p:nvSpPr>
          <p:spPr>
            <a:xfrm>
              <a:off x="0" y="-47625"/>
              <a:ext cx="3657600" cy="687705"/>
            </a:xfrm>
            <a:prstGeom prst="rect">
              <a:avLst/>
            </a:prstGeom>
          </p:spPr>
          <p:txBody>
            <a:bodyPr anchor="ctr" rtlCol="false" tIns="0" lIns="0" bIns="0" rIns="0"/>
            <a:lstStyle/>
            <a:p>
              <a:pPr algn="l">
                <a:lnSpc>
                  <a:spcPts val="2340"/>
                </a:lnSpc>
              </a:pPr>
              <a:r>
                <a:rPr lang="en-US" sz="1950" b="true">
                  <a:solidFill>
                    <a:srgbClr val="1C1C1E"/>
                  </a:solidFill>
                  <a:latin typeface="Calibri (MS) Bold"/>
                  <a:ea typeface="Calibri (MS) Bold"/>
                  <a:cs typeface="Calibri (MS) Bold"/>
                  <a:sym typeface="Calibri (MS) Bold"/>
                </a:rPr>
                <a:t>89, of which 4 accessible</a:t>
              </a:r>
            </a:p>
          </p:txBody>
        </p:sp>
      </p:grpSp>
      <p:grpSp>
        <p:nvGrpSpPr>
          <p:cNvPr name="Group 71" id="71"/>
          <p:cNvGrpSpPr/>
          <p:nvPr/>
        </p:nvGrpSpPr>
        <p:grpSpPr>
          <a:xfrm rot="0">
            <a:off x="11452860" y="5198364"/>
            <a:ext cx="2743200" cy="480060"/>
            <a:chOff x="0" y="0"/>
            <a:chExt cx="3657600" cy="640080"/>
          </a:xfrm>
        </p:grpSpPr>
        <p:sp>
          <p:nvSpPr>
            <p:cNvPr name="Freeform 72" id="72"/>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73" id="73"/>
            <p:cNvSpPr txBox="true"/>
            <p:nvPr/>
          </p:nvSpPr>
          <p:spPr>
            <a:xfrm>
              <a:off x="0" y="-47625"/>
              <a:ext cx="3657600" cy="687705"/>
            </a:xfrm>
            <a:prstGeom prst="rect">
              <a:avLst/>
            </a:prstGeom>
          </p:spPr>
          <p:txBody>
            <a:bodyPr anchor="ctr" rtlCol="false" tIns="0" lIns="0" bIns="0" rIns="0"/>
            <a:lstStyle/>
            <a:p>
              <a:pPr algn="l">
                <a:lnSpc>
                  <a:spcPts val="2340"/>
                </a:lnSpc>
              </a:pPr>
              <a:r>
                <a:rPr lang="en-US" sz="1950">
                  <a:solidFill>
                    <a:srgbClr val="6B6B70"/>
                  </a:solidFill>
                  <a:latin typeface="Calibri (MS)"/>
                  <a:ea typeface="Calibri (MS)"/>
                  <a:cs typeface="Calibri (MS)"/>
                  <a:sym typeface="Calibri (MS)"/>
                </a:rPr>
                <a:t>Care ceiling</a:t>
              </a:r>
            </a:p>
          </p:txBody>
        </p:sp>
      </p:grpSp>
      <p:grpSp>
        <p:nvGrpSpPr>
          <p:cNvPr name="Group 74" id="74"/>
          <p:cNvGrpSpPr/>
          <p:nvPr/>
        </p:nvGrpSpPr>
        <p:grpSpPr>
          <a:xfrm rot="0">
            <a:off x="14196060" y="5198364"/>
            <a:ext cx="2743200" cy="480060"/>
            <a:chOff x="0" y="0"/>
            <a:chExt cx="3657600" cy="640080"/>
          </a:xfrm>
        </p:grpSpPr>
        <p:sp>
          <p:nvSpPr>
            <p:cNvPr name="Freeform 75" id="75"/>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76" id="76"/>
            <p:cNvSpPr txBox="true"/>
            <p:nvPr/>
          </p:nvSpPr>
          <p:spPr>
            <a:xfrm>
              <a:off x="0" y="-47625"/>
              <a:ext cx="3657600" cy="687705"/>
            </a:xfrm>
            <a:prstGeom prst="rect">
              <a:avLst/>
            </a:prstGeom>
          </p:spPr>
          <p:txBody>
            <a:bodyPr anchor="ctr" rtlCol="false" tIns="0" lIns="0" bIns="0" rIns="0"/>
            <a:lstStyle/>
            <a:p>
              <a:pPr algn="l">
                <a:lnSpc>
                  <a:spcPts val="2340"/>
                </a:lnSpc>
              </a:pPr>
              <a:r>
                <a:rPr lang="en-US" sz="1950" b="true">
                  <a:solidFill>
                    <a:srgbClr val="1C1C1E"/>
                  </a:solidFill>
                  <a:latin typeface="Calibri (MS) Bold"/>
                  <a:ea typeface="Calibri (MS) Bold"/>
                  <a:cs typeface="Calibri (MS) Bold"/>
                  <a:sym typeface="Calibri (MS) Bold"/>
                </a:rPr>
                <a:t>23,498 EUR</a:t>
              </a:r>
            </a:p>
          </p:txBody>
        </p:sp>
      </p:grpSp>
      <p:grpSp>
        <p:nvGrpSpPr>
          <p:cNvPr name="Group 77" id="77"/>
          <p:cNvGrpSpPr/>
          <p:nvPr/>
        </p:nvGrpSpPr>
        <p:grpSpPr>
          <a:xfrm rot="0">
            <a:off x="11452860" y="5856732"/>
            <a:ext cx="2743200" cy="480060"/>
            <a:chOff x="0" y="0"/>
            <a:chExt cx="3657600" cy="640080"/>
          </a:xfrm>
        </p:grpSpPr>
        <p:sp>
          <p:nvSpPr>
            <p:cNvPr name="Freeform 78" id="78"/>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79" id="79"/>
            <p:cNvSpPr txBox="true"/>
            <p:nvPr/>
          </p:nvSpPr>
          <p:spPr>
            <a:xfrm>
              <a:off x="0" y="-47625"/>
              <a:ext cx="3657600" cy="687705"/>
            </a:xfrm>
            <a:prstGeom prst="rect">
              <a:avLst/>
            </a:prstGeom>
          </p:spPr>
          <p:txBody>
            <a:bodyPr anchor="ctr" rtlCol="false" tIns="0" lIns="0" bIns="0" rIns="0"/>
            <a:lstStyle/>
            <a:p>
              <a:pPr algn="l">
                <a:lnSpc>
                  <a:spcPts val="2340"/>
                </a:lnSpc>
              </a:pPr>
              <a:r>
                <a:rPr lang="en-US" sz="1950">
                  <a:solidFill>
                    <a:srgbClr val="6B6B70"/>
                  </a:solidFill>
                  <a:latin typeface="Calibri (MS)"/>
                  <a:ea typeface="Calibri (MS)"/>
                  <a:cs typeface="Calibri (MS)"/>
                  <a:sym typeface="Calibri (MS)"/>
                </a:rPr>
                <a:t>Station limit</a:t>
              </a:r>
            </a:p>
          </p:txBody>
        </p:sp>
      </p:grpSp>
      <p:grpSp>
        <p:nvGrpSpPr>
          <p:cNvPr name="Group 80" id="80"/>
          <p:cNvGrpSpPr/>
          <p:nvPr/>
        </p:nvGrpSpPr>
        <p:grpSpPr>
          <a:xfrm rot="0">
            <a:off x="14196060" y="5856732"/>
            <a:ext cx="2743200" cy="480060"/>
            <a:chOff x="0" y="0"/>
            <a:chExt cx="3657600" cy="640080"/>
          </a:xfrm>
        </p:grpSpPr>
        <p:sp>
          <p:nvSpPr>
            <p:cNvPr name="Freeform 81" id="81"/>
            <p:cNvSpPr/>
            <p:nvPr/>
          </p:nvSpPr>
          <p:spPr>
            <a:xfrm flipH="false" flipV="false" rot="0">
              <a:off x="0" y="0"/>
              <a:ext cx="3657600" cy="640080"/>
            </a:xfrm>
            <a:custGeom>
              <a:avLst/>
              <a:gdLst/>
              <a:ahLst/>
              <a:cxnLst/>
              <a:rect r="r" b="b" t="t" l="l"/>
              <a:pathLst>
                <a:path h="640080" w="3657600">
                  <a:moveTo>
                    <a:pt x="0" y="0"/>
                  </a:moveTo>
                  <a:lnTo>
                    <a:pt x="3657600" y="0"/>
                  </a:lnTo>
                  <a:lnTo>
                    <a:pt x="3657600" y="640080"/>
                  </a:lnTo>
                  <a:lnTo>
                    <a:pt x="0" y="640080"/>
                  </a:lnTo>
                  <a:close/>
                </a:path>
              </a:pathLst>
            </a:custGeom>
            <a:blipFill>
              <a:blip r:embed="rId3">
                <a:alphaModFix amt="0"/>
              </a:blip>
              <a:stretch>
                <a:fillRect l="0" t="-61343" r="0" b="-61343"/>
              </a:stretch>
            </a:blipFill>
          </p:spPr>
        </p:sp>
        <p:sp>
          <p:nvSpPr>
            <p:cNvPr name="TextBox 82" id="82"/>
            <p:cNvSpPr txBox="true"/>
            <p:nvPr/>
          </p:nvSpPr>
          <p:spPr>
            <a:xfrm>
              <a:off x="0" y="-47625"/>
              <a:ext cx="3657600" cy="687705"/>
            </a:xfrm>
            <a:prstGeom prst="rect">
              <a:avLst/>
            </a:prstGeom>
          </p:spPr>
          <p:txBody>
            <a:bodyPr anchor="ctr" rtlCol="false" tIns="0" lIns="0" bIns="0" rIns="0"/>
            <a:lstStyle/>
            <a:p>
              <a:pPr algn="l">
                <a:lnSpc>
                  <a:spcPts val="2340"/>
                </a:lnSpc>
              </a:pPr>
              <a:r>
                <a:rPr lang="en-US" sz="1950" b="true">
                  <a:solidFill>
                    <a:srgbClr val="1C1C1E"/>
                  </a:solidFill>
                  <a:latin typeface="Calibri (MS) Bold"/>
                  <a:ea typeface="Calibri (MS) Bold"/>
                  <a:cs typeface="Calibri (MS) Bold"/>
                  <a:sym typeface="Calibri (MS) Bold"/>
                </a:rPr>
                <a:t>25,000 EUR</a:t>
              </a:r>
            </a:p>
          </p:txBody>
        </p:sp>
      </p:grpSp>
      <p:grpSp>
        <p:nvGrpSpPr>
          <p:cNvPr name="Group 83" id="83"/>
          <p:cNvGrpSpPr/>
          <p:nvPr/>
        </p:nvGrpSpPr>
        <p:grpSpPr>
          <a:xfrm rot="0">
            <a:off x="11452860" y="6652260"/>
            <a:ext cx="5349240" cy="822960"/>
            <a:chOff x="0" y="0"/>
            <a:chExt cx="7132320" cy="1097280"/>
          </a:xfrm>
        </p:grpSpPr>
        <p:sp>
          <p:nvSpPr>
            <p:cNvPr name="Freeform 84" id="84"/>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3">
                <a:alphaModFix amt="0"/>
              </a:blip>
              <a:stretch>
                <a:fillRect l="0" t="-76652" r="0" b="-76652"/>
              </a:stretch>
            </a:blipFill>
          </p:spPr>
        </p:sp>
        <p:sp>
          <p:nvSpPr>
            <p:cNvPr name="TextBox 85" id="85"/>
            <p:cNvSpPr txBox="true"/>
            <p:nvPr/>
          </p:nvSpPr>
          <p:spPr>
            <a:xfrm>
              <a:off x="0" y="-66675"/>
              <a:ext cx="7132320" cy="1163955"/>
            </a:xfrm>
            <a:prstGeom prst="rect">
              <a:avLst/>
            </a:prstGeom>
          </p:spPr>
          <p:txBody>
            <a:bodyPr anchor="ctr" rtlCol="false" tIns="0" lIns="0" bIns="0" rIns="0"/>
            <a:lstStyle/>
            <a:p>
              <a:pPr algn="l">
                <a:lnSpc>
                  <a:spcPts val="2550"/>
                </a:lnSpc>
              </a:pPr>
              <a:r>
                <a:rPr lang="en-US" sz="1875" b="true">
                  <a:solidFill>
                    <a:srgbClr val="0F7B4F"/>
                  </a:solidFill>
                  <a:latin typeface="Calibri (MS) Bold"/>
                  <a:ea typeface="Calibri (MS) Bold"/>
                  <a:cs typeface="Calibri (MS) Bold"/>
                  <a:sym typeface="Calibri (MS) Bold"/>
                </a:rPr>
                <a:t>Inside the station mandate. The station may commit without carrier authorisation.</a:t>
              </a:r>
            </a:p>
          </p:txBody>
        </p:sp>
      </p:grpSp>
      <p:grpSp>
        <p:nvGrpSpPr>
          <p:cNvPr name="Group 86" id="86"/>
          <p:cNvGrpSpPr/>
          <p:nvPr/>
        </p:nvGrpSpPr>
        <p:grpSpPr>
          <a:xfrm rot="0">
            <a:off x="960120" y="7338060"/>
            <a:ext cx="9464040" cy="1097280"/>
            <a:chOff x="0" y="0"/>
            <a:chExt cx="12618720" cy="1463040"/>
          </a:xfrm>
        </p:grpSpPr>
        <p:sp>
          <p:nvSpPr>
            <p:cNvPr name="Freeform 87" id="87"/>
            <p:cNvSpPr/>
            <p:nvPr/>
          </p:nvSpPr>
          <p:spPr>
            <a:xfrm flipH="false" flipV="false" rot="0">
              <a:off x="0" y="0"/>
              <a:ext cx="12618720" cy="1463040"/>
            </a:xfrm>
            <a:custGeom>
              <a:avLst/>
              <a:gdLst/>
              <a:ahLst/>
              <a:cxnLst/>
              <a:rect r="r" b="b" t="t" l="l"/>
              <a:pathLst>
                <a:path h="1463040" w="12618720">
                  <a:moveTo>
                    <a:pt x="0" y="0"/>
                  </a:moveTo>
                  <a:lnTo>
                    <a:pt x="12618720" y="0"/>
                  </a:lnTo>
                  <a:lnTo>
                    <a:pt x="12618720" y="1463040"/>
                  </a:lnTo>
                  <a:lnTo>
                    <a:pt x="0" y="1463040"/>
                  </a:lnTo>
                  <a:close/>
                </a:path>
              </a:pathLst>
            </a:custGeom>
            <a:blipFill>
              <a:blip r:embed="rId3">
                <a:alphaModFix amt="0"/>
              </a:blip>
              <a:stretch>
                <a:fillRect l="0" t="-118058" r="0" b="-118058"/>
              </a:stretch>
            </a:blipFill>
          </p:spPr>
        </p:sp>
        <p:sp>
          <p:nvSpPr>
            <p:cNvPr name="TextBox 88" id="88"/>
            <p:cNvSpPr txBox="true"/>
            <p:nvPr/>
          </p:nvSpPr>
          <p:spPr>
            <a:xfrm>
              <a:off x="0" y="-85725"/>
              <a:ext cx="12618720" cy="1548765"/>
            </a:xfrm>
            <a:prstGeom prst="rect">
              <a:avLst/>
            </a:prstGeom>
          </p:spPr>
          <p:txBody>
            <a:bodyPr anchor="ctr" rtlCol="false" tIns="0" lIns="0" bIns="0" rIns="0"/>
            <a:lstStyle/>
            <a:p>
              <a:pPr algn="l">
                <a:lnSpc>
                  <a:spcPts val="2700"/>
                </a:lnSpc>
              </a:pPr>
              <a:r>
                <a:rPr lang="en-US" sz="1950" i="true">
                  <a:solidFill>
                    <a:srgbClr val="6B6B70"/>
                  </a:solidFill>
                  <a:latin typeface="Calibri (MS) Italics"/>
                  <a:ea typeface="Calibri (MS) Italics"/>
                  <a:cs typeface="Calibri (MS) Italics"/>
                  <a:sym typeface="Calibri (MS) Italics"/>
                </a:rPr>
                <a:t>The model never sees a passenger. It receives counts and money only, and a privacy guard throws an error if any identifier reaches the payload.</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0" y="0"/>
            <a:ext cx="18483254" cy="1039683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WORKFLOW 2</a:t>
              </a:r>
            </a:p>
          </p:txBody>
        </p:sp>
      </p:grpSp>
      <p:grpSp>
        <p:nvGrpSpPr>
          <p:cNvPr name="Group 5" id="5"/>
          <p:cNvGrpSpPr/>
          <p:nvPr/>
        </p:nvGrpSpPr>
        <p:grpSpPr>
          <a:xfrm rot="0">
            <a:off x="960120"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Accommodation sourcing</a:t>
              </a:r>
            </a:p>
          </p:txBody>
        </p:sp>
      </p:grpSp>
      <p:grpSp>
        <p:nvGrpSpPr>
          <p:cNvPr name="Group 8" id="8"/>
          <p:cNvGrpSpPr/>
          <p:nvPr/>
        </p:nvGrpSpPr>
        <p:grpSpPr>
          <a:xfrm rot="0">
            <a:off x="960120" y="2331720"/>
            <a:ext cx="16322040" cy="754380"/>
            <a:chOff x="0" y="0"/>
            <a:chExt cx="21762720" cy="1005840"/>
          </a:xfrm>
        </p:grpSpPr>
        <p:sp>
          <p:nvSpPr>
            <p:cNvPr name="Freeform 9" id="9"/>
            <p:cNvSpPr/>
            <p:nvPr/>
          </p:nvSpPr>
          <p:spPr>
            <a:xfrm flipH="false" flipV="false" rot="0">
              <a:off x="0" y="0"/>
              <a:ext cx="21762720" cy="1005840"/>
            </a:xfrm>
            <a:custGeom>
              <a:avLst/>
              <a:gdLst/>
              <a:ahLst/>
              <a:cxnLst/>
              <a:rect r="r" b="b" t="t" l="l"/>
              <a:pathLst>
                <a:path h="1005840" w="21762720">
                  <a:moveTo>
                    <a:pt x="0" y="0"/>
                  </a:moveTo>
                  <a:lnTo>
                    <a:pt x="21762720" y="0"/>
                  </a:lnTo>
                  <a:lnTo>
                    <a:pt x="21762720" y="1005840"/>
                  </a:lnTo>
                  <a:lnTo>
                    <a:pt x="0" y="1005840"/>
                  </a:lnTo>
                  <a:close/>
                </a:path>
              </a:pathLst>
            </a:custGeom>
            <a:blipFill>
              <a:blip r:embed="rId3">
                <a:alphaModFix amt="0"/>
              </a:blip>
              <a:stretch>
                <a:fillRect l="0" t="-371585" r="0" b="-371585"/>
              </a:stretch>
            </a:blipFill>
          </p:spPr>
        </p:sp>
        <p:sp>
          <p:nvSpPr>
            <p:cNvPr name="TextBox 10" id="10"/>
            <p:cNvSpPr txBox="true"/>
            <p:nvPr/>
          </p:nvSpPr>
          <p:spPr>
            <a:xfrm>
              <a:off x="0" y="-76200"/>
              <a:ext cx="21762720" cy="1082040"/>
            </a:xfrm>
            <a:prstGeom prst="rect">
              <a:avLst/>
            </a:prstGeom>
          </p:spPr>
          <p:txBody>
            <a:bodyPr anchor="ctr" rtlCol="false" tIns="0" lIns="0" bIns="0" rIns="0"/>
            <a:lstStyle/>
            <a:p>
              <a:pPr algn="l">
                <a:lnSpc>
                  <a:spcPts val="2999"/>
                </a:lnSpc>
              </a:pPr>
              <a:r>
                <a:rPr lang="en-US" sz="2250">
                  <a:solidFill>
                    <a:srgbClr val="1C1C1E"/>
                  </a:solidFill>
                  <a:latin typeface="Calibri (MS)"/>
                  <a:ea typeface="Calibri (MS)"/>
                  <a:cs typeface="Calibri (MS)"/>
                  <a:sym typeface="Calibri (MS)"/>
                </a:rPr>
                <a:t>Hotels are ranked on the constraint that actually decides the night: how much sleep is left before the morning departure, not the room rate.</a:t>
              </a:r>
            </a:p>
          </p:txBody>
        </p:sp>
      </p:grpSp>
      <p:graphicFrame>
        <p:nvGraphicFramePr>
          <p:cNvPr name="Table 11" id="11"/>
          <p:cNvGraphicFramePr>
            <a:graphicFrameLocks noGrp="true"/>
          </p:cNvGraphicFramePr>
          <p:nvPr/>
        </p:nvGraphicFramePr>
        <p:xfrm>
          <a:off x="960120" y="3360420"/>
          <a:ext cx="16306800" cy="2857500"/>
        </p:xfrm>
        <a:graphic>
          <a:graphicData uri="http://schemas.openxmlformats.org/drawingml/2006/table">
            <a:tbl>
              <a:tblPr/>
              <a:tblGrid>
                <a:gridCol w="5306991"/>
                <a:gridCol w="2334476"/>
                <a:gridCol w="3010047"/>
                <a:gridCol w="2334476"/>
                <a:gridCol w="3320810"/>
              </a:tblGrid>
              <a:tr h="5715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Hotel</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1B2A4A"/>
                    </a:solidFill>
                  </a:tcPr>
                </a:tc>
                <a:tc>
                  <a:txBody>
                    <a:bodyPr anchor="t" rtlCol="false"/>
                    <a:lstStyle/>
                    <a:p>
                      <a:pPr algn="r">
                        <a:lnSpc>
                          <a:spcPts val="2340"/>
                        </a:lnSpc>
                        <a:defRPr/>
                      </a:pPr>
                      <a:r>
                        <a:rPr lang="en-US" sz="1950" b="true">
                          <a:solidFill>
                            <a:srgbClr val="FFFFFF"/>
                          </a:solidFill>
                          <a:latin typeface="Calibri (MS) Bold"/>
                          <a:ea typeface="Calibri (MS) Bold"/>
                          <a:cs typeface="Calibri (MS) Bold"/>
                          <a:sym typeface="Calibri (MS) Bold"/>
                        </a:rPr>
                        <a:t>Distance</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1B2A4A"/>
                    </a:solidFill>
                  </a:tcPr>
                </a:tc>
                <a:tc>
                  <a:txBody>
                    <a:bodyPr anchor="t" rtlCol="false"/>
                    <a:lstStyle/>
                    <a:p>
                      <a:pPr algn="r">
                        <a:lnSpc>
                          <a:spcPts val="2340"/>
                        </a:lnSpc>
                        <a:defRPr/>
                      </a:pPr>
                      <a:r>
                        <a:rPr lang="en-US" sz="1950" b="true">
                          <a:solidFill>
                            <a:srgbClr val="FFFFFF"/>
                          </a:solidFill>
                          <a:latin typeface="Calibri (MS) Bold"/>
                          <a:ea typeface="Calibri (MS) Bold"/>
                          <a:cs typeface="Calibri (MS) Bold"/>
                          <a:sym typeface="Calibri (MS) Bold"/>
                        </a:rPr>
                        <a:t>Rest before 07:00</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1B2A4A"/>
                    </a:solidFill>
                  </a:tcPr>
                </a:tc>
                <a:tc>
                  <a:txBody>
                    <a:bodyPr anchor="t" rtlCol="false"/>
                    <a:lstStyle/>
                    <a:p>
                      <a:pPr algn="r">
                        <a:lnSpc>
                          <a:spcPts val="2340"/>
                        </a:lnSpc>
                        <a:defRPr/>
                      </a:pPr>
                      <a:r>
                        <a:rPr lang="en-US" sz="1950" b="true">
                          <a:solidFill>
                            <a:srgbClr val="FFFFFF"/>
                          </a:solidFill>
                          <a:latin typeface="Calibri (MS) Bold"/>
                          <a:ea typeface="Calibri (MS) Bold"/>
                          <a:cs typeface="Calibri (MS) Bold"/>
                          <a:sym typeface="Calibri (MS) Bold"/>
                        </a:rPr>
                        <a:t>Rooms held</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1B2A4A"/>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Verdict</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1B2A4A"/>
                    </a:solidFill>
                  </a:tcPr>
                </a:tc>
              </a:tr>
              <a:tr h="571500">
                <a:tc>
                  <a:txBody>
                    <a:bodyPr anchor="t" rtlCol="false"/>
                    <a:lstStyle/>
                    <a:p>
                      <a:pPr algn="l">
                        <a:lnSpc>
                          <a:spcPts val="2340"/>
                        </a:lnSpc>
                        <a:defRPr/>
                      </a:pPr>
                      <a:r>
                        <a:rPr lang="en-US" sz="1950">
                          <a:solidFill>
                            <a:srgbClr val="000000"/>
                          </a:solidFill>
                          <a:latin typeface="Calibri (MS)"/>
                          <a:ea typeface="Calibri (MS)"/>
                          <a:cs typeface="Calibri (MS)"/>
                          <a:sym typeface="Calibri (MS)"/>
                        </a:rPr>
                        <a:t>Airport Inn (partner)</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0.5 </a:t>
                      </a:r>
                      <a:r>
                        <a:rPr lang="en-US" sz="1950">
                          <a:solidFill>
                            <a:srgbClr val="000000"/>
                          </a:solidFill>
                          <a:latin typeface="Calibri (MS)"/>
                          <a:ea typeface="Calibri (MS)"/>
                          <a:cs typeface="Calibri (MS)"/>
                          <a:sym typeface="Calibri (MS)"/>
                        </a:rPr>
                        <a:t>km</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6h16</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160</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l">
                        <a:lnSpc>
                          <a:spcPts val="2340"/>
                        </a:lnSpc>
                        <a:defRPr/>
                      </a:pPr>
                      <a:r>
                        <a:rPr lang="en-US" sz="1950" b="true">
                          <a:solidFill>
                            <a:srgbClr val="0F7B4F"/>
                          </a:solidFill>
                          <a:latin typeface="Calibri (MS) Bold"/>
                          <a:ea typeface="Calibri (MS) Bold"/>
                          <a:cs typeface="Calibri (MS) Bold"/>
                          <a:sym typeface="Calibri (MS) Bold"/>
                        </a:rPr>
                        <a:t>call first</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r>
              <a:tr h="571500">
                <a:tc>
                  <a:txBody>
                    <a:bodyPr anchor="t" rtlCol="false"/>
                    <a:lstStyle/>
                    <a:p>
                      <a:pPr algn="l">
                        <a:lnSpc>
                          <a:spcPts val="2340"/>
                        </a:lnSpc>
                        <a:defRPr/>
                      </a:pPr>
                      <a:r>
                        <a:rPr lang="en-US" sz="1950">
                          <a:solidFill>
                            <a:srgbClr val="000000"/>
                          </a:solidFill>
                          <a:latin typeface="Calibri (MS)"/>
                          <a:ea typeface="Calibri (MS)"/>
                          <a:cs typeface="Calibri (MS)"/>
                          <a:sym typeface="Calibri (MS)"/>
                        </a:rPr>
                        <a:t>Skyport Hotel (partner)</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7</a:t>
                      </a:r>
                      <a:r>
                        <a:rPr lang="en-US" sz="1950">
                          <a:solidFill>
                            <a:srgbClr val="000000"/>
                          </a:solidFill>
                          <a:latin typeface="Calibri (MS)"/>
                          <a:ea typeface="Calibri (MS)"/>
                          <a:cs typeface="Calibri (MS)"/>
                          <a:sym typeface="Calibri (MS)"/>
                        </a:rPr>
                        <a:t> km</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6h05</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120</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l">
                        <a:lnSpc>
                          <a:spcPts val="2340"/>
                        </a:lnSpc>
                        <a:defRPr/>
                      </a:pPr>
                      <a:r>
                        <a:rPr lang="en-US" sz="1950" b="true">
                          <a:solidFill>
                            <a:srgbClr val="0F7B4F"/>
                          </a:solidFill>
                          <a:latin typeface="Calibri (MS) Bold"/>
                          <a:ea typeface="Calibri (MS) Bold"/>
                          <a:cs typeface="Calibri (MS) Bold"/>
                          <a:sym typeface="Calibri (MS) Bold"/>
                        </a:rPr>
                        <a:t>call first</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r>
              <a:tr h="571500">
                <a:tc>
                  <a:txBody>
                    <a:bodyPr anchor="t" rtlCol="false"/>
                    <a:lstStyle/>
                    <a:p>
                      <a:pPr algn="l">
                        <a:lnSpc>
                          <a:spcPts val="2340"/>
                        </a:lnSpc>
                        <a:defRPr/>
                      </a:pPr>
                      <a:r>
                        <a:rPr lang="en-US" sz="1950">
                          <a:solidFill>
                            <a:srgbClr val="000000"/>
                          </a:solidFill>
                          <a:latin typeface="Calibri (MS)"/>
                          <a:ea typeface="Calibri (MS)"/>
                          <a:cs typeface="Calibri (MS)"/>
                          <a:sym typeface="Calibri (MS)"/>
                        </a:rPr>
                        <a:t>Terminal Lodge (partner)</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5 km</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6h13</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70</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l">
                        <a:lnSpc>
                          <a:spcPts val="2340"/>
                        </a:lnSpc>
                        <a:defRPr/>
                      </a:pPr>
                      <a:r>
                        <a:rPr lang="en-US" sz="1950">
                          <a:solidFill>
                            <a:srgbClr val="A15C00"/>
                          </a:solidFill>
                          <a:latin typeface="Calibri (MS)"/>
                          <a:ea typeface="Calibri (MS)"/>
                          <a:cs typeface="Calibri (MS)"/>
                          <a:sym typeface="Calibri (MS)"/>
                        </a:rPr>
                        <a:t>partial, 89 rooms needed</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r>
              <a:tr h="571500">
                <a:tc>
                  <a:txBody>
                    <a:bodyPr anchor="t" rtlCol="false"/>
                    <a:lstStyle/>
                    <a:p>
                      <a:pPr algn="l">
                        <a:lnSpc>
                          <a:spcPts val="2340"/>
                        </a:lnSpc>
                        <a:defRPr/>
                      </a:pPr>
                      <a:r>
                        <a:rPr lang="en-US" sz="1950">
                          <a:solidFill>
                            <a:srgbClr val="000000"/>
                          </a:solidFill>
                          <a:latin typeface="Calibri (MS)"/>
                          <a:ea typeface="Calibri (MS)"/>
                          <a:cs typeface="Calibri (MS)"/>
                          <a:sym typeface="Calibri (MS)"/>
                        </a:rPr>
                        <a:t>Lakeside Hotel (nearby)</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12 </a:t>
                      </a:r>
                      <a:r>
                        <a:rPr lang="en-US" sz="1950">
                          <a:solidFill>
                            <a:srgbClr val="000000"/>
                          </a:solidFill>
                          <a:latin typeface="Calibri (MS)"/>
                          <a:ea typeface="Calibri (MS)"/>
                          <a:cs typeface="Calibri (MS)"/>
                          <a:sym typeface="Calibri (MS)"/>
                        </a:rPr>
                        <a:t>km</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5h29</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340"/>
                        </a:lnSpc>
                        <a:defRPr/>
                      </a:pPr>
                      <a:r>
                        <a:rPr lang="en-US" sz="1950">
                          <a:solidFill>
                            <a:srgbClr val="000000"/>
                          </a:solidFill>
                          <a:latin typeface="Calibri (MS)"/>
                          <a:ea typeface="Calibri (MS)"/>
                          <a:cs typeface="Calibri (MS)"/>
                          <a:sym typeface="Calibri (MS)"/>
                        </a:rPr>
                        <a:t>95</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l">
                        <a:lnSpc>
                          <a:spcPts val="2340"/>
                        </a:lnSpc>
                        <a:defRPr/>
                      </a:pPr>
                      <a:r>
                        <a:rPr lang="en-US" sz="1950">
                          <a:solidFill>
                            <a:srgbClr val="6B6B70"/>
                          </a:solidFill>
                          <a:latin typeface="Calibri (MS)"/>
                          <a:ea typeface="Calibri (MS)"/>
                          <a:cs typeface="Calibri (MS)"/>
                          <a:sym typeface="Calibri (MS)"/>
                        </a:rPr>
                        <a:t>skip, no coach parking</a:t>
                      </a:r>
                      <a:endParaRPr lang="en-US" sz="1100"/>
                    </a:p>
                  </a:txBody>
                  <a:tcPr marL="76200" marR="76200" marT="76200" marB="762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r>
            </a:tbl>
          </a:graphicData>
        </a:graphic>
      </p:graphicFrame>
      <p:grpSp>
        <p:nvGrpSpPr>
          <p:cNvPr name="Group 12" id="12"/>
          <p:cNvGrpSpPr/>
          <p:nvPr/>
        </p:nvGrpSpPr>
        <p:grpSpPr>
          <a:xfrm rot="0">
            <a:off x="950595" y="6917055"/>
            <a:ext cx="7974330" cy="1870710"/>
            <a:chOff x="0" y="0"/>
            <a:chExt cx="10632440" cy="2494280"/>
          </a:xfrm>
        </p:grpSpPr>
        <p:sp>
          <p:nvSpPr>
            <p:cNvPr name="Freeform 13" id="13"/>
            <p:cNvSpPr/>
            <p:nvPr/>
          </p:nvSpPr>
          <p:spPr>
            <a:xfrm flipH="false" flipV="false" rot="0">
              <a:off x="0" y="0"/>
              <a:ext cx="10632440" cy="2494280"/>
            </a:xfrm>
            <a:custGeom>
              <a:avLst/>
              <a:gdLst/>
              <a:ahLst/>
              <a:cxnLst/>
              <a:rect r="r" b="b" t="t" l="l"/>
              <a:pathLst>
                <a:path h="2494280" w="10632440">
                  <a:moveTo>
                    <a:pt x="0" y="147828"/>
                  </a:moveTo>
                  <a:cubicBezTo>
                    <a:pt x="0" y="66167"/>
                    <a:pt x="66167" y="0"/>
                    <a:pt x="147828" y="0"/>
                  </a:cubicBezTo>
                  <a:lnTo>
                    <a:pt x="10484612" y="0"/>
                  </a:lnTo>
                  <a:cubicBezTo>
                    <a:pt x="10566273" y="0"/>
                    <a:pt x="10632440" y="66167"/>
                    <a:pt x="10632440" y="147828"/>
                  </a:cubicBezTo>
                  <a:lnTo>
                    <a:pt x="10632440" y="2346452"/>
                  </a:lnTo>
                  <a:cubicBezTo>
                    <a:pt x="10632440" y="2428113"/>
                    <a:pt x="10566273" y="2494280"/>
                    <a:pt x="10484612" y="2494280"/>
                  </a:cubicBezTo>
                  <a:lnTo>
                    <a:pt x="147828" y="2494280"/>
                  </a:lnTo>
                  <a:cubicBezTo>
                    <a:pt x="66167" y="2494280"/>
                    <a:pt x="0" y="2428113"/>
                    <a:pt x="0" y="2346452"/>
                  </a:cubicBezTo>
                  <a:close/>
                </a:path>
              </a:pathLst>
            </a:custGeom>
            <a:solidFill>
              <a:srgbClr val="F7F7F9"/>
            </a:solidFill>
            <a:ln w="19050" cap="sq">
              <a:solidFill>
                <a:srgbClr val="F7F7F9"/>
              </a:solidFill>
              <a:prstDash val="solid"/>
              <a:miter/>
            </a:ln>
          </p:spPr>
        </p:sp>
      </p:grpSp>
      <p:grpSp>
        <p:nvGrpSpPr>
          <p:cNvPr name="Group 14" id="14"/>
          <p:cNvGrpSpPr/>
          <p:nvPr/>
        </p:nvGrpSpPr>
        <p:grpSpPr>
          <a:xfrm rot="0">
            <a:off x="1440180" y="7200900"/>
            <a:ext cx="6995160" cy="411480"/>
            <a:chOff x="0" y="0"/>
            <a:chExt cx="9326880" cy="548640"/>
          </a:xfrm>
        </p:grpSpPr>
        <p:sp>
          <p:nvSpPr>
            <p:cNvPr name="Freeform 15" id="15"/>
            <p:cNvSpPr/>
            <p:nvPr/>
          </p:nvSpPr>
          <p:spPr>
            <a:xfrm flipH="false" flipV="false" rot="0">
              <a:off x="0" y="0"/>
              <a:ext cx="9326880" cy="548640"/>
            </a:xfrm>
            <a:custGeom>
              <a:avLst/>
              <a:gdLst/>
              <a:ahLst/>
              <a:cxnLst/>
              <a:rect r="r" b="b" t="t" l="l"/>
              <a:pathLst>
                <a:path h="548640" w="9326880">
                  <a:moveTo>
                    <a:pt x="0" y="0"/>
                  </a:moveTo>
                  <a:lnTo>
                    <a:pt x="9326880" y="0"/>
                  </a:lnTo>
                  <a:lnTo>
                    <a:pt x="9326880" y="548640"/>
                  </a:lnTo>
                  <a:lnTo>
                    <a:pt x="0" y="548640"/>
                  </a:lnTo>
                  <a:close/>
                </a:path>
              </a:pathLst>
            </a:custGeom>
            <a:blipFill>
              <a:blip r:embed="rId3">
                <a:alphaModFix amt="0"/>
              </a:blip>
              <a:stretch>
                <a:fillRect l="0" t="-281245" r="0" b="-281245"/>
              </a:stretch>
            </a:blipFill>
          </p:spPr>
        </p:sp>
        <p:sp>
          <p:nvSpPr>
            <p:cNvPr name="TextBox 16" id="16"/>
            <p:cNvSpPr txBox="true"/>
            <p:nvPr/>
          </p:nvSpPr>
          <p:spPr>
            <a:xfrm>
              <a:off x="0" y="-47625"/>
              <a:ext cx="9326880" cy="596265"/>
            </a:xfrm>
            <a:prstGeom prst="rect">
              <a:avLst/>
            </a:prstGeom>
          </p:spPr>
          <p:txBody>
            <a:bodyPr anchor="ctr" rtlCol="false" tIns="0" lIns="0" bIns="0" rIns="0"/>
            <a:lstStyle/>
            <a:p>
              <a:pPr algn="l">
                <a:lnSpc>
                  <a:spcPts val="2520"/>
                </a:lnSpc>
              </a:pPr>
              <a:r>
                <a:rPr lang="en-US" sz="2100" b="true">
                  <a:solidFill>
                    <a:srgbClr val="1C1C1E"/>
                  </a:solidFill>
                  <a:latin typeface="Calibri (MS) Bold"/>
                  <a:ea typeface="Calibri (MS) Bold"/>
                  <a:cs typeface="Calibri (MS) Bold"/>
                  <a:sym typeface="Calibri (MS) Bold"/>
                </a:rPr>
                <a:t>Ranking is arithmetic in code</a:t>
              </a:r>
            </a:p>
          </p:txBody>
        </p:sp>
      </p:grpSp>
      <p:grpSp>
        <p:nvGrpSpPr>
          <p:cNvPr name="Group 17" id="17"/>
          <p:cNvGrpSpPr/>
          <p:nvPr/>
        </p:nvGrpSpPr>
        <p:grpSpPr>
          <a:xfrm rot="0">
            <a:off x="1440180" y="7653528"/>
            <a:ext cx="6995160" cy="822960"/>
            <a:chOff x="0" y="0"/>
            <a:chExt cx="9326880" cy="1097280"/>
          </a:xfrm>
        </p:grpSpPr>
        <p:sp>
          <p:nvSpPr>
            <p:cNvPr name="Freeform 18" id="18"/>
            <p:cNvSpPr/>
            <p:nvPr/>
          </p:nvSpPr>
          <p:spPr>
            <a:xfrm flipH="false" flipV="false" rot="0">
              <a:off x="0" y="0"/>
              <a:ext cx="9326880" cy="1097280"/>
            </a:xfrm>
            <a:custGeom>
              <a:avLst/>
              <a:gdLst/>
              <a:ahLst/>
              <a:cxnLst/>
              <a:rect r="r" b="b" t="t" l="l"/>
              <a:pathLst>
                <a:path h="1097280" w="9326880">
                  <a:moveTo>
                    <a:pt x="0" y="0"/>
                  </a:moveTo>
                  <a:lnTo>
                    <a:pt x="9326880" y="0"/>
                  </a:lnTo>
                  <a:lnTo>
                    <a:pt x="9326880" y="1097280"/>
                  </a:lnTo>
                  <a:lnTo>
                    <a:pt x="0" y="1097280"/>
                  </a:lnTo>
                  <a:close/>
                </a:path>
              </a:pathLst>
            </a:custGeom>
            <a:blipFill>
              <a:blip r:embed="rId3">
                <a:alphaModFix amt="0"/>
              </a:blip>
              <a:stretch>
                <a:fillRect l="0" t="-115622" r="0" b="-115622"/>
              </a:stretch>
            </a:blipFill>
          </p:spPr>
        </p:sp>
        <p:sp>
          <p:nvSpPr>
            <p:cNvPr name="TextBox 19" id="19"/>
            <p:cNvSpPr txBox="true"/>
            <p:nvPr/>
          </p:nvSpPr>
          <p:spPr>
            <a:xfrm>
              <a:off x="0" y="-66675"/>
              <a:ext cx="9326880" cy="1163955"/>
            </a:xfrm>
            <a:prstGeom prst="rect">
              <a:avLst/>
            </a:prstGeom>
          </p:spPr>
          <p:txBody>
            <a:bodyPr anchor="ctr" rtlCol="false" tIns="0" lIns="0" bIns="0" rIns="0"/>
            <a:lstStyle/>
            <a:p>
              <a:pPr algn="l">
                <a:lnSpc>
                  <a:spcPts val="2550"/>
                </a:lnSpc>
              </a:pPr>
              <a:r>
                <a:rPr lang="en-US" sz="1875">
                  <a:solidFill>
                    <a:srgbClr val="6B6B70"/>
                  </a:solidFill>
                  <a:latin typeface="Calibri (MS)"/>
                  <a:ea typeface="Calibri (MS)"/>
                  <a:cs typeface="Calibri (MS)"/>
                  <a:sym typeface="Calibri (MS)"/>
                </a:rPr>
                <a:t>The same inputs always produce the same winner. No model judgement decides money.</a:t>
              </a:r>
            </a:p>
          </p:txBody>
        </p:sp>
      </p:grpSp>
      <p:grpSp>
        <p:nvGrpSpPr>
          <p:cNvPr name="Group 20" id="20"/>
          <p:cNvGrpSpPr/>
          <p:nvPr/>
        </p:nvGrpSpPr>
        <p:grpSpPr>
          <a:xfrm rot="0">
            <a:off x="9358503" y="6917055"/>
            <a:ext cx="7974330" cy="1870710"/>
            <a:chOff x="0" y="0"/>
            <a:chExt cx="10632440" cy="2494280"/>
          </a:xfrm>
        </p:grpSpPr>
        <p:sp>
          <p:nvSpPr>
            <p:cNvPr name="Freeform 21" id="21"/>
            <p:cNvSpPr/>
            <p:nvPr/>
          </p:nvSpPr>
          <p:spPr>
            <a:xfrm flipH="false" flipV="false" rot="0">
              <a:off x="0" y="0"/>
              <a:ext cx="10632440" cy="2494280"/>
            </a:xfrm>
            <a:custGeom>
              <a:avLst/>
              <a:gdLst/>
              <a:ahLst/>
              <a:cxnLst/>
              <a:rect r="r" b="b" t="t" l="l"/>
              <a:pathLst>
                <a:path h="2494280" w="10632440">
                  <a:moveTo>
                    <a:pt x="0" y="147828"/>
                  </a:moveTo>
                  <a:cubicBezTo>
                    <a:pt x="0" y="66167"/>
                    <a:pt x="66167" y="0"/>
                    <a:pt x="147828" y="0"/>
                  </a:cubicBezTo>
                  <a:lnTo>
                    <a:pt x="10484612" y="0"/>
                  </a:lnTo>
                  <a:cubicBezTo>
                    <a:pt x="10566273" y="0"/>
                    <a:pt x="10632440" y="66167"/>
                    <a:pt x="10632440" y="147828"/>
                  </a:cubicBezTo>
                  <a:lnTo>
                    <a:pt x="10632440" y="2346452"/>
                  </a:lnTo>
                  <a:cubicBezTo>
                    <a:pt x="10632440" y="2428113"/>
                    <a:pt x="10566273" y="2494280"/>
                    <a:pt x="10484612" y="2494280"/>
                  </a:cubicBezTo>
                  <a:lnTo>
                    <a:pt x="147828" y="2494280"/>
                  </a:lnTo>
                  <a:cubicBezTo>
                    <a:pt x="66167" y="2494280"/>
                    <a:pt x="0" y="2428113"/>
                    <a:pt x="0" y="2346452"/>
                  </a:cubicBezTo>
                  <a:close/>
                </a:path>
              </a:pathLst>
            </a:custGeom>
            <a:solidFill>
              <a:srgbClr val="F7F7F9"/>
            </a:solidFill>
            <a:ln w="19050" cap="sq">
              <a:solidFill>
                <a:srgbClr val="F7F7F9"/>
              </a:solidFill>
              <a:prstDash val="solid"/>
              <a:miter/>
            </a:ln>
          </p:spPr>
        </p:sp>
      </p:grpSp>
      <p:grpSp>
        <p:nvGrpSpPr>
          <p:cNvPr name="Group 22" id="22"/>
          <p:cNvGrpSpPr/>
          <p:nvPr/>
        </p:nvGrpSpPr>
        <p:grpSpPr>
          <a:xfrm rot="0">
            <a:off x="9848088" y="7200900"/>
            <a:ext cx="6995160" cy="411480"/>
            <a:chOff x="0" y="0"/>
            <a:chExt cx="9326880" cy="548640"/>
          </a:xfrm>
        </p:grpSpPr>
        <p:sp>
          <p:nvSpPr>
            <p:cNvPr name="Freeform 23" id="23"/>
            <p:cNvSpPr/>
            <p:nvPr/>
          </p:nvSpPr>
          <p:spPr>
            <a:xfrm flipH="false" flipV="false" rot="0">
              <a:off x="0" y="0"/>
              <a:ext cx="9326880" cy="548640"/>
            </a:xfrm>
            <a:custGeom>
              <a:avLst/>
              <a:gdLst/>
              <a:ahLst/>
              <a:cxnLst/>
              <a:rect r="r" b="b" t="t" l="l"/>
              <a:pathLst>
                <a:path h="548640" w="9326880">
                  <a:moveTo>
                    <a:pt x="0" y="0"/>
                  </a:moveTo>
                  <a:lnTo>
                    <a:pt x="9326880" y="0"/>
                  </a:lnTo>
                  <a:lnTo>
                    <a:pt x="9326880" y="548640"/>
                  </a:lnTo>
                  <a:lnTo>
                    <a:pt x="0" y="548640"/>
                  </a:lnTo>
                  <a:close/>
                </a:path>
              </a:pathLst>
            </a:custGeom>
            <a:blipFill>
              <a:blip r:embed="rId3">
                <a:alphaModFix amt="0"/>
              </a:blip>
              <a:stretch>
                <a:fillRect l="0" t="-281245" r="0" b="-281245"/>
              </a:stretch>
            </a:blipFill>
          </p:spPr>
        </p:sp>
        <p:sp>
          <p:nvSpPr>
            <p:cNvPr name="TextBox 24" id="24"/>
            <p:cNvSpPr txBox="true"/>
            <p:nvPr/>
          </p:nvSpPr>
          <p:spPr>
            <a:xfrm>
              <a:off x="0" y="-47625"/>
              <a:ext cx="9326880" cy="596265"/>
            </a:xfrm>
            <a:prstGeom prst="rect">
              <a:avLst/>
            </a:prstGeom>
          </p:spPr>
          <p:txBody>
            <a:bodyPr anchor="ctr" rtlCol="false" tIns="0" lIns="0" bIns="0" rIns="0"/>
            <a:lstStyle/>
            <a:p>
              <a:pPr algn="l">
                <a:lnSpc>
                  <a:spcPts val="2520"/>
                </a:lnSpc>
              </a:pPr>
              <a:r>
                <a:rPr lang="en-US" sz="2100" b="true">
                  <a:solidFill>
                    <a:srgbClr val="1C1C1E"/>
                  </a:solidFill>
                  <a:latin typeface="Calibri (MS) Bold"/>
                  <a:ea typeface="Calibri (MS) Bold"/>
                  <a:cs typeface="Calibri (MS) Bold"/>
                  <a:sym typeface="Calibri (MS) Bold"/>
                </a:rPr>
                <a:t>It suggests, it does not send</a:t>
              </a:r>
            </a:p>
          </p:txBody>
        </p:sp>
      </p:grpSp>
      <p:grpSp>
        <p:nvGrpSpPr>
          <p:cNvPr name="Group 25" id="25"/>
          <p:cNvGrpSpPr/>
          <p:nvPr/>
        </p:nvGrpSpPr>
        <p:grpSpPr>
          <a:xfrm rot="0">
            <a:off x="9848088" y="7653528"/>
            <a:ext cx="6995160" cy="822960"/>
            <a:chOff x="0" y="0"/>
            <a:chExt cx="9326880" cy="1097280"/>
          </a:xfrm>
        </p:grpSpPr>
        <p:sp>
          <p:nvSpPr>
            <p:cNvPr name="Freeform 26" id="26"/>
            <p:cNvSpPr/>
            <p:nvPr/>
          </p:nvSpPr>
          <p:spPr>
            <a:xfrm flipH="false" flipV="false" rot="0">
              <a:off x="0" y="0"/>
              <a:ext cx="9326880" cy="1097280"/>
            </a:xfrm>
            <a:custGeom>
              <a:avLst/>
              <a:gdLst/>
              <a:ahLst/>
              <a:cxnLst/>
              <a:rect r="r" b="b" t="t" l="l"/>
              <a:pathLst>
                <a:path h="1097280" w="9326880">
                  <a:moveTo>
                    <a:pt x="0" y="0"/>
                  </a:moveTo>
                  <a:lnTo>
                    <a:pt x="9326880" y="0"/>
                  </a:lnTo>
                  <a:lnTo>
                    <a:pt x="9326880" y="1097280"/>
                  </a:lnTo>
                  <a:lnTo>
                    <a:pt x="0" y="1097280"/>
                  </a:lnTo>
                  <a:close/>
                </a:path>
              </a:pathLst>
            </a:custGeom>
            <a:blipFill>
              <a:blip r:embed="rId3">
                <a:alphaModFix amt="0"/>
              </a:blip>
              <a:stretch>
                <a:fillRect l="0" t="-115622" r="0" b="-115622"/>
              </a:stretch>
            </a:blipFill>
          </p:spPr>
        </p:sp>
        <p:sp>
          <p:nvSpPr>
            <p:cNvPr name="TextBox 27" id="27"/>
            <p:cNvSpPr txBox="true"/>
            <p:nvPr/>
          </p:nvSpPr>
          <p:spPr>
            <a:xfrm>
              <a:off x="0" y="-66675"/>
              <a:ext cx="9326880" cy="1163955"/>
            </a:xfrm>
            <a:prstGeom prst="rect">
              <a:avLst/>
            </a:prstGeom>
          </p:spPr>
          <p:txBody>
            <a:bodyPr anchor="ctr" rtlCol="false" tIns="0" lIns="0" bIns="0" rIns="0"/>
            <a:lstStyle/>
            <a:p>
              <a:pPr algn="l">
                <a:lnSpc>
                  <a:spcPts val="2550"/>
                </a:lnSpc>
              </a:pPr>
              <a:r>
                <a:rPr lang="en-US" sz="1875">
                  <a:solidFill>
                    <a:srgbClr val="6B6B70"/>
                  </a:solidFill>
                  <a:latin typeface="Calibri (MS)"/>
                  <a:ea typeface="Calibri (MS)"/>
                  <a:cs typeface="Calibri (MS)"/>
                  <a:sym typeface="Calibri (MS)"/>
                </a:rPr>
                <a:t>Room counts are nominal from the partner list, not live availability. The manager confirms with the hotel.</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WORKFLOW 3</a:t>
              </a:r>
            </a:p>
          </p:txBody>
        </p:sp>
      </p:grpSp>
      <p:grpSp>
        <p:nvGrpSpPr>
          <p:cNvPr name="Group 5" id="5"/>
          <p:cNvGrpSpPr/>
          <p:nvPr/>
        </p:nvGrpSpPr>
        <p:grpSpPr>
          <a:xfrm rot="0">
            <a:off x="960120"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Hotel call intelligence</a:t>
              </a:r>
            </a:p>
          </p:txBody>
        </p:sp>
      </p:grpSp>
      <p:grpSp>
        <p:nvGrpSpPr>
          <p:cNvPr name="Group 8" id="8"/>
          <p:cNvGrpSpPr/>
          <p:nvPr/>
        </p:nvGrpSpPr>
        <p:grpSpPr>
          <a:xfrm rot="0">
            <a:off x="950595" y="2390775"/>
            <a:ext cx="3036570" cy="1802130"/>
            <a:chOff x="0" y="0"/>
            <a:chExt cx="4048760" cy="2402840"/>
          </a:xfrm>
        </p:grpSpPr>
        <p:sp>
          <p:nvSpPr>
            <p:cNvPr name="Freeform 9" id="9"/>
            <p:cNvSpPr/>
            <p:nvPr/>
          </p:nvSpPr>
          <p:spPr>
            <a:xfrm flipH="false" flipV="false" rot="0">
              <a:off x="0" y="0"/>
              <a:ext cx="4048760" cy="2402840"/>
            </a:xfrm>
            <a:custGeom>
              <a:avLst/>
              <a:gdLst/>
              <a:ahLst/>
              <a:cxnLst/>
              <a:rect r="r" b="b" t="t" l="l"/>
              <a:pathLst>
                <a:path h="2402840" w="4048760">
                  <a:moveTo>
                    <a:pt x="0" y="147828"/>
                  </a:moveTo>
                  <a:cubicBezTo>
                    <a:pt x="0" y="66167"/>
                    <a:pt x="66167" y="0"/>
                    <a:pt x="147828" y="0"/>
                  </a:cubicBezTo>
                  <a:lnTo>
                    <a:pt x="3900932" y="0"/>
                  </a:lnTo>
                  <a:cubicBezTo>
                    <a:pt x="3982593" y="0"/>
                    <a:pt x="4048760" y="66167"/>
                    <a:pt x="4048760" y="147828"/>
                  </a:cubicBezTo>
                  <a:lnTo>
                    <a:pt x="4048760" y="2255012"/>
                  </a:lnTo>
                  <a:cubicBezTo>
                    <a:pt x="4048760" y="2336673"/>
                    <a:pt x="3982593" y="2402840"/>
                    <a:pt x="3900932" y="2402840"/>
                  </a:cubicBezTo>
                  <a:lnTo>
                    <a:pt x="147828" y="2402840"/>
                  </a:lnTo>
                  <a:cubicBezTo>
                    <a:pt x="66167" y="2402840"/>
                    <a:pt x="0" y="2336673"/>
                    <a:pt x="0" y="2255012"/>
                  </a:cubicBezTo>
                  <a:close/>
                </a:path>
              </a:pathLst>
            </a:custGeom>
            <a:solidFill>
              <a:srgbClr val="F7F7F9"/>
            </a:solidFill>
            <a:ln w="19050" cap="sq">
              <a:solidFill>
                <a:srgbClr val="F7F7F9"/>
              </a:solidFill>
              <a:prstDash val="solid"/>
              <a:miter/>
            </a:ln>
          </p:spPr>
        </p:sp>
      </p:grpSp>
      <p:grpSp>
        <p:nvGrpSpPr>
          <p:cNvPr name="Group 10" id="10"/>
          <p:cNvGrpSpPr/>
          <p:nvPr/>
        </p:nvGrpSpPr>
        <p:grpSpPr>
          <a:xfrm rot="0">
            <a:off x="1234440" y="2633472"/>
            <a:ext cx="2468880" cy="1371600"/>
            <a:chOff x="0" y="0"/>
            <a:chExt cx="3291840" cy="1828800"/>
          </a:xfrm>
        </p:grpSpPr>
        <p:sp>
          <p:nvSpPr>
            <p:cNvPr name="Freeform 11" id="11"/>
            <p:cNvSpPr/>
            <p:nvPr/>
          </p:nvSpPr>
          <p:spPr>
            <a:xfrm flipH="false" flipV="false" rot="0">
              <a:off x="0" y="0"/>
              <a:ext cx="3291840" cy="1828800"/>
            </a:xfrm>
            <a:custGeom>
              <a:avLst/>
              <a:gdLst/>
              <a:ahLst/>
              <a:cxnLst/>
              <a:rect r="r" b="b" t="t" l="l"/>
              <a:pathLst>
                <a:path h="1828800" w="3291840">
                  <a:moveTo>
                    <a:pt x="0" y="0"/>
                  </a:moveTo>
                  <a:lnTo>
                    <a:pt x="3291840" y="0"/>
                  </a:lnTo>
                  <a:lnTo>
                    <a:pt x="3291840" y="1828800"/>
                  </a:lnTo>
                  <a:lnTo>
                    <a:pt x="0" y="1828800"/>
                  </a:lnTo>
                  <a:close/>
                </a:path>
              </a:pathLst>
            </a:custGeom>
            <a:blipFill>
              <a:blip r:embed="rId3">
                <a:alphaModFix amt="0"/>
              </a:blip>
              <a:stretch>
                <a:fillRect l="-21279" t="0" r="-21279" b="0"/>
              </a:stretch>
            </a:blipFill>
          </p:spPr>
        </p:sp>
        <p:sp>
          <p:nvSpPr>
            <p:cNvPr name="TextBox 12" id="12"/>
            <p:cNvSpPr txBox="true"/>
            <p:nvPr/>
          </p:nvSpPr>
          <p:spPr>
            <a:xfrm>
              <a:off x="0" y="-57150"/>
              <a:ext cx="3291840" cy="1885950"/>
            </a:xfrm>
            <a:prstGeom prst="rect">
              <a:avLst/>
            </a:prstGeom>
          </p:spPr>
          <p:txBody>
            <a:bodyPr anchor="ctr" rtlCol="false" tIns="0" lIns="0" bIns="0" rIns="0"/>
            <a:lstStyle/>
            <a:p>
              <a:pPr algn="l">
                <a:lnSpc>
                  <a:spcPts val="2400"/>
                </a:lnSpc>
              </a:pPr>
              <a:r>
                <a:rPr lang="en-US" sz="1875" b="true">
                  <a:solidFill>
                    <a:srgbClr val="1C1C1E"/>
                  </a:solidFill>
                  <a:latin typeface="Calibri (MS) Bold"/>
                  <a:ea typeface="Calibri (MS) Bold"/>
                  <a:cs typeface="Calibri (MS) Bold"/>
                  <a:sym typeface="Calibri (MS) Bold"/>
                </a:rPr>
                <a:t>Recorded call</a:t>
              </a:r>
            </a:p>
          </p:txBody>
        </p:sp>
      </p:grpSp>
      <p:grpSp>
        <p:nvGrpSpPr>
          <p:cNvPr name="Group 13" id="13"/>
          <p:cNvGrpSpPr/>
          <p:nvPr/>
        </p:nvGrpSpPr>
        <p:grpSpPr>
          <a:xfrm rot="0">
            <a:off x="4005072" y="3017520"/>
            <a:ext cx="301752" cy="548640"/>
            <a:chOff x="0" y="0"/>
            <a:chExt cx="402336" cy="731520"/>
          </a:xfrm>
        </p:grpSpPr>
        <p:sp>
          <p:nvSpPr>
            <p:cNvPr name="Freeform 14" id="14"/>
            <p:cNvSpPr/>
            <p:nvPr/>
          </p:nvSpPr>
          <p:spPr>
            <a:xfrm flipH="false" flipV="false" rot="0">
              <a:off x="0" y="0"/>
              <a:ext cx="402336" cy="731520"/>
            </a:xfrm>
            <a:custGeom>
              <a:avLst/>
              <a:gdLst/>
              <a:ahLst/>
              <a:cxnLst/>
              <a:rect r="r" b="b" t="t" l="l"/>
              <a:pathLst>
                <a:path h="731520" w="402336">
                  <a:moveTo>
                    <a:pt x="0" y="0"/>
                  </a:moveTo>
                  <a:lnTo>
                    <a:pt x="402336" y="0"/>
                  </a:lnTo>
                  <a:lnTo>
                    <a:pt x="402336" y="731520"/>
                  </a:lnTo>
                  <a:lnTo>
                    <a:pt x="0" y="731520"/>
                  </a:lnTo>
                  <a:close/>
                </a:path>
              </a:pathLst>
            </a:custGeom>
            <a:blipFill>
              <a:blip r:embed="rId3">
                <a:alphaModFix amt="0"/>
              </a:blip>
              <a:stretch>
                <a:fillRect l="-183279" t="0" r="-183279" b="0"/>
              </a:stretch>
            </a:blipFill>
          </p:spPr>
        </p:sp>
        <p:sp>
          <p:nvSpPr>
            <p:cNvPr name="TextBox 15" id="15"/>
            <p:cNvSpPr txBox="true"/>
            <p:nvPr/>
          </p:nvSpPr>
          <p:spPr>
            <a:xfrm>
              <a:off x="0" y="-38100"/>
              <a:ext cx="402336" cy="769620"/>
            </a:xfrm>
            <a:prstGeom prst="rect">
              <a:avLst/>
            </a:prstGeom>
          </p:spPr>
          <p:txBody>
            <a:bodyPr anchor="ctr" rtlCol="false" tIns="0" lIns="0" bIns="0" rIns="0"/>
            <a:lstStyle/>
            <a:p>
              <a:pPr algn="ctr">
                <a:lnSpc>
                  <a:spcPts val="2879"/>
                </a:lnSpc>
              </a:pPr>
              <a:r>
                <a:rPr lang="en-US" sz="2400" b="true">
                  <a:solidFill>
                    <a:srgbClr val="29528F"/>
                  </a:solidFill>
                  <a:latin typeface="Calibri (MS) Bold"/>
                  <a:ea typeface="Calibri (MS) Bold"/>
                  <a:cs typeface="Calibri (MS) Bold"/>
                  <a:sym typeface="Calibri (MS) Bold"/>
                </a:rPr>
                <a:t>→</a:t>
              </a:r>
            </a:p>
          </p:txBody>
        </p:sp>
      </p:grpSp>
      <p:grpSp>
        <p:nvGrpSpPr>
          <p:cNvPr name="Group 16" id="16"/>
          <p:cNvGrpSpPr/>
          <p:nvPr/>
        </p:nvGrpSpPr>
        <p:grpSpPr>
          <a:xfrm rot="0">
            <a:off x="4297299" y="2390775"/>
            <a:ext cx="3036570" cy="1802130"/>
            <a:chOff x="0" y="0"/>
            <a:chExt cx="4048760" cy="2402840"/>
          </a:xfrm>
        </p:grpSpPr>
        <p:sp>
          <p:nvSpPr>
            <p:cNvPr name="Freeform 17" id="17"/>
            <p:cNvSpPr/>
            <p:nvPr/>
          </p:nvSpPr>
          <p:spPr>
            <a:xfrm flipH="false" flipV="false" rot="0">
              <a:off x="0" y="0"/>
              <a:ext cx="4048760" cy="2402840"/>
            </a:xfrm>
            <a:custGeom>
              <a:avLst/>
              <a:gdLst/>
              <a:ahLst/>
              <a:cxnLst/>
              <a:rect r="r" b="b" t="t" l="l"/>
              <a:pathLst>
                <a:path h="2402840" w="4048760">
                  <a:moveTo>
                    <a:pt x="0" y="147828"/>
                  </a:moveTo>
                  <a:cubicBezTo>
                    <a:pt x="0" y="66167"/>
                    <a:pt x="66167" y="0"/>
                    <a:pt x="147828" y="0"/>
                  </a:cubicBezTo>
                  <a:lnTo>
                    <a:pt x="3900932" y="0"/>
                  </a:lnTo>
                  <a:cubicBezTo>
                    <a:pt x="3982593" y="0"/>
                    <a:pt x="4048760" y="66167"/>
                    <a:pt x="4048760" y="147828"/>
                  </a:cubicBezTo>
                  <a:lnTo>
                    <a:pt x="4048760" y="2255012"/>
                  </a:lnTo>
                  <a:cubicBezTo>
                    <a:pt x="4048760" y="2336673"/>
                    <a:pt x="3982593" y="2402840"/>
                    <a:pt x="3900932" y="2402840"/>
                  </a:cubicBezTo>
                  <a:lnTo>
                    <a:pt x="147828" y="2402840"/>
                  </a:lnTo>
                  <a:cubicBezTo>
                    <a:pt x="66167" y="2402840"/>
                    <a:pt x="0" y="2336673"/>
                    <a:pt x="0" y="2255012"/>
                  </a:cubicBezTo>
                  <a:close/>
                </a:path>
              </a:pathLst>
            </a:custGeom>
            <a:solidFill>
              <a:srgbClr val="F7F7F9"/>
            </a:solidFill>
            <a:ln w="19050" cap="sq">
              <a:solidFill>
                <a:srgbClr val="F7F7F9"/>
              </a:solidFill>
              <a:prstDash val="solid"/>
              <a:miter/>
            </a:ln>
          </p:spPr>
        </p:sp>
      </p:grpSp>
      <p:grpSp>
        <p:nvGrpSpPr>
          <p:cNvPr name="Group 18" id="18"/>
          <p:cNvGrpSpPr/>
          <p:nvPr/>
        </p:nvGrpSpPr>
        <p:grpSpPr>
          <a:xfrm rot="0">
            <a:off x="4581144" y="2633472"/>
            <a:ext cx="2468880" cy="1371600"/>
            <a:chOff x="0" y="0"/>
            <a:chExt cx="3291840" cy="1828800"/>
          </a:xfrm>
        </p:grpSpPr>
        <p:sp>
          <p:nvSpPr>
            <p:cNvPr name="Freeform 19" id="19"/>
            <p:cNvSpPr/>
            <p:nvPr/>
          </p:nvSpPr>
          <p:spPr>
            <a:xfrm flipH="false" flipV="false" rot="0">
              <a:off x="0" y="0"/>
              <a:ext cx="3291840" cy="1828800"/>
            </a:xfrm>
            <a:custGeom>
              <a:avLst/>
              <a:gdLst/>
              <a:ahLst/>
              <a:cxnLst/>
              <a:rect r="r" b="b" t="t" l="l"/>
              <a:pathLst>
                <a:path h="1828800" w="3291840">
                  <a:moveTo>
                    <a:pt x="0" y="0"/>
                  </a:moveTo>
                  <a:lnTo>
                    <a:pt x="3291840" y="0"/>
                  </a:lnTo>
                  <a:lnTo>
                    <a:pt x="3291840" y="1828800"/>
                  </a:lnTo>
                  <a:lnTo>
                    <a:pt x="0" y="1828800"/>
                  </a:lnTo>
                  <a:close/>
                </a:path>
              </a:pathLst>
            </a:custGeom>
            <a:blipFill>
              <a:blip r:embed="rId3">
                <a:alphaModFix amt="0"/>
              </a:blip>
              <a:stretch>
                <a:fillRect l="-21279" t="0" r="-21279" b="0"/>
              </a:stretch>
            </a:blipFill>
          </p:spPr>
        </p:sp>
        <p:sp>
          <p:nvSpPr>
            <p:cNvPr name="TextBox 20" id="20"/>
            <p:cNvSpPr txBox="true"/>
            <p:nvPr/>
          </p:nvSpPr>
          <p:spPr>
            <a:xfrm>
              <a:off x="0" y="-57150"/>
              <a:ext cx="3291840" cy="1885950"/>
            </a:xfrm>
            <a:prstGeom prst="rect">
              <a:avLst/>
            </a:prstGeom>
          </p:spPr>
          <p:txBody>
            <a:bodyPr anchor="ctr" rtlCol="false" tIns="0" lIns="0" bIns="0" rIns="0"/>
            <a:lstStyle/>
            <a:p>
              <a:pPr algn="l">
                <a:lnSpc>
                  <a:spcPts val="2400"/>
                </a:lnSpc>
              </a:pPr>
              <a:r>
                <a:rPr lang="en-US" sz="1875" b="true">
                  <a:solidFill>
                    <a:srgbClr val="1C1C1E"/>
                  </a:solidFill>
                  <a:latin typeface="Calibri (MS) Bold"/>
                  <a:ea typeface="Calibri (MS) Bold"/>
                  <a:cs typeface="Calibri (MS) Bold"/>
                  <a:sym typeface="Calibri (MS) Bold"/>
                </a:rPr>
                <a:t>Whisper transcript</a:t>
              </a:r>
            </a:p>
          </p:txBody>
        </p:sp>
      </p:grpSp>
      <p:grpSp>
        <p:nvGrpSpPr>
          <p:cNvPr name="Group 21" id="21"/>
          <p:cNvGrpSpPr/>
          <p:nvPr/>
        </p:nvGrpSpPr>
        <p:grpSpPr>
          <a:xfrm rot="0">
            <a:off x="7351776" y="3017520"/>
            <a:ext cx="301752" cy="548640"/>
            <a:chOff x="0" y="0"/>
            <a:chExt cx="402336" cy="731520"/>
          </a:xfrm>
        </p:grpSpPr>
        <p:sp>
          <p:nvSpPr>
            <p:cNvPr name="Freeform 22" id="22"/>
            <p:cNvSpPr/>
            <p:nvPr/>
          </p:nvSpPr>
          <p:spPr>
            <a:xfrm flipH="false" flipV="false" rot="0">
              <a:off x="0" y="0"/>
              <a:ext cx="402336" cy="731520"/>
            </a:xfrm>
            <a:custGeom>
              <a:avLst/>
              <a:gdLst/>
              <a:ahLst/>
              <a:cxnLst/>
              <a:rect r="r" b="b" t="t" l="l"/>
              <a:pathLst>
                <a:path h="731520" w="402336">
                  <a:moveTo>
                    <a:pt x="0" y="0"/>
                  </a:moveTo>
                  <a:lnTo>
                    <a:pt x="402336" y="0"/>
                  </a:lnTo>
                  <a:lnTo>
                    <a:pt x="402336" y="731520"/>
                  </a:lnTo>
                  <a:lnTo>
                    <a:pt x="0" y="731520"/>
                  </a:lnTo>
                  <a:close/>
                </a:path>
              </a:pathLst>
            </a:custGeom>
            <a:blipFill>
              <a:blip r:embed="rId3">
                <a:alphaModFix amt="0"/>
              </a:blip>
              <a:stretch>
                <a:fillRect l="-183279" t="0" r="-183279" b="0"/>
              </a:stretch>
            </a:blipFill>
          </p:spPr>
        </p:sp>
        <p:sp>
          <p:nvSpPr>
            <p:cNvPr name="TextBox 23" id="23"/>
            <p:cNvSpPr txBox="true"/>
            <p:nvPr/>
          </p:nvSpPr>
          <p:spPr>
            <a:xfrm>
              <a:off x="0" y="-38100"/>
              <a:ext cx="402336" cy="769620"/>
            </a:xfrm>
            <a:prstGeom prst="rect">
              <a:avLst/>
            </a:prstGeom>
          </p:spPr>
          <p:txBody>
            <a:bodyPr anchor="ctr" rtlCol="false" tIns="0" lIns="0" bIns="0" rIns="0"/>
            <a:lstStyle/>
            <a:p>
              <a:pPr algn="ctr">
                <a:lnSpc>
                  <a:spcPts val="2879"/>
                </a:lnSpc>
              </a:pPr>
              <a:r>
                <a:rPr lang="en-US" sz="2400" b="true">
                  <a:solidFill>
                    <a:srgbClr val="29528F"/>
                  </a:solidFill>
                  <a:latin typeface="Calibri (MS) Bold"/>
                  <a:ea typeface="Calibri (MS) Bold"/>
                  <a:cs typeface="Calibri (MS) Bold"/>
                  <a:sym typeface="Calibri (MS) Bold"/>
                </a:rPr>
                <a:t>→</a:t>
              </a:r>
            </a:p>
          </p:txBody>
        </p:sp>
      </p:grpSp>
      <p:grpSp>
        <p:nvGrpSpPr>
          <p:cNvPr name="Group 24" id="24"/>
          <p:cNvGrpSpPr/>
          <p:nvPr/>
        </p:nvGrpSpPr>
        <p:grpSpPr>
          <a:xfrm rot="0">
            <a:off x="7644003" y="2390775"/>
            <a:ext cx="3036570" cy="1802130"/>
            <a:chOff x="0" y="0"/>
            <a:chExt cx="4048760" cy="2402840"/>
          </a:xfrm>
        </p:grpSpPr>
        <p:sp>
          <p:nvSpPr>
            <p:cNvPr name="Freeform 25" id="25"/>
            <p:cNvSpPr/>
            <p:nvPr/>
          </p:nvSpPr>
          <p:spPr>
            <a:xfrm flipH="false" flipV="false" rot="0">
              <a:off x="0" y="0"/>
              <a:ext cx="4048760" cy="2402840"/>
            </a:xfrm>
            <a:custGeom>
              <a:avLst/>
              <a:gdLst/>
              <a:ahLst/>
              <a:cxnLst/>
              <a:rect r="r" b="b" t="t" l="l"/>
              <a:pathLst>
                <a:path h="2402840" w="4048760">
                  <a:moveTo>
                    <a:pt x="0" y="147828"/>
                  </a:moveTo>
                  <a:cubicBezTo>
                    <a:pt x="0" y="66167"/>
                    <a:pt x="66167" y="0"/>
                    <a:pt x="147828" y="0"/>
                  </a:cubicBezTo>
                  <a:lnTo>
                    <a:pt x="3900932" y="0"/>
                  </a:lnTo>
                  <a:cubicBezTo>
                    <a:pt x="3982593" y="0"/>
                    <a:pt x="4048760" y="66167"/>
                    <a:pt x="4048760" y="147828"/>
                  </a:cubicBezTo>
                  <a:lnTo>
                    <a:pt x="4048760" y="2255012"/>
                  </a:lnTo>
                  <a:cubicBezTo>
                    <a:pt x="4048760" y="2336673"/>
                    <a:pt x="3982593" y="2402840"/>
                    <a:pt x="3900932" y="2402840"/>
                  </a:cubicBezTo>
                  <a:lnTo>
                    <a:pt x="147828" y="2402840"/>
                  </a:lnTo>
                  <a:cubicBezTo>
                    <a:pt x="66167" y="2402840"/>
                    <a:pt x="0" y="2336673"/>
                    <a:pt x="0" y="2255012"/>
                  </a:cubicBezTo>
                  <a:close/>
                </a:path>
              </a:pathLst>
            </a:custGeom>
            <a:solidFill>
              <a:srgbClr val="F7F7F9"/>
            </a:solidFill>
            <a:ln w="19050" cap="sq">
              <a:solidFill>
                <a:srgbClr val="F7F7F9"/>
              </a:solidFill>
              <a:prstDash val="solid"/>
              <a:miter/>
            </a:ln>
          </p:spPr>
        </p:sp>
      </p:grpSp>
      <p:grpSp>
        <p:nvGrpSpPr>
          <p:cNvPr name="Group 26" id="26"/>
          <p:cNvGrpSpPr/>
          <p:nvPr/>
        </p:nvGrpSpPr>
        <p:grpSpPr>
          <a:xfrm rot="0">
            <a:off x="7927848" y="2633472"/>
            <a:ext cx="2468880" cy="1371600"/>
            <a:chOff x="0" y="0"/>
            <a:chExt cx="3291840" cy="1828800"/>
          </a:xfrm>
        </p:grpSpPr>
        <p:sp>
          <p:nvSpPr>
            <p:cNvPr name="Freeform 27" id="27"/>
            <p:cNvSpPr/>
            <p:nvPr/>
          </p:nvSpPr>
          <p:spPr>
            <a:xfrm flipH="false" flipV="false" rot="0">
              <a:off x="0" y="0"/>
              <a:ext cx="3291840" cy="1828800"/>
            </a:xfrm>
            <a:custGeom>
              <a:avLst/>
              <a:gdLst/>
              <a:ahLst/>
              <a:cxnLst/>
              <a:rect r="r" b="b" t="t" l="l"/>
              <a:pathLst>
                <a:path h="1828800" w="3291840">
                  <a:moveTo>
                    <a:pt x="0" y="0"/>
                  </a:moveTo>
                  <a:lnTo>
                    <a:pt x="3291840" y="0"/>
                  </a:lnTo>
                  <a:lnTo>
                    <a:pt x="3291840" y="1828800"/>
                  </a:lnTo>
                  <a:lnTo>
                    <a:pt x="0" y="1828800"/>
                  </a:lnTo>
                  <a:close/>
                </a:path>
              </a:pathLst>
            </a:custGeom>
            <a:blipFill>
              <a:blip r:embed="rId3">
                <a:alphaModFix amt="0"/>
              </a:blip>
              <a:stretch>
                <a:fillRect l="-21279" t="0" r="-21279" b="0"/>
              </a:stretch>
            </a:blipFill>
          </p:spPr>
        </p:sp>
        <p:sp>
          <p:nvSpPr>
            <p:cNvPr name="TextBox 28" id="28"/>
            <p:cNvSpPr txBox="true"/>
            <p:nvPr/>
          </p:nvSpPr>
          <p:spPr>
            <a:xfrm>
              <a:off x="0" y="-57150"/>
              <a:ext cx="3291840" cy="1885950"/>
            </a:xfrm>
            <a:prstGeom prst="rect">
              <a:avLst/>
            </a:prstGeom>
          </p:spPr>
          <p:txBody>
            <a:bodyPr anchor="ctr" rtlCol="false" tIns="0" lIns="0" bIns="0" rIns="0"/>
            <a:lstStyle/>
            <a:p>
              <a:pPr algn="l">
                <a:lnSpc>
                  <a:spcPts val="2400"/>
                </a:lnSpc>
              </a:pPr>
              <a:r>
                <a:rPr lang="en-US" sz="1875" b="true">
                  <a:solidFill>
                    <a:srgbClr val="1C1C1E"/>
                  </a:solidFill>
                  <a:latin typeface="Calibri (MS) Bold"/>
                  <a:ea typeface="Calibri (MS) Bold"/>
                  <a:cs typeface="Calibri (MS) Bold"/>
                  <a:sym typeface="Calibri (MS) Bold"/>
                </a:rPr>
                <a:t>Terms extracted with per section confidence</a:t>
              </a:r>
            </a:p>
          </p:txBody>
        </p:sp>
      </p:grpSp>
      <p:grpSp>
        <p:nvGrpSpPr>
          <p:cNvPr name="Group 29" id="29"/>
          <p:cNvGrpSpPr/>
          <p:nvPr/>
        </p:nvGrpSpPr>
        <p:grpSpPr>
          <a:xfrm rot="0">
            <a:off x="10698480" y="3017520"/>
            <a:ext cx="301752" cy="548640"/>
            <a:chOff x="0" y="0"/>
            <a:chExt cx="402336" cy="731520"/>
          </a:xfrm>
        </p:grpSpPr>
        <p:sp>
          <p:nvSpPr>
            <p:cNvPr name="Freeform 30" id="30"/>
            <p:cNvSpPr/>
            <p:nvPr/>
          </p:nvSpPr>
          <p:spPr>
            <a:xfrm flipH="false" flipV="false" rot="0">
              <a:off x="0" y="0"/>
              <a:ext cx="402336" cy="731520"/>
            </a:xfrm>
            <a:custGeom>
              <a:avLst/>
              <a:gdLst/>
              <a:ahLst/>
              <a:cxnLst/>
              <a:rect r="r" b="b" t="t" l="l"/>
              <a:pathLst>
                <a:path h="731520" w="402336">
                  <a:moveTo>
                    <a:pt x="0" y="0"/>
                  </a:moveTo>
                  <a:lnTo>
                    <a:pt x="402336" y="0"/>
                  </a:lnTo>
                  <a:lnTo>
                    <a:pt x="402336" y="731520"/>
                  </a:lnTo>
                  <a:lnTo>
                    <a:pt x="0" y="731520"/>
                  </a:lnTo>
                  <a:close/>
                </a:path>
              </a:pathLst>
            </a:custGeom>
            <a:blipFill>
              <a:blip r:embed="rId3">
                <a:alphaModFix amt="0"/>
              </a:blip>
              <a:stretch>
                <a:fillRect l="-183279" t="0" r="-183279" b="0"/>
              </a:stretch>
            </a:blipFill>
          </p:spPr>
        </p:sp>
        <p:sp>
          <p:nvSpPr>
            <p:cNvPr name="TextBox 31" id="31"/>
            <p:cNvSpPr txBox="true"/>
            <p:nvPr/>
          </p:nvSpPr>
          <p:spPr>
            <a:xfrm>
              <a:off x="0" y="-38100"/>
              <a:ext cx="402336" cy="769620"/>
            </a:xfrm>
            <a:prstGeom prst="rect">
              <a:avLst/>
            </a:prstGeom>
          </p:spPr>
          <p:txBody>
            <a:bodyPr anchor="ctr" rtlCol="false" tIns="0" lIns="0" bIns="0" rIns="0"/>
            <a:lstStyle/>
            <a:p>
              <a:pPr algn="ctr">
                <a:lnSpc>
                  <a:spcPts val="2879"/>
                </a:lnSpc>
              </a:pPr>
              <a:r>
                <a:rPr lang="en-US" sz="2400" b="true">
                  <a:solidFill>
                    <a:srgbClr val="29528F"/>
                  </a:solidFill>
                  <a:latin typeface="Calibri (MS) Bold"/>
                  <a:ea typeface="Calibri (MS) Bold"/>
                  <a:cs typeface="Calibri (MS) Bold"/>
                  <a:sym typeface="Calibri (MS) Bold"/>
                </a:rPr>
                <a:t>→</a:t>
              </a:r>
            </a:p>
          </p:txBody>
        </p:sp>
      </p:grpSp>
      <p:grpSp>
        <p:nvGrpSpPr>
          <p:cNvPr name="Group 32" id="32"/>
          <p:cNvGrpSpPr/>
          <p:nvPr/>
        </p:nvGrpSpPr>
        <p:grpSpPr>
          <a:xfrm rot="0">
            <a:off x="10990707" y="2390775"/>
            <a:ext cx="3036570" cy="1802130"/>
            <a:chOff x="0" y="0"/>
            <a:chExt cx="4048760" cy="2402840"/>
          </a:xfrm>
        </p:grpSpPr>
        <p:sp>
          <p:nvSpPr>
            <p:cNvPr name="Freeform 33" id="33"/>
            <p:cNvSpPr/>
            <p:nvPr/>
          </p:nvSpPr>
          <p:spPr>
            <a:xfrm flipH="false" flipV="false" rot="0">
              <a:off x="0" y="0"/>
              <a:ext cx="4048760" cy="2402840"/>
            </a:xfrm>
            <a:custGeom>
              <a:avLst/>
              <a:gdLst/>
              <a:ahLst/>
              <a:cxnLst/>
              <a:rect r="r" b="b" t="t" l="l"/>
              <a:pathLst>
                <a:path h="2402840" w="4048760">
                  <a:moveTo>
                    <a:pt x="0" y="147828"/>
                  </a:moveTo>
                  <a:cubicBezTo>
                    <a:pt x="0" y="66167"/>
                    <a:pt x="66167" y="0"/>
                    <a:pt x="147828" y="0"/>
                  </a:cubicBezTo>
                  <a:lnTo>
                    <a:pt x="3900932" y="0"/>
                  </a:lnTo>
                  <a:cubicBezTo>
                    <a:pt x="3982593" y="0"/>
                    <a:pt x="4048760" y="66167"/>
                    <a:pt x="4048760" y="147828"/>
                  </a:cubicBezTo>
                  <a:lnTo>
                    <a:pt x="4048760" y="2255012"/>
                  </a:lnTo>
                  <a:cubicBezTo>
                    <a:pt x="4048760" y="2336673"/>
                    <a:pt x="3982593" y="2402840"/>
                    <a:pt x="3900932" y="2402840"/>
                  </a:cubicBezTo>
                  <a:lnTo>
                    <a:pt x="147828" y="2402840"/>
                  </a:lnTo>
                  <a:cubicBezTo>
                    <a:pt x="66167" y="2402840"/>
                    <a:pt x="0" y="2336673"/>
                    <a:pt x="0" y="2255012"/>
                  </a:cubicBezTo>
                  <a:close/>
                </a:path>
              </a:pathLst>
            </a:custGeom>
            <a:solidFill>
              <a:srgbClr val="E8F5EE"/>
            </a:solidFill>
            <a:ln w="19050" cap="sq">
              <a:solidFill>
                <a:srgbClr val="E8F5EE"/>
              </a:solidFill>
              <a:prstDash val="solid"/>
              <a:miter/>
            </a:ln>
          </p:spPr>
        </p:sp>
      </p:grpSp>
      <p:grpSp>
        <p:nvGrpSpPr>
          <p:cNvPr name="Group 34" id="34"/>
          <p:cNvGrpSpPr/>
          <p:nvPr/>
        </p:nvGrpSpPr>
        <p:grpSpPr>
          <a:xfrm rot="0">
            <a:off x="11274552" y="2633472"/>
            <a:ext cx="2468880" cy="1371600"/>
            <a:chOff x="0" y="0"/>
            <a:chExt cx="3291840" cy="1828800"/>
          </a:xfrm>
        </p:grpSpPr>
        <p:sp>
          <p:nvSpPr>
            <p:cNvPr name="Freeform 35" id="35"/>
            <p:cNvSpPr/>
            <p:nvPr/>
          </p:nvSpPr>
          <p:spPr>
            <a:xfrm flipH="false" flipV="false" rot="0">
              <a:off x="0" y="0"/>
              <a:ext cx="3291840" cy="1828800"/>
            </a:xfrm>
            <a:custGeom>
              <a:avLst/>
              <a:gdLst/>
              <a:ahLst/>
              <a:cxnLst/>
              <a:rect r="r" b="b" t="t" l="l"/>
              <a:pathLst>
                <a:path h="1828800" w="3291840">
                  <a:moveTo>
                    <a:pt x="0" y="0"/>
                  </a:moveTo>
                  <a:lnTo>
                    <a:pt x="3291840" y="0"/>
                  </a:lnTo>
                  <a:lnTo>
                    <a:pt x="3291840" y="1828800"/>
                  </a:lnTo>
                  <a:lnTo>
                    <a:pt x="0" y="1828800"/>
                  </a:lnTo>
                  <a:close/>
                </a:path>
              </a:pathLst>
            </a:custGeom>
            <a:blipFill>
              <a:blip r:embed="rId3">
                <a:alphaModFix amt="0"/>
              </a:blip>
              <a:stretch>
                <a:fillRect l="-21279" t="0" r="-21279" b="0"/>
              </a:stretch>
            </a:blipFill>
          </p:spPr>
        </p:sp>
        <p:sp>
          <p:nvSpPr>
            <p:cNvPr name="TextBox 36" id="36"/>
            <p:cNvSpPr txBox="true"/>
            <p:nvPr/>
          </p:nvSpPr>
          <p:spPr>
            <a:xfrm>
              <a:off x="0" y="-57150"/>
              <a:ext cx="3291840" cy="1885950"/>
            </a:xfrm>
            <a:prstGeom prst="rect">
              <a:avLst/>
            </a:prstGeom>
          </p:spPr>
          <p:txBody>
            <a:bodyPr anchor="ctr" rtlCol="false" tIns="0" lIns="0" bIns="0" rIns="0"/>
            <a:lstStyle/>
            <a:p>
              <a:pPr algn="l">
                <a:lnSpc>
                  <a:spcPts val="2400"/>
                </a:lnSpc>
              </a:pPr>
              <a:r>
                <a:rPr lang="en-US" sz="1875" b="true">
                  <a:solidFill>
                    <a:srgbClr val="0F7B4F"/>
                  </a:solidFill>
                  <a:latin typeface="Calibri (MS) Bold"/>
                  <a:ea typeface="Calibri (MS) Bold"/>
                  <a:cs typeface="Calibri (MS) Bold"/>
                  <a:sym typeface="Calibri (MS) Bold"/>
                </a:rPr>
                <a:t>Deterministic re check in code</a:t>
              </a:r>
            </a:p>
          </p:txBody>
        </p:sp>
      </p:grpSp>
      <p:grpSp>
        <p:nvGrpSpPr>
          <p:cNvPr name="Group 37" id="37"/>
          <p:cNvGrpSpPr/>
          <p:nvPr/>
        </p:nvGrpSpPr>
        <p:grpSpPr>
          <a:xfrm rot="0">
            <a:off x="14045184" y="3017520"/>
            <a:ext cx="301752" cy="548640"/>
            <a:chOff x="0" y="0"/>
            <a:chExt cx="402336" cy="731520"/>
          </a:xfrm>
        </p:grpSpPr>
        <p:sp>
          <p:nvSpPr>
            <p:cNvPr name="Freeform 38" id="38"/>
            <p:cNvSpPr/>
            <p:nvPr/>
          </p:nvSpPr>
          <p:spPr>
            <a:xfrm flipH="false" flipV="false" rot="0">
              <a:off x="0" y="0"/>
              <a:ext cx="402336" cy="731520"/>
            </a:xfrm>
            <a:custGeom>
              <a:avLst/>
              <a:gdLst/>
              <a:ahLst/>
              <a:cxnLst/>
              <a:rect r="r" b="b" t="t" l="l"/>
              <a:pathLst>
                <a:path h="731520" w="402336">
                  <a:moveTo>
                    <a:pt x="0" y="0"/>
                  </a:moveTo>
                  <a:lnTo>
                    <a:pt x="402336" y="0"/>
                  </a:lnTo>
                  <a:lnTo>
                    <a:pt x="402336" y="731520"/>
                  </a:lnTo>
                  <a:lnTo>
                    <a:pt x="0" y="731520"/>
                  </a:lnTo>
                  <a:close/>
                </a:path>
              </a:pathLst>
            </a:custGeom>
            <a:blipFill>
              <a:blip r:embed="rId3">
                <a:alphaModFix amt="0"/>
              </a:blip>
              <a:stretch>
                <a:fillRect l="-183279" t="0" r="-183279" b="0"/>
              </a:stretch>
            </a:blipFill>
          </p:spPr>
        </p:sp>
        <p:sp>
          <p:nvSpPr>
            <p:cNvPr name="TextBox 39" id="39"/>
            <p:cNvSpPr txBox="true"/>
            <p:nvPr/>
          </p:nvSpPr>
          <p:spPr>
            <a:xfrm>
              <a:off x="0" y="-38100"/>
              <a:ext cx="402336" cy="769620"/>
            </a:xfrm>
            <a:prstGeom prst="rect">
              <a:avLst/>
            </a:prstGeom>
          </p:spPr>
          <p:txBody>
            <a:bodyPr anchor="ctr" rtlCol="false" tIns="0" lIns="0" bIns="0" rIns="0"/>
            <a:lstStyle/>
            <a:p>
              <a:pPr algn="ctr">
                <a:lnSpc>
                  <a:spcPts val="2879"/>
                </a:lnSpc>
              </a:pPr>
              <a:r>
                <a:rPr lang="en-US" sz="2400" b="true">
                  <a:solidFill>
                    <a:srgbClr val="29528F"/>
                  </a:solidFill>
                  <a:latin typeface="Calibri (MS) Bold"/>
                  <a:ea typeface="Calibri (MS) Bold"/>
                  <a:cs typeface="Calibri (MS) Bold"/>
                  <a:sym typeface="Calibri (MS) Bold"/>
                </a:rPr>
                <a:t>→</a:t>
              </a:r>
            </a:p>
          </p:txBody>
        </p:sp>
      </p:grpSp>
      <p:grpSp>
        <p:nvGrpSpPr>
          <p:cNvPr name="Group 40" id="40"/>
          <p:cNvGrpSpPr/>
          <p:nvPr/>
        </p:nvGrpSpPr>
        <p:grpSpPr>
          <a:xfrm rot="0">
            <a:off x="14337411" y="2390775"/>
            <a:ext cx="3036570" cy="1802130"/>
            <a:chOff x="0" y="0"/>
            <a:chExt cx="4048760" cy="2402840"/>
          </a:xfrm>
        </p:grpSpPr>
        <p:sp>
          <p:nvSpPr>
            <p:cNvPr name="Freeform 41" id="41"/>
            <p:cNvSpPr/>
            <p:nvPr/>
          </p:nvSpPr>
          <p:spPr>
            <a:xfrm flipH="false" flipV="false" rot="0">
              <a:off x="0" y="0"/>
              <a:ext cx="4048760" cy="2402840"/>
            </a:xfrm>
            <a:custGeom>
              <a:avLst/>
              <a:gdLst/>
              <a:ahLst/>
              <a:cxnLst/>
              <a:rect r="r" b="b" t="t" l="l"/>
              <a:pathLst>
                <a:path h="2402840" w="4048760">
                  <a:moveTo>
                    <a:pt x="0" y="147828"/>
                  </a:moveTo>
                  <a:cubicBezTo>
                    <a:pt x="0" y="66167"/>
                    <a:pt x="66167" y="0"/>
                    <a:pt x="147828" y="0"/>
                  </a:cubicBezTo>
                  <a:lnTo>
                    <a:pt x="3900932" y="0"/>
                  </a:lnTo>
                  <a:cubicBezTo>
                    <a:pt x="3982593" y="0"/>
                    <a:pt x="4048760" y="66167"/>
                    <a:pt x="4048760" y="147828"/>
                  </a:cubicBezTo>
                  <a:lnTo>
                    <a:pt x="4048760" y="2255012"/>
                  </a:lnTo>
                  <a:cubicBezTo>
                    <a:pt x="4048760" y="2336673"/>
                    <a:pt x="3982593" y="2402840"/>
                    <a:pt x="3900932" y="2402840"/>
                  </a:cubicBezTo>
                  <a:lnTo>
                    <a:pt x="147828" y="2402840"/>
                  </a:lnTo>
                  <a:cubicBezTo>
                    <a:pt x="66167" y="2402840"/>
                    <a:pt x="0" y="2336673"/>
                    <a:pt x="0" y="2255012"/>
                  </a:cubicBezTo>
                  <a:close/>
                </a:path>
              </a:pathLst>
            </a:custGeom>
            <a:solidFill>
              <a:srgbClr val="F7F7F9"/>
            </a:solidFill>
            <a:ln w="19050" cap="sq">
              <a:solidFill>
                <a:srgbClr val="F7F7F9"/>
              </a:solidFill>
              <a:prstDash val="solid"/>
              <a:miter/>
            </a:ln>
          </p:spPr>
        </p:sp>
      </p:grpSp>
      <p:grpSp>
        <p:nvGrpSpPr>
          <p:cNvPr name="Group 42" id="42"/>
          <p:cNvGrpSpPr/>
          <p:nvPr/>
        </p:nvGrpSpPr>
        <p:grpSpPr>
          <a:xfrm rot="0">
            <a:off x="14621256" y="2633472"/>
            <a:ext cx="2468880" cy="1371600"/>
            <a:chOff x="0" y="0"/>
            <a:chExt cx="3291840" cy="1828800"/>
          </a:xfrm>
        </p:grpSpPr>
        <p:sp>
          <p:nvSpPr>
            <p:cNvPr name="Freeform 43" id="43"/>
            <p:cNvSpPr/>
            <p:nvPr/>
          </p:nvSpPr>
          <p:spPr>
            <a:xfrm flipH="false" flipV="false" rot="0">
              <a:off x="0" y="0"/>
              <a:ext cx="3291840" cy="1828800"/>
            </a:xfrm>
            <a:custGeom>
              <a:avLst/>
              <a:gdLst/>
              <a:ahLst/>
              <a:cxnLst/>
              <a:rect r="r" b="b" t="t" l="l"/>
              <a:pathLst>
                <a:path h="1828800" w="3291840">
                  <a:moveTo>
                    <a:pt x="0" y="0"/>
                  </a:moveTo>
                  <a:lnTo>
                    <a:pt x="3291840" y="0"/>
                  </a:lnTo>
                  <a:lnTo>
                    <a:pt x="3291840" y="1828800"/>
                  </a:lnTo>
                  <a:lnTo>
                    <a:pt x="0" y="1828800"/>
                  </a:lnTo>
                  <a:close/>
                </a:path>
              </a:pathLst>
            </a:custGeom>
            <a:blipFill>
              <a:blip r:embed="rId3">
                <a:alphaModFix amt="0"/>
              </a:blip>
              <a:stretch>
                <a:fillRect l="-21279" t="0" r="-21279" b="0"/>
              </a:stretch>
            </a:blipFill>
          </p:spPr>
        </p:sp>
        <p:sp>
          <p:nvSpPr>
            <p:cNvPr name="TextBox 44" id="44"/>
            <p:cNvSpPr txBox="true"/>
            <p:nvPr/>
          </p:nvSpPr>
          <p:spPr>
            <a:xfrm>
              <a:off x="0" y="-57150"/>
              <a:ext cx="3291840" cy="1885950"/>
            </a:xfrm>
            <a:prstGeom prst="rect">
              <a:avLst/>
            </a:prstGeom>
          </p:spPr>
          <p:txBody>
            <a:bodyPr anchor="ctr" rtlCol="false" tIns="0" lIns="0" bIns="0" rIns="0"/>
            <a:lstStyle/>
            <a:p>
              <a:pPr algn="l">
                <a:lnSpc>
                  <a:spcPts val="2400"/>
                </a:lnSpc>
              </a:pPr>
              <a:r>
                <a:rPr lang="en-US" sz="1875" b="true">
                  <a:solidFill>
                    <a:srgbClr val="1C1C1E"/>
                  </a:solidFill>
                  <a:latin typeface="Calibri (MS) Bold"/>
                  <a:ea typeface="Calibri (MS) Bold"/>
                  <a:cs typeface="Calibri (MS) Bold"/>
                  <a:sym typeface="Calibri (MS) Bold"/>
                </a:rPr>
                <a:t>Manager approval email</a:t>
              </a:r>
            </a:p>
          </p:txBody>
        </p:sp>
      </p:grpSp>
      <p:grpSp>
        <p:nvGrpSpPr>
          <p:cNvPr name="Group 45" id="45"/>
          <p:cNvGrpSpPr/>
          <p:nvPr/>
        </p:nvGrpSpPr>
        <p:grpSpPr>
          <a:xfrm rot="0">
            <a:off x="960120" y="4594860"/>
            <a:ext cx="16322040" cy="548640"/>
            <a:chOff x="0" y="0"/>
            <a:chExt cx="21762720" cy="731520"/>
          </a:xfrm>
        </p:grpSpPr>
        <p:sp>
          <p:nvSpPr>
            <p:cNvPr name="Freeform 46" id="46"/>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47" id="47"/>
            <p:cNvSpPr txBox="true"/>
            <p:nvPr/>
          </p:nvSpPr>
          <p:spPr>
            <a:xfrm>
              <a:off x="0" y="-19050"/>
              <a:ext cx="21762720" cy="750570"/>
            </a:xfrm>
            <a:prstGeom prst="rect">
              <a:avLst/>
            </a:prstGeom>
          </p:spPr>
          <p:txBody>
            <a:bodyPr anchor="ctr" rtlCol="false" tIns="0" lIns="0" bIns="0" rIns="0"/>
            <a:lstStyle/>
            <a:p>
              <a:pPr algn="l">
                <a:lnSpc>
                  <a:spcPts val="3779"/>
                </a:lnSpc>
              </a:pPr>
              <a:r>
                <a:rPr lang="en-US" sz="3150" b="true">
                  <a:solidFill>
                    <a:srgbClr val="1C1C1E"/>
                  </a:solidFill>
                  <a:latin typeface="Cambria Bold"/>
                  <a:ea typeface="Cambria Bold"/>
                  <a:cs typeface="Cambria Bold"/>
                  <a:sym typeface="Cambria Bold"/>
                </a:rPr>
                <a:t>The workflow stops and asks for a human when any of these fire</a:t>
              </a:r>
            </a:p>
          </p:txBody>
        </p:sp>
      </p:grpSp>
      <p:grpSp>
        <p:nvGrpSpPr>
          <p:cNvPr name="Group 48" id="48"/>
          <p:cNvGrpSpPr/>
          <p:nvPr/>
        </p:nvGrpSpPr>
        <p:grpSpPr>
          <a:xfrm rot="0">
            <a:off x="950595" y="5339715"/>
            <a:ext cx="5231130" cy="2007870"/>
            <a:chOff x="0" y="0"/>
            <a:chExt cx="6974840" cy="2677160"/>
          </a:xfrm>
        </p:grpSpPr>
        <p:sp>
          <p:nvSpPr>
            <p:cNvPr name="Freeform 49" id="49"/>
            <p:cNvSpPr/>
            <p:nvPr/>
          </p:nvSpPr>
          <p:spPr>
            <a:xfrm flipH="false" flipV="false" rot="0">
              <a:off x="0" y="0"/>
              <a:ext cx="6974840" cy="2677160"/>
            </a:xfrm>
            <a:custGeom>
              <a:avLst/>
              <a:gdLst/>
              <a:ahLst/>
              <a:cxnLst/>
              <a:rect r="r" b="b" t="t" l="l"/>
              <a:pathLst>
                <a:path h="2677160" w="6974840">
                  <a:moveTo>
                    <a:pt x="0" y="147701"/>
                  </a:moveTo>
                  <a:cubicBezTo>
                    <a:pt x="0" y="66167"/>
                    <a:pt x="66167" y="0"/>
                    <a:pt x="147701" y="0"/>
                  </a:cubicBezTo>
                  <a:lnTo>
                    <a:pt x="6827139" y="0"/>
                  </a:lnTo>
                  <a:cubicBezTo>
                    <a:pt x="6908673" y="0"/>
                    <a:pt x="6974840" y="66167"/>
                    <a:pt x="6974840" y="147701"/>
                  </a:cubicBezTo>
                  <a:lnTo>
                    <a:pt x="6974840" y="2529459"/>
                  </a:lnTo>
                  <a:cubicBezTo>
                    <a:pt x="6974840" y="2610993"/>
                    <a:pt x="6908673" y="2677160"/>
                    <a:pt x="6827139" y="2677160"/>
                  </a:cubicBezTo>
                  <a:lnTo>
                    <a:pt x="147701" y="2677160"/>
                  </a:lnTo>
                  <a:cubicBezTo>
                    <a:pt x="66167" y="2677160"/>
                    <a:pt x="0" y="2610993"/>
                    <a:pt x="0" y="2529459"/>
                  </a:cubicBezTo>
                  <a:close/>
                </a:path>
              </a:pathLst>
            </a:custGeom>
            <a:solidFill>
              <a:srgbClr val="FDF3E2"/>
            </a:solidFill>
            <a:ln w="19050" cap="sq">
              <a:solidFill>
                <a:srgbClr val="FDF3E2"/>
              </a:solidFill>
              <a:prstDash val="solid"/>
              <a:miter/>
            </a:ln>
          </p:spPr>
        </p:sp>
      </p:grpSp>
      <p:grpSp>
        <p:nvGrpSpPr>
          <p:cNvPr name="Group 50" id="50"/>
          <p:cNvGrpSpPr/>
          <p:nvPr/>
        </p:nvGrpSpPr>
        <p:grpSpPr>
          <a:xfrm rot="0">
            <a:off x="1371600" y="5623560"/>
            <a:ext cx="4389120" cy="411480"/>
            <a:chOff x="0" y="0"/>
            <a:chExt cx="5852160" cy="548640"/>
          </a:xfrm>
        </p:grpSpPr>
        <p:sp>
          <p:nvSpPr>
            <p:cNvPr name="Freeform 51" id="51"/>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52" id="52"/>
            <p:cNvSpPr txBox="true"/>
            <p:nvPr/>
          </p:nvSpPr>
          <p:spPr>
            <a:xfrm>
              <a:off x="0" y="-47625"/>
              <a:ext cx="5852160" cy="596265"/>
            </a:xfrm>
            <a:prstGeom prst="rect">
              <a:avLst/>
            </a:prstGeom>
          </p:spPr>
          <p:txBody>
            <a:bodyPr anchor="ctr" rtlCol="false" tIns="0" lIns="0" bIns="0" rIns="0"/>
            <a:lstStyle/>
            <a:p>
              <a:pPr algn="l">
                <a:lnSpc>
                  <a:spcPts val="2520"/>
                </a:lnSpc>
              </a:pPr>
              <a:r>
                <a:rPr lang="en-US" sz="2100" b="true">
                  <a:solidFill>
                    <a:srgbClr val="A15C00"/>
                  </a:solidFill>
                  <a:latin typeface="Calibri (MS) Bold"/>
                  <a:ea typeface="Calibri (MS) Bold"/>
                  <a:cs typeface="Calibri (MS) Bold"/>
                  <a:sym typeface="Calibri (MS) Bold"/>
                </a:rPr>
                <a:t>Critical field missing</a:t>
              </a:r>
            </a:p>
          </p:txBody>
        </p:sp>
      </p:grpSp>
      <p:grpSp>
        <p:nvGrpSpPr>
          <p:cNvPr name="Group 53" id="53"/>
          <p:cNvGrpSpPr/>
          <p:nvPr/>
        </p:nvGrpSpPr>
        <p:grpSpPr>
          <a:xfrm rot="0">
            <a:off x="1371600" y="6062472"/>
            <a:ext cx="4389120" cy="1097280"/>
            <a:chOff x="0" y="0"/>
            <a:chExt cx="5852160" cy="1463040"/>
          </a:xfrm>
        </p:grpSpPr>
        <p:sp>
          <p:nvSpPr>
            <p:cNvPr name="Freeform 54" id="54"/>
            <p:cNvSpPr/>
            <p:nvPr/>
          </p:nvSpPr>
          <p:spPr>
            <a:xfrm flipH="false" flipV="false" rot="0">
              <a:off x="0" y="0"/>
              <a:ext cx="5852160" cy="1463040"/>
            </a:xfrm>
            <a:custGeom>
              <a:avLst/>
              <a:gdLst/>
              <a:ahLst/>
              <a:cxnLst/>
              <a:rect r="r" b="b" t="t" l="l"/>
              <a:pathLst>
                <a:path h="1463040" w="5852160">
                  <a:moveTo>
                    <a:pt x="0" y="0"/>
                  </a:moveTo>
                  <a:lnTo>
                    <a:pt x="5852160" y="0"/>
                  </a:lnTo>
                  <a:lnTo>
                    <a:pt x="5852160" y="1463040"/>
                  </a:lnTo>
                  <a:lnTo>
                    <a:pt x="0" y="1463040"/>
                  </a:lnTo>
                  <a:close/>
                </a:path>
              </a:pathLst>
            </a:custGeom>
            <a:blipFill>
              <a:blip r:embed="rId3">
                <a:alphaModFix amt="0"/>
              </a:blip>
              <a:stretch>
                <a:fillRect l="0" t="-27940" r="0" b="-27940"/>
              </a:stretch>
            </a:blipFill>
          </p:spPr>
        </p:sp>
        <p:sp>
          <p:nvSpPr>
            <p:cNvPr name="TextBox 55" id="55"/>
            <p:cNvSpPr txBox="true"/>
            <p:nvPr/>
          </p:nvSpPr>
          <p:spPr>
            <a:xfrm>
              <a:off x="0" y="-66675"/>
              <a:ext cx="5852160" cy="1529715"/>
            </a:xfrm>
            <a:prstGeom prst="rect">
              <a:avLst/>
            </a:prstGeom>
          </p:spPr>
          <p:txBody>
            <a:bodyPr anchor="ctr" rtlCol="false" tIns="0" lIns="0" bIns="0" rIns="0"/>
            <a:lstStyle/>
            <a:p>
              <a:pPr algn="l">
                <a:lnSpc>
                  <a:spcPts val="2550"/>
                </a:lnSpc>
              </a:pPr>
              <a:r>
                <a:rPr lang="en-US" sz="1875">
                  <a:solidFill>
                    <a:srgbClr val="1C1C1E"/>
                  </a:solidFill>
                  <a:latin typeface="Calibri (MS)"/>
                  <a:ea typeface="Calibri (MS)"/>
                  <a:cs typeface="Calibri (MS)"/>
                  <a:sym typeface="Calibri (MS)"/>
                </a:rPr>
                <a:t>Rooms, rate, currency or cancellation terms not stated on the call.</a:t>
              </a:r>
            </a:p>
          </p:txBody>
        </p:sp>
      </p:grpSp>
      <p:grpSp>
        <p:nvGrpSpPr>
          <p:cNvPr name="Group 56" id="56"/>
          <p:cNvGrpSpPr/>
          <p:nvPr/>
        </p:nvGrpSpPr>
        <p:grpSpPr>
          <a:xfrm rot="0">
            <a:off x="6519291" y="5339715"/>
            <a:ext cx="5231130" cy="2007870"/>
            <a:chOff x="0" y="0"/>
            <a:chExt cx="6974840" cy="2677160"/>
          </a:xfrm>
        </p:grpSpPr>
        <p:sp>
          <p:nvSpPr>
            <p:cNvPr name="Freeform 57" id="57"/>
            <p:cNvSpPr/>
            <p:nvPr/>
          </p:nvSpPr>
          <p:spPr>
            <a:xfrm flipH="false" flipV="false" rot="0">
              <a:off x="0" y="0"/>
              <a:ext cx="6974840" cy="2677160"/>
            </a:xfrm>
            <a:custGeom>
              <a:avLst/>
              <a:gdLst/>
              <a:ahLst/>
              <a:cxnLst/>
              <a:rect r="r" b="b" t="t" l="l"/>
              <a:pathLst>
                <a:path h="2677160" w="6974840">
                  <a:moveTo>
                    <a:pt x="0" y="147701"/>
                  </a:moveTo>
                  <a:cubicBezTo>
                    <a:pt x="0" y="66167"/>
                    <a:pt x="66167" y="0"/>
                    <a:pt x="147701" y="0"/>
                  </a:cubicBezTo>
                  <a:lnTo>
                    <a:pt x="6827139" y="0"/>
                  </a:lnTo>
                  <a:cubicBezTo>
                    <a:pt x="6908673" y="0"/>
                    <a:pt x="6974840" y="66167"/>
                    <a:pt x="6974840" y="147701"/>
                  </a:cubicBezTo>
                  <a:lnTo>
                    <a:pt x="6974840" y="2529459"/>
                  </a:lnTo>
                  <a:cubicBezTo>
                    <a:pt x="6974840" y="2610993"/>
                    <a:pt x="6908673" y="2677160"/>
                    <a:pt x="6827139" y="2677160"/>
                  </a:cubicBezTo>
                  <a:lnTo>
                    <a:pt x="147701" y="2677160"/>
                  </a:lnTo>
                  <a:cubicBezTo>
                    <a:pt x="66167" y="2677160"/>
                    <a:pt x="0" y="2610993"/>
                    <a:pt x="0" y="2529459"/>
                  </a:cubicBezTo>
                  <a:close/>
                </a:path>
              </a:pathLst>
            </a:custGeom>
            <a:solidFill>
              <a:srgbClr val="FDF3E2"/>
            </a:solidFill>
            <a:ln w="19050" cap="sq">
              <a:solidFill>
                <a:srgbClr val="FDF3E2"/>
              </a:solidFill>
              <a:prstDash val="solid"/>
              <a:miter/>
            </a:ln>
          </p:spPr>
        </p:sp>
      </p:grpSp>
      <p:grpSp>
        <p:nvGrpSpPr>
          <p:cNvPr name="Group 58" id="58"/>
          <p:cNvGrpSpPr/>
          <p:nvPr/>
        </p:nvGrpSpPr>
        <p:grpSpPr>
          <a:xfrm rot="0">
            <a:off x="6940296" y="5623560"/>
            <a:ext cx="4389120" cy="411480"/>
            <a:chOff x="0" y="0"/>
            <a:chExt cx="5852160" cy="548640"/>
          </a:xfrm>
        </p:grpSpPr>
        <p:sp>
          <p:nvSpPr>
            <p:cNvPr name="Freeform 59" id="59"/>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60" id="60"/>
            <p:cNvSpPr txBox="true"/>
            <p:nvPr/>
          </p:nvSpPr>
          <p:spPr>
            <a:xfrm>
              <a:off x="0" y="-47625"/>
              <a:ext cx="5852160" cy="596265"/>
            </a:xfrm>
            <a:prstGeom prst="rect">
              <a:avLst/>
            </a:prstGeom>
          </p:spPr>
          <p:txBody>
            <a:bodyPr anchor="ctr" rtlCol="false" tIns="0" lIns="0" bIns="0" rIns="0"/>
            <a:lstStyle/>
            <a:p>
              <a:pPr algn="l">
                <a:lnSpc>
                  <a:spcPts val="2520"/>
                </a:lnSpc>
              </a:pPr>
              <a:r>
                <a:rPr lang="en-US" sz="2100" b="true">
                  <a:solidFill>
                    <a:srgbClr val="A15C00"/>
                  </a:solidFill>
                  <a:latin typeface="Calibri (MS) Bold"/>
                  <a:ea typeface="Calibri (MS) Bold"/>
                  <a:cs typeface="Calibri (MS) Bold"/>
                  <a:sym typeface="Calibri (MS) Bold"/>
                </a:rPr>
                <a:t>Confidence below 0.75</a:t>
              </a:r>
            </a:p>
          </p:txBody>
        </p:sp>
      </p:grpSp>
      <p:grpSp>
        <p:nvGrpSpPr>
          <p:cNvPr name="Group 61" id="61"/>
          <p:cNvGrpSpPr/>
          <p:nvPr/>
        </p:nvGrpSpPr>
        <p:grpSpPr>
          <a:xfrm rot="0">
            <a:off x="6940296" y="6062472"/>
            <a:ext cx="4389120" cy="1097280"/>
            <a:chOff x="0" y="0"/>
            <a:chExt cx="5852160" cy="1463040"/>
          </a:xfrm>
        </p:grpSpPr>
        <p:sp>
          <p:nvSpPr>
            <p:cNvPr name="Freeform 62" id="62"/>
            <p:cNvSpPr/>
            <p:nvPr/>
          </p:nvSpPr>
          <p:spPr>
            <a:xfrm flipH="false" flipV="false" rot="0">
              <a:off x="0" y="0"/>
              <a:ext cx="5852160" cy="1463040"/>
            </a:xfrm>
            <a:custGeom>
              <a:avLst/>
              <a:gdLst/>
              <a:ahLst/>
              <a:cxnLst/>
              <a:rect r="r" b="b" t="t" l="l"/>
              <a:pathLst>
                <a:path h="1463040" w="5852160">
                  <a:moveTo>
                    <a:pt x="0" y="0"/>
                  </a:moveTo>
                  <a:lnTo>
                    <a:pt x="5852160" y="0"/>
                  </a:lnTo>
                  <a:lnTo>
                    <a:pt x="5852160" y="1463040"/>
                  </a:lnTo>
                  <a:lnTo>
                    <a:pt x="0" y="1463040"/>
                  </a:lnTo>
                  <a:close/>
                </a:path>
              </a:pathLst>
            </a:custGeom>
            <a:blipFill>
              <a:blip r:embed="rId3">
                <a:alphaModFix amt="0"/>
              </a:blip>
              <a:stretch>
                <a:fillRect l="0" t="-27940" r="0" b="-27940"/>
              </a:stretch>
            </a:blipFill>
          </p:spPr>
        </p:sp>
        <p:sp>
          <p:nvSpPr>
            <p:cNvPr name="TextBox 63" id="63"/>
            <p:cNvSpPr txBox="true"/>
            <p:nvPr/>
          </p:nvSpPr>
          <p:spPr>
            <a:xfrm>
              <a:off x="0" y="-66675"/>
              <a:ext cx="5852160" cy="1529715"/>
            </a:xfrm>
            <a:prstGeom prst="rect">
              <a:avLst/>
            </a:prstGeom>
          </p:spPr>
          <p:txBody>
            <a:bodyPr anchor="ctr" rtlCol="false" tIns="0" lIns="0" bIns="0" rIns="0"/>
            <a:lstStyle/>
            <a:p>
              <a:pPr algn="l">
                <a:lnSpc>
                  <a:spcPts val="2550"/>
                </a:lnSpc>
              </a:pPr>
              <a:r>
                <a:rPr lang="en-US" sz="1875">
                  <a:solidFill>
                    <a:srgbClr val="1C1C1E"/>
                  </a:solidFill>
                  <a:latin typeface="Calibri (MS)"/>
                  <a:ea typeface="Calibri (MS)"/>
                  <a:cs typeface="Calibri (MS)"/>
                  <a:sym typeface="Calibri (MS)"/>
                </a:rPr>
                <a:t>Any section the model is not sure it heard correctly.</a:t>
              </a:r>
            </a:p>
          </p:txBody>
        </p:sp>
      </p:grpSp>
      <p:grpSp>
        <p:nvGrpSpPr>
          <p:cNvPr name="Group 64" id="64"/>
          <p:cNvGrpSpPr/>
          <p:nvPr/>
        </p:nvGrpSpPr>
        <p:grpSpPr>
          <a:xfrm rot="0">
            <a:off x="12087987" y="5339715"/>
            <a:ext cx="5231130" cy="2007870"/>
            <a:chOff x="0" y="0"/>
            <a:chExt cx="6974840" cy="2677160"/>
          </a:xfrm>
        </p:grpSpPr>
        <p:sp>
          <p:nvSpPr>
            <p:cNvPr name="Freeform 65" id="65"/>
            <p:cNvSpPr/>
            <p:nvPr/>
          </p:nvSpPr>
          <p:spPr>
            <a:xfrm flipH="false" flipV="false" rot="0">
              <a:off x="0" y="0"/>
              <a:ext cx="6974840" cy="2677160"/>
            </a:xfrm>
            <a:custGeom>
              <a:avLst/>
              <a:gdLst/>
              <a:ahLst/>
              <a:cxnLst/>
              <a:rect r="r" b="b" t="t" l="l"/>
              <a:pathLst>
                <a:path h="2677160" w="6974840">
                  <a:moveTo>
                    <a:pt x="0" y="147701"/>
                  </a:moveTo>
                  <a:cubicBezTo>
                    <a:pt x="0" y="66167"/>
                    <a:pt x="66167" y="0"/>
                    <a:pt x="147701" y="0"/>
                  </a:cubicBezTo>
                  <a:lnTo>
                    <a:pt x="6827139" y="0"/>
                  </a:lnTo>
                  <a:cubicBezTo>
                    <a:pt x="6908673" y="0"/>
                    <a:pt x="6974840" y="66167"/>
                    <a:pt x="6974840" y="147701"/>
                  </a:cubicBezTo>
                  <a:lnTo>
                    <a:pt x="6974840" y="2529459"/>
                  </a:lnTo>
                  <a:cubicBezTo>
                    <a:pt x="6974840" y="2610993"/>
                    <a:pt x="6908673" y="2677160"/>
                    <a:pt x="6827139" y="2677160"/>
                  </a:cubicBezTo>
                  <a:lnTo>
                    <a:pt x="147701" y="2677160"/>
                  </a:lnTo>
                  <a:cubicBezTo>
                    <a:pt x="66167" y="2677160"/>
                    <a:pt x="0" y="2610993"/>
                    <a:pt x="0" y="2529459"/>
                  </a:cubicBezTo>
                  <a:close/>
                </a:path>
              </a:pathLst>
            </a:custGeom>
            <a:solidFill>
              <a:srgbClr val="FDF3E2"/>
            </a:solidFill>
            <a:ln w="19050" cap="sq">
              <a:solidFill>
                <a:srgbClr val="FDF3E2"/>
              </a:solidFill>
              <a:prstDash val="solid"/>
              <a:miter/>
            </a:ln>
          </p:spPr>
        </p:sp>
      </p:grpSp>
      <p:grpSp>
        <p:nvGrpSpPr>
          <p:cNvPr name="Group 66" id="66"/>
          <p:cNvGrpSpPr/>
          <p:nvPr/>
        </p:nvGrpSpPr>
        <p:grpSpPr>
          <a:xfrm rot="0">
            <a:off x="12508992" y="5623560"/>
            <a:ext cx="4389120" cy="411480"/>
            <a:chOff x="0" y="0"/>
            <a:chExt cx="5852160" cy="548640"/>
          </a:xfrm>
        </p:grpSpPr>
        <p:sp>
          <p:nvSpPr>
            <p:cNvPr name="Freeform 67" id="67"/>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68" id="68"/>
            <p:cNvSpPr txBox="true"/>
            <p:nvPr/>
          </p:nvSpPr>
          <p:spPr>
            <a:xfrm>
              <a:off x="0" y="-47625"/>
              <a:ext cx="5852160" cy="596265"/>
            </a:xfrm>
            <a:prstGeom prst="rect">
              <a:avLst/>
            </a:prstGeom>
          </p:spPr>
          <p:txBody>
            <a:bodyPr anchor="ctr" rtlCol="false" tIns="0" lIns="0" bIns="0" rIns="0"/>
            <a:lstStyle/>
            <a:p>
              <a:pPr algn="l">
                <a:lnSpc>
                  <a:spcPts val="2520"/>
                </a:lnSpc>
              </a:pPr>
              <a:r>
                <a:rPr lang="en-US" sz="2100" b="true">
                  <a:solidFill>
                    <a:srgbClr val="A15C00"/>
                  </a:solidFill>
                  <a:latin typeface="Calibri (MS) Bold"/>
                  <a:ea typeface="Calibri (MS) Bold"/>
                  <a:cs typeface="Calibri (MS) Bold"/>
                  <a:sym typeface="Calibri (MS) Bold"/>
                </a:rPr>
                <a:t>Total above threshold</a:t>
              </a:r>
            </a:p>
          </p:txBody>
        </p:sp>
      </p:grpSp>
      <p:grpSp>
        <p:nvGrpSpPr>
          <p:cNvPr name="Group 69" id="69"/>
          <p:cNvGrpSpPr/>
          <p:nvPr/>
        </p:nvGrpSpPr>
        <p:grpSpPr>
          <a:xfrm rot="0">
            <a:off x="12508992" y="6062472"/>
            <a:ext cx="4389120" cy="1097280"/>
            <a:chOff x="0" y="0"/>
            <a:chExt cx="5852160" cy="1463040"/>
          </a:xfrm>
        </p:grpSpPr>
        <p:sp>
          <p:nvSpPr>
            <p:cNvPr name="Freeform 70" id="70"/>
            <p:cNvSpPr/>
            <p:nvPr/>
          </p:nvSpPr>
          <p:spPr>
            <a:xfrm flipH="false" flipV="false" rot="0">
              <a:off x="0" y="0"/>
              <a:ext cx="5852160" cy="1463040"/>
            </a:xfrm>
            <a:custGeom>
              <a:avLst/>
              <a:gdLst/>
              <a:ahLst/>
              <a:cxnLst/>
              <a:rect r="r" b="b" t="t" l="l"/>
              <a:pathLst>
                <a:path h="1463040" w="5852160">
                  <a:moveTo>
                    <a:pt x="0" y="0"/>
                  </a:moveTo>
                  <a:lnTo>
                    <a:pt x="5852160" y="0"/>
                  </a:lnTo>
                  <a:lnTo>
                    <a:pt x="5852160" y="1463040"/>
                  </a:lnTo>
                  <a:lnTo>
                    <a:pt x="0" y="1463040"/>
                  </a:lnTo>
                  <a:close/>
                </a:path>
              </a:pathLst>
            </a:custGeom>
            <a:blipFill>
              <a:blip r:embed="rId3">
                <a:alphaModFix amt="0"/>
              </a:blip>
              <a:stretch>
                <a:fillRect l="0" t="-27940" r="0" b="-27940"/>
              </a:stretch>
            </a:blipFill>
          </p:spPr>
        </p:sp>
        <p:sp>
          <p:nvSpPr>
            <p:cNvPr name="TextBox 71" id="71"/>
            <p:cNvSpPr txBox="true"/>
            <p:nvPr/>
          </p:nvSpPr>
          <p:spPr>
            <a:xfrm>
              <a:off x="0" y="-66675"/>
              <a:ext cx="5852160" cy="1529715"/>
            </a:xfrm>
            <a:prstGeom prst="rect">
              <a:avLst/>
            </a:prstGeom>
          </p:spPr>
          <p:txBody>
            <a:bodyPr anchor="ctr" rtlCol="false" tIns="0" lIns="0" bIns="0" rIns="0"/>
            <a:lstStyle/>
            <a:p>
              <a:pPr algn="l">
                <a:lnSpc>
                  <a:spcPts val="2550"/>
                </a:lnSpc>
              </a:pPr>
              <a:r>
                <a:rPr lang="en-US" sz="1875">
                  <a:solidFill>
                    <a:srgbClr val="1C1C1E"/>
                  </a:solidFill>
                  <a:latin typeface="Calibri (MS)"/>
                  <a:ea typeface="Calibri (MS)"/>
                  <a:cs typeface="Calibri (MS)"/>
                  <a:sym typeface="Calibri (MS)"/>
                </a:rPr>
                <a:t>High value arrangements never pass on confidence alone.</a:t>
              </a:r>
            </a:p>
          </p:txBody>
        </p:sp>
      </p:grpSp>
      <p:grpSp>
        <p:nvGrpSpPr>
          <p:cNvPr name="Group 72" id="72"/>
          <p:cNvGrpSpPr/>
          <p:nvPr/>
        </p:nvGrpSpPr>
        <p:grpSpPr>
          <a:xfrm rot="0">
            <a:off x="960120" y="7680960"/>
            <a:ext cx="16322040" cy="548640"/>
            <a:chOff x="0" y="0"/>
            <a:chExt cx="21762720" cy="731520"/>
          </a:xfrm>
        </p:grpSpPr>
        <p:sp>
          <p:nvSpPr>
            <p:cNvPr name="Freeform 73" id="73"/>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74" id="74"/>
            <p:cNvSpPr txBox="true"/>
            <p:nvPr/>
          </p:nvSpPr>
          <p:spPr>
            <a:xfrm>
              <a:off x="0" y="-47625"/>
              <a:ext cx="21762720" cy="779145"/>
            </a:xfrm>
            <a:prstGeom prst="rect">
              <a:avLst/>
            </a:prstGeom>
          </p:spPr>
          <p:txBody>
            <a:bodyPr anchor="ctr" rtlCol="false" tIns="0" lIns="0" bIns="0" rIns="0"/>
            <a:lstStyle/>
            <a:p>
              <a:pPr algn="l">
                <a:lnSpc>
                  <a:spcPts val="2520"/>
                </a:lnSpc>
              </a:pPr>
              <a:r>
                <a:rPr lang="en-US" sz="2100" i="true">
                  <a:solidFill>
                    <a:srgbClr val="6B6B70"/>
                  </a:solidFill>
                  <a:latin typeface="Calibri (MS) Italics"/>
                  <a:ea typeface="Calibri (MS) Italics"/>
                  <a:cs typeface="Calibri (MS) Italics"/>
                  <a:sym typeface="Calibri (MS) Italics"/>
                </a:rPr>
                <a:t>The agent negotiated it. The manager approves it. The model only writes down what was already said.</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COMPLIANCE</a:t>
              </a:r>
            </a:p>
          </p:txBody>
        </p:sp>
      </p:grpSp>
      <p:grpSp>
        <p:nvGrpSpPr>
          <p:cNvPr name="Group 5" id="5"/>
          <p:cNvGrpSpPr/>
          <p:nvPr/>
        </p:nvGrpSpPr>
        <p:grpSpPr>
          <a:xfrm rot="0">
            <a:off x="960120"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Where the design defence holds, and where it does not</a:t>
              </a:r>
            </a:p>
          </p:txBody>
        </p:sp>
      </p:grpSp>
      <p:grpSp>
        <p:nvGrpSpPr>
          <p:cNvPr name="Group 8" id="8"/>
          <p:cNvGrpSpPr/>
          <p:nvPr/>
        </p:nvGrpSpPr>
        <p:grpSpPr>
          <a:xfrm rot="0">
            <a:off x="950595" y="2390775"/>
            <a:ext cx="7974330" cy="5162550"/>
            <a:chOff x="0" y="0"/>
            <a:chExt cx="10632440" cy="6883400"/>
          </a:xfrm>
        </p:grpSpPr>
        <p:sp>
          <p:nvSpPr>
            <p:cNvPr name="Freeform 9" id="9"/>
            <p:cNvSpPr/>
            <p:nvPr/>
          </p:nvSpPr>
          <p:spPr>
            <a:xfrm flipH="false" flipV="false" rot="0">
              <a:off x="0" y="0"/>
              <a:ext cx="10632440" cy="6883400"/>
            </a:xfrm>
            <a:custGeom>
              <a:avLst/>
              <a:gdLst/>
              <a:ahLst/>
              <a:cxnLst/>
              <a:rect r="r" b="b" t="t" l="l"/>
              <a:pathLst>
                <a:path h="6883400" w="10632440">
                  <a:moveTo>
                    <a:pt x="0" y="146812"/>
                  </a:moveTo>
                  <a:cubicBezTo>
                    <a:pt x="0" y="65786"/>
                    <a:pt x="65786" y="0"/>
                    <a:pt x="146812" y="0"/>
                  </a:cubicBezTo>
                  <a:lnTo>
                    <a:pt x="10485628" y="0"/>
                  </a:lnTo>
                  <a:cubicBezTo>
                    <a:pt x="10566654" y="0"/>
                    <a:pt x="10632440" y="65786"/>
                    <a:pt x="10632440" y="146812"/>
                  </a:cubicBezTo>
                  <a:lnTo>
                    <a:pt x="10632440" y="6736588"/>
                  </a:lnTo>
                  <a:cubicBezTo>
                    <a:pt x="10632440" y="6817614"/>
                    <a:pt x="10566654" y="6883400"/>
                    <a:pt x="10485628" y="6883400"/>
                  </a:cubicBezTo>
                  <a:lnTo>
                    <a:pt x="146812" y="6883400"/>
                  </a:lnTo>
                  <a:cubicBezTo>
                    <a:pt x="65786" y="6883400"/>
                    <a:pt x="0" y="6817614"/>
                    <a:pt x="0" y="6736588"/>
                  </a:cubicBezTo>
                  <a:close/>
                </a:path>
              </a:pathLst>
            </a:custGeom>
            <a:solidFill>
              <a:srgbClr val="E8F5EE"/>
            </a:solidFill>
            <a:ln w="19050" cap="sq">
              <a:solidFill>
                <a:srgbClr val="E8F5EE"/>
              </a:solidFill>
              <a:prstDash val="solid"/>
              <a:miter/>
            </a:ln>
          </p:spPr>
        </p:sp>
      </p:grpSp>
      <p:grpSp>
        <p:nvGrpSpPr>
          <p:cNvPr name="Group 10" id="10"/>
          <p:cNvGrpSpPr/>
          <p:nvPr/>
        </p:nvGrpSpPr>
        <p:grpSpPr>
          <a:xfrm rot="0">
            <a:off x="1440180" y="2715768"/>
            <a:ext cx="6995160" cy="411480"/>
            <a:chOff x="0" y="0"/>
            <a:chExt cx="9326880" cy="548640"/>
          </a:xfrm>
        </p:grpSpPr>
        <p:sp>
          <p:nvSpPr>
            <p:cNvPr name="Freeform 11" id="11"/>
            <p:cNvSpPr/>
            <p:nvPr/>
          </p:nvSpPr>
          <p:spPr>
            <a:xfrm flipH="false" flipV="false" rot="0">
              <a:off x="0" y="0"/>
              <a:ext cx="9326880" cy="548640"/>
            </a:xfrm>
            <a:custGeom>
              <a:avLst/>
              <a:gdLst/>
              <a:ahLst/>
              <a:cxnLst/>
              <a:rect r="r" b="b" t="t" l="l"/>
              <a:pathLst>
                <a:path h="548640" w="9326880">
                  <a:moveTo>
                    <a:pt x="0" y="0"/>
                  </a:moveTo>
                  <a:lnTo>
                    <a:pt x="9326880" y="0"/>
                  </a:lnTo>
                  <a:lnTo>
                    <a:pt x="9326880" y="548640"/>
                  </a:lnTo>
                  <a:lnTo>
                    <a:pt x="0" y="548640"/>
                  </a:lnTo>
                  <a:close/>
                </a:path>
              </a:pathLst>
            </a:custGeom>
            <a:blipFill>
              <a:blip r:embed="rId3">
                <a:alphaModFix amt="0"/>
              </a:blip>
              <a:stretch>
                <a:fillRect l="0" t="-281245" r="0" b="-281245"/>
              </a:stretch>
            </a:blipFill>
          </p:spPr>
        </p:sp>
        <p:sp>
          <p:nvSpPr>
            <p:cNvPr name="TextBox 12" id="12"/>
            <p:cNvSpPr txBox="true"/>
            <p:nvPr/>
          </p:nvSpPr>
          <p:spPr>
            <a:xfrm>
              <a:off x="0" y="-38100"/>
              <a:ext cx="9326880" cy="586740"/>
            </a:xfrm>
            <a:prstGeom prst="rect">
              <a:avLst/>
            </a:prstGeom>
          </p:spPr>
          <p:txBody>
            <a:bodyPr anchor="ctr" rtlCol="false" tIns="0" lIns="0" bIns="0" rIns="0"/>
            <a:lstStyle/>
            <a:p>
              <a:pPr algn="l">
                <a:lnSpc>
                  <a:spcPts val="2160"/>
                </a:lnSpc>
              </a:pPr>
              <a:r>
                <a:rPr lang="en-US" b="true" sz="1800" spc="149">
                  <a:solidFill>
                    <a:srgbClr val="0F7B4F"/>
                  </a:solidFill>
                  <a:latin typeface="Calibri (MS) Bold"/>
                  <a:ea typeface="Calibri (MS) Bold"/>
                  <a:cs typeface="Calibri (MS) Bold"/>
                  <a:sym typeface="Calibri (MS) Bold"/>
                </a:rPr>
                <a:t>Workflows 1 and 2</a:t>
              </a:r>
            </a:p>
          </p:txBody>
        </p:sp>
      </p:grpSp>
      <p:grpSp>
        <p:nvGrpSpPr>
          <p:cNvPr name="Group 13" id="13"/>
          <p:cNvGrpSpPr/>
          <p:nvPr/>
        </p:nvGrpSpPr>
        <p:grpSpPr>
          <a:xfrm rot="0">
            <a:off x="1440180" y="3182112"/>
            <a:ext cx="6995160" cy="960120"/>
            <a:chOff x="0" y="0"/>
            <a:chExt cx="9326880" cy="1280160"/>
          </a:xfrm>
        </p:grpSpPr>
        <p:sp>
          <p:nvSpPr>
            <p:cNvPr name="Freeform 14" id="14"/>
            <p:cNvSpPr/>
            <p:nvPr/>
          </p:nvSpPr>
          <p:spPr>
            <a:xfrm flipH="false" flipV="false" rot="0">
              <a:off x="0" y="0"/>
              <a:ext cx="9326880" cy="1280160"/>
            </a:xfrm>
            <a:custGeom>
              <a:avLst/>
              <a:gdLst/>
              <a:ahLst/>
              <a:cxnLst/>
              <a:rect r="r" b="b" t="t" l="l"/>
              <a:pathLst>
                <a:path h="1280160" w="9326880">
                  <a:moveTo>
                    <a:pt x="0" y="0"/>
                  </a:moveTo>
                  <a:lnTo>
                    <a:pt x="9326880" y="0"/>
                  </a:lnTo>
                  <a:lnTo>
                    <a:pt x="9326880" y="1280160"/>
                  </a:lnTo>
                  <a:lnTo>
                    <a:pt x="0" y="1280160"/>
                  </a:lnTo>
                  <a:close/>
                </a:path>
              </a:pathLst>
            </a:custGeom>
            <a:blipFill>
              <a:blip r:embed="rId3">
                <a:alphaModFix amt="0"/>
              </a:blip>
              <a:stretch>
                <a:fillRect l="0" t="-91962" r="0" b="-91962"/>
              </a:stretch>
            </a:blipFill>
          </p:spPr>
        </p:sp>
        <p:sp>
          <p:nvSpPr>
            <p:cNvPr name="TextBox 15" id="15"/>
            <p:cNvSpPr txBox="true"/>
            <p:nvPr/>
          </p:nvSpPr>
          <p:spPr>
            <a:xfrm>
              <a:off x="0" y="-19050"/>
              <a:ext cx="9326880" cy="1299210"/>
            </a:xfrm>
            <a:prstGeom prst="rect">
              <a:avLst/>
            </a:prstGeom>
          </p:spPr>
          <p:txBody>
            <a:bodyPr anchor="ctr" rtlCol="false" tIns="0" lIns="0" bIns="0" rIns="0"/>
            <a:lstStyle/>
            <a:p>
              <a:pPr algn="l">
                <a:lnSpc>
                  <a:spcPts val="4049"/>
                </a:lnSpc>
              </a:pPr>
              <a:r>
                <a:rPr lang="en-US" sz="3300" b="true">
                  <a:solidFill>
                    <a:srgbClr val="0F7B4F"/>
                  </a:solidFill>
                  <a:latin typeface="Cambria Bold"/>
                  <a:ea typeface="Cambria Bold"/>
                  <a:cs typeface="Cambria Bold"/>
                  <a:sym typeface="Cambria Bold"/>
                </a:rPr>
                <a:t>The model sees no personal data</a:t>
              </a:r>
            </a:p>
          </p:txBody>
        </p:sp>
      </p:grpSp>
      <p:grpSp>
        <p:nvGrpSpPr>
          <p:cNvPr name="Group 16" id="16"/>
          <p:cNvGrpSpPr/>
          <p:nvPr/>
        </p:nvGrpSpPr>
        <p:grpSpPr>
          <a:xfrm rot="0">
            <a:off x="1440180" y="4251960"/>
            <a:ext cx="6995160" cy="3017520"/>
            <a:chOff x="0" y="0"/>
            <a:chExt cx="9326880" cy="4023360"/>
          </a:xfrm>
        </p:grpSpPr>
        <p:sp>
          <p:nvSpPr>
            <p:cNvPr name="Freeform 17" id="17"/>
            <p:cNvSpPr/>
            <p:nvPr/>
          </p:nvSpPr>
          <p:spPr>
            <a:xfrm flipH="false" flipV="false" rot="0">
              <a:off x="0" y="0"/>
              <a:ext cx="9326880" cy="4023360"/>
            </a:xfrm>
            <a:custGeom>
              <a:avLst/>
              <a:gdLst/>
              <a:ahLst/>
              <a:cxnLst/>
              <a:rect r="r" b="b" t="t" l="l"/>
              <a:pathLst>
                <a:path h="4023360" w="9326880">
                  <a:moveTo>
                    <a:pt x="0" y="0"/>
                  </a:moveTo>
                  <a:lnTo>
                    <a:pt x="9326880" y="0"/>
                  </a:lnTo>
                  <a:lnTo>
                    <a:pt x="9326880" y="4023360"/>
                  </a:lnTo>
                  <a:lnTo>
                    <a:pt x="0" y="4023360"/>
                  </a:lnTo>
                  <a:close/>
                </a:path>
              </a:pathLst>
            </a:custGeom>
            <a:blipFill>
              <a:blip r:embed="rId3">
                <a:alphaModFix amt="0"/>
              </a:blip>
              <a:stretch>
                <a:fillRect l="-5346" t="0" r="-5346" b="0"/>
              </a:stretch>
            </a:blipFill>
          </p:spPr>
        </p:sp>
        <p:sp>
          <p:nvSpPr>
            <p:cNvPr name="TextBox 18" id="18"/>
            <p:cNvSpPr txBox="true"/>
            <p:nvPr/>
          </p:nvSpPr>
          <p:spPr>
            <a:xfrm>
              <a:off x="0" y="-66675"/>
              <a:ext cx="9326880" cy="4090035"/>
            </a:xfrm>
            <a:prstGeom prst="rect">
              <a:avLst/>
            </a:prstGeom>
          </p:spPr>
          <p:txBody>
            <a:bodyPr anchor="ctr" rtlCol="false" tIns="0" lIns="0" bIns="0" rIns="0"/>
            <a:lstStyle/>
            <a:p>
              <a:pPr algn="l" marL="352901" indent="-176451" lvl="1">
                <a:lnSpc>
                  <a:spcPts val="2549"/>
                </a:lnSpc>
                <a:buFont typeface="Arial"/>
                <a:buChar char="•"/>
              </a:pPr>
              <a:r>
                <a:rPr lang="en-US" sz="1950">
                  <a:solidFill>
                    <a:srgbClr val="1C1C1E"/>
                  </a:solidFill>
                  <a:latin typeface="Calibri (MS)"/>
                  <a:ea typeface="Calibri (MS)"/>
                  <a:cs typeface="Calibri (MS)"/>
                  <a:sym typeface="Calibri (MS)"/>
                </a:rPr>
                <a:t>Names discarded at ingestion, references hashed per run</a:t>
              </a:r>
            </a:p>
            <a:p>
              <a:pPr algn="l" marL="352901" indent="-176451" lvl="1">
                <a:lnSpc>
                  <a:spcPts val="2549"/>
                </a:lnSpc>
                <a:buFont typeface="Arial"/>
                <a:buChar char="•"/>
              </a:pPr>
              <a:r>
                <a:rPr lang="en-US" sz="1950">
                  <a:solidFill>
                    <a:srgbClr val="1C1C1E"/>
                  </a:solidFill>
                  <a:latin typeface="Calibri (MS)"/>
                  <a:ea typeface="Calibri (MS)"/>
                  <a:cs typeface="Calibri (MS)"/>
                  <a:sym typeface="Calibri (MS)"/>
                </a:rPr>
                <a:t>Payload built field by field from an allow list</a:t>
              </a:r>
            </a:p>
            <a:p>
              <a:pPr algn="l" marL="352901" indent="-176451" lvl="1">
                <a:lnSpc>
                  <a:spcPts val="2549"/>
                </a:lnSpc>
                <a:buFont typeface="Arial"/>
                <a:buChar char="•"/>
              </a:pPr>
              <a:r>
                <a:rPr lang="en-US" sz="1950">
                  <a:solidFill>
                    <a:srgbClr val="1C1C1E"/>
                  </a:solidFill>
                  <a:latin typeface="Calibri (MS)"/>
                  <a:ea typeface="Calibri (MS)"/>
                  <a:cs typeface="Calibri (MS)"/>
                  <a:sym typeface="Calibri (MS)"/>
                </a:rPr>
                <a:t>Fail closed privacy guard throws on any identifier</a:t>
              </a:r>
            </a:p>
            <a:p>
              <a:pPr algn="l" marL="352901" indent="-176451" lvl="1">
                <a:lnSpc>
                  <a:spcPts val="2549"/>
                </a:lnSpc>
                <a:buFont typeface="Arial"/>
                <a:buChar char="•"/>
              </a:pPr>
              <a:r>
                <a:rPr lang="en-US" sz="1950">
                  <a:solidFill>
                    <a:srgbClr val="1C1C1E"/>
                  </a:solidFill>
                  <a:latin typeface="Calibri (MS)"/>
                  <a:ea typeface="Calibri (MS)"/>
                  <a:cs typeface="Calibri (MS)"/>
                  <a:sym typeface="Calibri (MS)"/>
                </a:rPr>
                <a:t>No Chapter V transfer engaged for the model call</a:t>
              </a:r>
            </a:p>
          </p:txBody>
        </p:sp>
      </p:grpSp>
      <p:grpSp>
        <p:nvGrpSpPr>
          <p:cNvPr name="Group 19" id="19"/>
          <p:cNvGrpSpPr/>
          <p:nvPr/>
        </p:nvGrpSpPr>
        <p:grpSpPr>
          <a:xfrm rot="0">
            <a:off x="9358503" y="2390775"/>
            <a:ext cx="7974330" cy="5162550"/>
            <a:chOff x="0" y="0"/>
            <a:chExt cx="10632440" cy="6883400"/>
          </a:xfrm>
        </p:grpSpPr>
        <p:sp>
          <p:nvSpPr>
            <p:cNvPr name="Freeform 20" id="20"/>
            <p:cNvSpPr/>
            <p:nvPr/>
          </p:nvSpPr>
          <p:spPr>
            <a:xfrm flipH="false" flipV="false" rot="0">
              <a:off x="0" y="0"/>
              <a:ext cx="10632440" cy="6883400"/>
            </a:xfrm>
            <a:custGeom>
              <a:avLst/>
              <a:gdLst/>
              <a:ahLst/>
              <a:cxnLst/>
              <a:rect r="r" b="b" t="t" l="l"/>
              <a:pathLst>
                <a:path h="6883400" w="10632440">
                  <a:moveTo>
                    <a:pt x="0" y="146812"/>
                  </a:moveTo>
                  <a:cubicBezTo>
                    <a:pt x="0" y="65786"/>
                    <a:pt x="65786" y="0"/>
                    <a:pt x="146812" y="0"/>
                  </a:cubicBezTo>
                  <a:lnTo>
                    <a:pt x="10485628" y="0"/>
                  </a:lnTo>
                  <a:cubicBezTo>
                    <a:pt x="10566654" y="0"/>
                    <a:pt x="10632440" y="65786"/>
                    <a:pt x="10632440" y="146812"/>
                  </a:cubicBezTo>
                  <a:lnTo>
                    <a:pt x="10632440" y="6736588"/>
                  </a:lnTo>
                  <a:cubicBezTo>
                    <a:pt x="10632440" y="6817614"/>
                    <a:pt x="10566654" y="6883400"/>
                    <a:pt x="10485628" y="6883400"/>
                  </a:cubicBezTo>
                  <a:lnTo>
                    <a:pt x="146812" y="6883400"/>
                  </a:lnTo>
                  <a:cubicBezTo>
                    <a:pt x="65786" y="6883400"/>
                    <a:pt x="0" y="6817614"/>
                    <a:pt x="0" y="6736588"/>
                  </a:cubicBezTo>
                  <a:close/>
                </a:path>
              </a:pathLst>
            </a:custGeom>
            <a:solidFill>
              <a:srgbClr val="FDF3E2"/>
            </a:solidFill>
            <a:ln w="19050" cap="sq">
              <a:solidFill>
                <a:srgbClr val="FDF3E2"/>
              </a:solidFill>
              <a:prstDash val="solid"/>
              <a:miter/>
            </a:ln>
          </p:spPr>
        </p:sp>
      </p:grpSp>
      <p:grpSp>
        <p:nvGrpSpPr>
          <p:cNvPr name="Group 21" id="21"/>
          <p:cNvGrpSpPr/>
          <p:nvPr/>
        </p:nvGrpSpPr>
        <p:grpSpPr>
          <a:xfrm rot="0">
            <a:off x="9848088" y="2715768"/>
            <a:ext cx="6995160" cy="411480"/>
            <a:chOff x="0" y="0"/>
            <a:chExt cx="9326880" cy="548640"/>
          </a:xfrm>
        </p:grpSpPr>
        <p:sp>
          <p:nvSpPr>
            <p:cNvPr name="Freeform 22" id="22"/>
            <p:cNvSpPr/>
            <p:nvPr/>
          </p:nvSpPr>
          <p:spPr>
            <a:xfrm flipH="false" flipV="false" rot="0">
              <a:off x="0" y="0"/>
              <a:ext cx="9326880" cy="548640"/>
            </a:xfrm>
            <a:custGeom>
              <a:avLst/>
              <a:gdLst/>
              <a:ahLst/>
              <a:cxnLst/>
              <a:rect r="r" b="b" t="t" l="l"/>
              <a:pathLst>
                <a:path h="548640" w="9326880">
                  <a:moveTo>
                    <a:pt x="0" y="0"/>
                  </a:moveTo>
                  <a:lnTo>
                    <a:pt x="9326880" y="0"/>
                  </a:lnTo>
                  <a:lnTo>
                    <a:pt x="9326880" y="548640"/>
                  </a:lnTo>
                  <a:lnTo>
                    <a:pt x="0" y="548640"/>
                  </a:lnTo>
                  <a:close/>
                </a:path>
              </a:pathLst>
            </a:custGeom>
            <a:blipFill>
              <a:blip r:embed="rId3">
                <a:alphaModFix amt="0"/>
              </a:blip>
              <a:stretch>
                <a:fillRect l="0" t="-281245" r="0" b="-281245"/>
              </a:stretch>
            </a:blipFill>
          </p:spPr>
        </p:sp>
        <p:sp>
          <p:nvSpPr>
            <p:cNvPr name="TextBox 23" id="23"/>
            <p:cNvSpPr txBox="true"/>
            <p:nvPr/>
          </p:nvSpPr>
          <p:spPr>
            <a:xfrm>
              <a:off x="0" y="-38100"/>
              <a:ext cx="9326880" cy="586740"/>
            </a:xfrm>
            <a:prstGeom prst="rect">
              <a:avLst/>
            </a:prstGeom>
          </p:spPr>
          <p:txBody>
            <a:bodyPr anchor="ctr" rtlCol="false" tIns="0" lIns="0" bIns="0" rIns="0"/>
            <a:lstStyle/>
            <a:p>
              <a:pPr algn="l">
                <a:lnSpc>
                  <a:spcPts val="2160"/>
                </a:lnSpc>
              </a:pPr>
              <a:r>
                <a:rPr lang="en-US" b="true" sz="1800" spc="149">
                  <a:solidFill>
                    <a:srgbClr val="A15C00"/>
                  </a:solidFill>
                  <a:latin typeface="Calibri (MS) Bold"/>
                  <a:ea typeface="Calibri (MS) Bold"/>
                  <a:cs typeface="Calibri (MS) Bold"/>
                  <a:sym typeface="Calibri (MS) Bold"/>
                </a:rPr>
                <a:t>Workflow 3</a:t>
              </a:r>
            </a:p>
          </p:txBody>
        </p:sp>
      </p:grpSp>
      <p:grpSp>
        <p:nvGrpSpPr>
          <p:cNvPr name="Group 24" id="24"/>
          <p:cNvGrpSpPr/>
          <p:nvPr/>
        </p:nvGrpSpPr>
        <p:grpSpPr>
          <a:xfrm rot="0">
            <a:off x="9848088" y="3182112"/>
            <a:ext cx="6995160" cy="960120"/>
            <a:chOff x="0" y="0"/>
            <a:chExt cx="9326880" cy="1280160"/>
          </a:xfrm>
        </p:grpSpPr>
        <p:sp>
          <p:nvSpPr>
            <p:cNvPr name="Freeform 25" id="25"/>
            <p:cNvSpPr/>
            <p:nvPr/>
          </p:nvSpPr>
          <p:spPr>
            <a:xfrm flipH="false" flipV="false" rot="0">
              <a:off x="0" y="0"/>
              <a:ext cx="9326880" cy="1280160"/>
            </a:xfrm>
            <a:custGeom>
              <a:avLst/>
              <a:gdLst/>
              <a:ahLst/>
              <a:cxnLst/>
              <a:rect r="r" b="b" t="t" l="l"/>
              <a:pathLst>
                <a:path h="1280160" w="9326880">
                  <a:moveTo>
                    <a:pt x="0" y="0"/>
                  </a:moveTo>
                  <a:lnTo>
                    <a:pt x="9326880" y="0"/>
                  </a:lnTo>
                  <a:lnTo>
                    <a:pt x="9326880" y="1280160"/>
                  </a:lnTo>
                  <a:lnTo>
                    <a:pt x="0" y="1280160"/>
                  </a:lnTo>
                  <a:close/>
                </a:path>
              </a:pathLst>
            </a:custGeom>
            <a:blipFill>
              <a:blip r:embed="rId3">
                <a:alphaModFix amt="0"/>
              </a:blip>
              <a:stretch>
                <a:fillRect l="0" t="-91962" r="0" b="-91962"/>
              </a:stretch>
            </a:blipFill>
          </p:spPr>
        </p:sp>
        <p:sp>
          <p:nvSpPr>
            <p:cNvPr name="TextBox 26" id="26"/>
            <p:cNvSpPr txBox="true"/>
            <p:nvPr/>
          </p:nvSpPr>
          <p:spPr>
            <a:xfrm>
              <a:off x="0" y="-19050"/>
              <a:ext cx="9326880" cy="1299210"/>
            </a:xfrm>
            <a:prstGeom prst="rect">
              <a:avLst/>
            </a:prstGeom>
          </p:spPr>
          <p:txBody>
            <a:bodyPr anchor="ctr" rtlCol="false" tIns="0" lIns="0" bIns="0" rIns="0"/>
            <a:lstStyle/>
            <a:p>
              <a:pPr algn="l">
                <a:lnSpc>
                  <a:spcPts val="4049"/>
                </a:lnSpc>
              </a:pPr>
              <a:r>
                <a:rPr lang="en-US" sz="3300" b="true">
                  <a:solidFill>
                    <a:srgbClr val="A15C00"/>
                  </a:solidFill>
                  <a:latin typeface="Cambria Bold"/>
                  <a:ea typeface="Cambria Bold"/>
                  <a:cs typeface="Cambria Bold"/>
                  <a:sym typeface="Cambria Bold"/>
                </a:rPr>
                <a:t>The model does see personal data</a:t>
              </a:r>
            </a:p>
          </p:txBody>
        </p:sp>
      </p:grpSp>
      <p:grpSp>
        <p:nvGrpSpPr>
          <p:cNvPr name="Group 27" id="27"/>
          <p:cNvGrpSpPr/>
          <p:nvPr/>
        </p:nvGrpSpPr>
        <p:grpSpPr>
          <a:xfrm rot="0">
            <a:off x="9848088" y="4251960"/>
            <a:ext cx="6995160" cy="3017520"/>
            <a:chOff x="0" y="0"/>
            <a:chExt cx="9326880" cy="4023360"/>
          </a:xfrm>
        </p:grpSpPr>
        <p:sp>
          <p:nvSpPr>
            <p:cNvPr name="Freeform 28" id="28"/>
            <p:cNvSpPr/>
            <p:nvPr/>
          </p:nvSpPr>
          <p:spPr>
            <a:xfrm flipH="false" flipV="false" rot="0">
              <a:off x="0" y="0"/>
              <a:ext cx="9326880" cy="4023360"/>
            </a:xfrm>
            <a:custGeom>
              <a:avLst/>
              <a:gdLst/>
              <a:ahLst/>
              <a:cxnLst/>
              <a:rect r="r" b="b" t="t" l="l"/>
              <a:pathLst>
                <a:path h="4023360" w="9326880">
                  <a:moveTo>
                    <a:pt x="0" y="0"/>
                  </a:moveTo>
                  <a:lnTo>
                    <a:pt x="9326880" y="0"/>
                  </a:lnTo>
                  <a:lnTo>
                    <a:pt x="9326880" y="4023360"/>
                  </a:lnTo>
                  <a:lnTo>
                    <a:pt x="0" y="4023360"/>
                  </a:lnTo>
                  <a:close/>
                </a:path>
              </a:pathLst>
            </a:custGeom>
            <a:blipFill>
              <a:blip r:embed="rId3">
                <a:alphaModFix amt="0"/>
              </a:blip>
              <a:stretch>
                <a:fillRect l="-5346" t="0" r="-5346" b="0"/>
              </a:stretch>
            </a:blipFill>
          </p:spPr>
        </p:sp>
        <p:sp>
          <p:nvSpPr>
            <p:cNvPr name="TextBox 29" id="29"/>
            <p:cNvSpPr txBox="true"/>
            <p:nvPr/>
          </p:nvSpPr>
          <p:spPr>
            <a:xfrm>
              <a:off x="0" y="-66675"/>
              <a:ext cx="9326880" cy="4090035"/>
            </a:xfrm>
            <a:prstGeom prst="rect">
              <a:avLst/>
            </a:prstGeom>
          </p:spPr>
          <p:txBody>
            <a:bodyPr anchor="ctr" rtlCol="false" tIns="0" lIns="0" bIns="0" rIns="0"/>
            <a:lstStyle/>
            <a:p>
              <a:pPr algn="l" marL="352901" indent="-176451" lvl="1">
                <a:lnSpc>
                  <a:spcPts val="2549"/>
                </a:lnSpc>
                <a:buFont typeface="Arial"/>
                <a:buChar char="•"/>
              </a:pPr>
              <a:r>
                <a:rPr lang="en-US" sz="1950">
                  <a:solidFill>
                    <a:srgbClr val="1C1C1E"/>
                  </a:solidFill>
                  <a:latin typeface="Calibri (MS)"/>
                  <a:ea typeface="Calibri (MS)"/>
                  <a:cs typeface="Calibri (MS)"/>
                  <a:sym typeface="Calibri (MS)"/>
                </a:rPr>
                <a:t>Data subjects are the ops agent and the hotel staff, never a passenger</a:t>
              </a:r>
            </a:p>
            <a:p>
              <a:pPr algn="l" marL="352901" indent="-176451" lvl="1">
                <a:lnSpc>
                  <a:spcPts val="2549"/>
                </a:lnSpc>
                <a:buFont typeface="Arial"/>
                <a:buChar char="•"/>
              </a:pPr>
              <a:r>
                <a:rPr lang="en-US" sz="1950">
                  <a:solidFill>
                    <a:srgbClr val="1C1C1E"/>
                  </a:solidFill>
                  <a:latin typeface="Calibri (MS)"/>
                  <a:ea typeface="Calibri (MS)"/>
                  <a:cs typeface="Calibri (MS)"/>
                  <a:sym typeface="Calibri (MS)"/>
                </a:rPr>
                <a:t>Real transfer to the United States under standard contractual clauses</a:t>
              </a:r>
            </a:p>
            <a:p>
              <a:pPr algn="l" marL="352901" indent="-176451" lvl="1">
                <a:lnSpc>
                  <a:spcPts val="2549"/>
                </a:lnSpc>
                <a:buFont typeface="Arial"/>
                <a:buChar char="•"/>
              </a:pPr>
              <a:r>
                <a:rPr lang="en-US" sz="1950">
                  <a:solidFill>
                    <a:srgbClr val="1C1C1E"/>
                  </a:solidFill>
                  <a:latin typeface="Calibri (MS)"/>
                  <a:ea typeface="Calibri (MS)"/>
                  <a:cs typeface="Calibri (MS)"/>
                  <a:sym typeface="Calibri (MS)"/>
                </a:rPr>
                <a:t>Notification at the start of the call, all party consent as the ceiling</a:t>
              </a:r>
            </a:p>
            <a:p>
              <a:pPr algn="l" marL="352901" indent="-176451" lvl="1">
                <a:lnSpc>
                  <a:spcPts val="2549"/>
                </a:lnSpc>
                <a:buFont typeface="Arial"/>
                <a:buChar char="•"/>
              </a:pPr>
              <a:r>
                <a:rPr lang="en-US" sz="1950">
                  <a:solidFill>
                    <a:srgbClr val="1C1C1E"/>
                  </a:solidFill>
                  <a:latin typeface="Calibri (MS)"/>
                  <a:ea typeface="Calibri (MS)"/>
                  <a:cs typeface="Calibri (MS)"/>
                  <a:sym typeface="Calibri (MS)"/>
                </a:rPr>
                <a:t>Works council agreement required in Germany before go live</a:t>
              </a:r>
            </a:p>
          </p:txBody>
        </p:sp>
      </p:grpSp>
      <p:grpSp>
        <p:nvGrpSpPr>
          <p:cNvPr name="Group 30" id="30"/>
          <p:cNvGrpSpPr/>
          <p:nvPr/>
        </p:nvGrpSpPr>
        <p:grpSpPr>
          <a:xfrm rot="0">
            <a:off x="960120" y="7886700"/>
            <a:ext cx="16322040" cy="960120"/>
            <a:chOff x="0" y="0"/>
            <a:chExt cx="21762720" cy="1280160"/>
          </a:xfrm>
        </p:grpSpPr>
        <p:sp>
          <p:nvSpPr>
            <p:cNvPr name="Freeform 31" id="31"/>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32" id="32"/>
            <p:cNvSpPr txBox="true"/>
            <p:nvPr/>
          </p:nvSpPr>
          <p:spPr>
            <a:xfrm>
              <a:off x="0" y="-76200"/>
              <a:ext cx="21762720" cy="1356360"/>
            </a:xfrm>
            <a:prstGeom prst="rect">
              <a:avLst/>
            </a:prstGeom>
          </p:spPr>
          <p:txBody>
            <a:bodyPr anchor="ctr" rtlCol="false" tIns="0" lIns="0" bIns="0" rIns="0"/>
            <a:lstStyle/>
            <a:p>
              <a:pPr algn="l">
                <a:lnSpc>
                  <a:spcPts val="2850"/>
                </a:lnSpc>
              </a:pPr>
              <a:r>
                <a:rPr lang="en-US" sz="2025">
                  <a:solidFill>
                    <a:srgbClr val="1C1C1E"/>
                  </a:solidFill>
                  <a:latin typeface="Calibri (MS)"/>
                  <a:ea typeface="Calibri (MS)"/>
                  <a:cs typeface="Calibri (MS)"/>
                  <a:sym typeface="Calibri (MS)"/>
                </a:rPr>
                <a:t>Not high risk under the AI Act, and the reason is design, not low stakes: no automated decision has legal effect on anyone. The moment it books, pays or scores an employee, the classification is rewritten.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576072"/>
            <a:ext cx="13716000" cy="384048"/>
            <a:chOff x="0" y="0"/>
            <a:chExt cx="18288000" cy="512064"/>
          </a:xfrm>
        </p:grpSpPr>
        <p:sp>
          <p:nvSpPr>
            <p:cNvPr name="Freeform 3" id="3"/>
            <p:cNvSpPr/>
            <p:nvPr/>
          </p:nvSpPr>
          <p:spPr>
            <a:xfrm flipH="false" flipV="false" rot="0">
              <a:off x="0" y="0"/>
              <a:ext cx="18288000" cy="512064"/>
            </a:xfrm>
            <a:custGeom>
              <a:avLst/>
              <a:gdLst/>
              <a:ahLst/>
              <a:cxnLst/>
              <a:rect r="r" b="b" t="t" l="l"/>
              <a:pathLst>
                <a:path h="512064" w="18288000">
                  <a:moveTo>
                    <a:pt x="0" y="0"/>
                  </a:moveTo>
                  <a:lnTo>
                    <a:pt x="18288000" y="0"/>
                  </a:lnTo>
                  <a:lnTo>
                    <a:pt x="18288000" y="512064"/>
                  </a:lnTo>
                  <a:lnTo>
                    <a:pt x="0" y="512064"/>
                  </a:lnTo>
                  <a:close/>
                </a:path>
              </a:pathLst>
            </a:custGeom>
            <a:blipFill>
              <a:blip r:embed="rId3">
                <a:alphaModFix amt="0"/>
              </a:blip>
              <a:stretch>
                <a:fillRect l="0" t="-645894" r="0" b="-645894"/>
              </a:stretch>
            </a:blipFill>
          </p:spPr>
        </p:sp>
        <p:sp>
          <p:nvSpPr>
            <p:cNvPr name="TextBox 4" id="4"/>
            <p:cNvSpPr txBox="true"/>
            <p:nvPr/>
          </p:nvSpPr>
          <p:spPr>
            <a:xfrm>
              <a:off x="0" y="-28575"/>
              <a:ext cx="18288000" cy="540639"/>
            </a:xfrm>
            <a:prstGeom prst="rect">
              <a:avLst/>
            </a:prstGeom>
          </p:spPr>
          <p:txBody>
            <a:bodyPr anchor="ctr" rtlCol="false" tIns="0" lIns="0" bIns="0" rIns="0"/>
            <a:lstStyle/>
            <a:p>
              <a:pPr algn="l">
                <a:lnSpc>
                  <a:spcPts val="1980"/>
                </a:lnSpc>
              </a:pPr>
              <a:r>
                <a:rPr lang="en-US" b="true" sz="1650" spc="299">
                  <a:solidFill>
                    <a:srgbClr val="29528F"/>
                  </a:solidFill>
                  <a:latin typeface="Calibri (MS) Bold"/>
                  <a:ea typeface="Calibri (MS) Bold"/>
                  <a:cs typeface="Calibri (MS) Bold"/>
                  <a:sym typeface="Calibri (MS) Bold"/>
                </a:rPr>
                <a:t>WHAT IT COSTS TO RUN</a:t>
              </a:r>
            </a:p>
          </p:txBody>
        </p:sp>
      </p:grpSp>
      <p:grpSp>
        <p:nvGrpSpPr>
          <p:cNvPr name="Group 5" id="5"/>
          <p:cNvGrpSpPr/>
          <p:nvPr/>
        </p:nvGrpSpPr>
        <p:grpSpPr>
          <a:xfrm rot="0">
            <a:off x="960120" y="987552"/>
            <a:ext cx="16363188" cy="960120"/>
            <a:chOff x="0" y="0"/>
            <a:chExt cx="21817584" cy="1280160"/>
          </a:xfrm>
        </p:grpSpPr>
        <p:sp>
          <p:nvSpPr>
            <p:cNvPr name="Freeform 6" id="6"/>
            <p:cNvSpPr/>
            <p:nvPr/>
          </p:nvSpPr>
          <p:spPr>
            <a:xfrm flipH="false" flipV="false" rot="0">
              <a:off x="0" y="0"/>
              <a:ext cx="21817585" cy="1280160"/>
            </a:xfrm>
            <a:custGeom>
              <a:avLst/>
              <a:gdLst/>
              <a:ahLst/>
              <a:cxnLst/>
              <a:rect r="r" b="b" t="t" l="l"/>
              <a:pathLst>
                <a:path h="1280160" w="21817585">
                  <a:moveTo>
                    <a:pt x="0" y="0"/>
                  </a:moveTo>
                  <a:lnTo>
                    <a:pt x="21817585" y="0"/>
                  </a:lnTo>
                  <a:lnTo>
                    <a:pt x="21817585" y="1280160"/>
                  </a:lnTo>
                  <a:lnTo>
                    <a:pt x="0" y="1280160"/>
                  </a:lnTo>
                  <a:close/>
                </a:path>
              </a:pathLst>
            </a:custGeom>
            <a:blipFill>
              <a:blip r:embed="rId3">
                <a:alphaModFix amt="0"/>
              </a:blip>
              <a:stretch>
                <a:fillRect l="0" t="-282080" r="0" b="-282080"/>
              </a:stretch>
            </a:blipFill>
          </p:spPr>
        </p:sp>
        <p:sp>
          <p:nvSpPr>
            <p:cNvPr name="TextBox 7" id="7"/>
            <p:cNvSpPr txBox="true"/>
            <p:nvPr/>
          </p:nvSpPr>
          <p:spPr>
            <a:xfrm>
              <a:off x="0" y="-9525"/>
              <a:ext cx="21817584" cy="1289685"/>
            </a:xfrm>
            <a:prstGeom prst="rect">
              <a:avLst/>
            </a:prstGeom>
          </p:spPr>
          <p:txBody>
            <a:bodyPr anchor="ctr" rtlCol="false" tIns="0" lIns="0" bIns="0" rIns="0"/>
            <a:lstStyle/>
            <a:p>
              <a:pPr algn="l">
                <a:lnSpc>
                  <a:spcPts val="6120"/>
                </a:lnSpc>
              </a:pPr>
              <a:r>
                <a:rPr lang="en-US" sz="5100" b="true">
                  <a:solidFill>
                    <a:srgbClr val="1C1C1E"/>
                  </a:solidFill>
                  <a:latin typeface="Cambria Bold"/>
                  <a:ea typeface="Cambria Bold"/>
                  <a:cs typeface="Cambria Bold"/>
                  <a:sym typeface="Cambria Bold"/>
                </a:rPr>
                <a:t>The technology is a rounding error</a:t>
              </a:r>
            </a:p>
          </p:txBody>
        </p:sp>
      </p:grpSp>
      <p:grpSp>
        <p:nvGrpSpPr>
          <p:cNvPr name="Group 8" id="8"/>
          <p:cNvGrpSpPr/>
          <p:nvPr/>
        </p:nvGrpSpPr>
        <p:grpSpPr>
          <a:xfrm rot="0">
            <a:off x="960120" y="2359152"/>
            <a:ext cx="10149840" cy="411480"/>
            <a:chOff x="0" y="0"/>
            <a:chExt cx="13533120" cy="548640"/>
          </a:xfrm>
        </p:grpSpPr>
        <p:sp>
          <p:nvSpPr>
            <p:cNvPr name="Freeform 9" id="9"/>
            <p:cNvSpPr/>
            <p:nvPr/>
          </p:nvSpPr>
          <p:spPr>
            <a:xfrm flipH="false" flipV="false" rot="0">
              <a:off x="0" y="0"/>
              <a:ext cx="13533120" cy="548640"/>
            </a:xfrm>
            <a:custGeom>
              <a:avLst/>
              <a:gdLst/>
              <a:ahLst/>
              <a:cxnLst/>
              <a:rect r="r" b="b" t="t" l="l"/>
              <a:pathLst>
                <a:path h="548640" w="13533120">
                  <a:moveTo>
                    <a:pt x="0" y="0"/>
                  </a:moveTo>
                  <a:lnTo>
                    <a:pt x="13533120" y="0"/>
                  </a:lnTo>
                  <a:lnTo>
                    <a:pt x="13533120" y="548640"/>
                  </a:lnTo>
                  <a:lnTo>
                    <a:pt x="0" y="548640"/>
                  </a:lnTo>
                  <a:close/>
                </a:path>
              </a:pathLst>
            </a:custGeom>
            <a:blipFill>
              <a:blip r:embed="rId3">
                <a:alphaModFix amt="0"/>
              </a:blip>
              <a:stretch>
                <a:fillRect l="0" t="-430630" r="0" b="-430630"/>
              </a:stretch>
            </a:blipFill>
          </p:spPr>
        </p:sp>
        <p:sp>
          <p:nvSpPr>
            <p:cNvPr name="TextBox 10" id="10"/>
            <p:cNvSpPr txBox="true"/>
            <p:nvPr/>
          </p:nvSpPr>
          <p:spPr>
            <a:xfrm>
              <a:off x="0" y="-47625"/>
              <a:ext cx="13533120" cy="596265"/>
            </a:xfrm>
            <a:prstGeom prst="rect">
              <a:avLst/>
            </a:prstGeom>
          </p:spPr>
          <p:txBody>
            <a:bodyPr anchor="ctr" rtlCol="false" tIns="0" lIns="0" bIns="0" rIns="0"/>
            <a:lstStyle/>
            <a:p>
              <a:pPr algn="l">
                <a:lnSpc>
                  <a:spcPts val="2340"/>
                </a:lnSpc>
              </a:pPr>
              <a:r>
                <a:rPr lang="en-US" b="true" sz="1950" spc="150">
                  <a:solidFill>
                    <a:srgbClr val="6B6B70"/>
                  </a:solidFill>
                  <a:latin typeface="Calibri (MS) Bold"/>
                  <a:ea typeface="Calibri (MS) Bold"/>
                  <a:cs typeface="Calibri (MS) Bold"/>
                  <a:sym typeface="Calibri (MS) Bold"/>
                </a:rPr>
                <a:t>Measured per incident</a:t>
              </a:r>
            </a:p>
          </p:txBody>
        </p:sp>
      </p:grpSp>
      <p:graphicFrame>
        <p:nvGraphicFramePr>
          <p:cNvPr name="Table 11" id="11"/>
          <p:cNvGraphicFramePr>
            <a:graphicFrameLocks noGrp="true"/>
          </p:cNvGraphicFramePr>
          <p:nvPr/>
        </p:nvGraphicFramePr>
        <p:xfrm>
          <a:off x="960120" y="2852928"/>
          <a:ext cx="10115550" cy="3143250"/>
        </p:xfrm>
        <a:graphic>
          <a:graphicData uri="http://schemas.openxmlformats.org/drawingml/2006/table">
            <a:tbl>
              <a:tblPr/>
              <a:tblGrid>
                <a:gridCol w="5174175"/>
                <a:gridCol w="2470687"/>
                <a:gridCol w="2470687"/>
              </a:tblGrid>
              <a:tr h="628650">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Workflow</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1B2A4A"/>
                    </a:solidFill>
                  </a:tcPr>
                </a:tc>
                <a:tc>
                  <a:txBody>
                    <a:bodyPr anchor="t" rtlCol="false"/>
                    <a:lstStyle/>
                    <a:p>
                      <a:pPr algn="r">
                        <a:lnSpc>
                          <a:spcPts val="2520"/>
                        </a:lnSpc>
                        <a:defRPr/>
                      </a:pPr>
                      <a:r>
                        <a:rPr lang="en-US" sz="2100" b="true">
                          <a:solidFill>
                            <a:srgbClr val="FFFFFF"/>
                          </a:solidFill>
                          <a:latin typeface="Calibri (MS) Bold"/>
                          <a:ea typeface="Calibri (MS) Bold"/>
                          <a:cs typeface="Calibri (MS) Bold"/>
                          <a:sym typeface="Calibri (MS) Bold"/>
                        </a:rPr>
                        <a:t>Tokens</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1B2A4A"/>
                    </a:solidFill>
                  </a:tcPr>
                </a:tc>
                <a:tc>
                  <a:txBody>
                    <a:bodyPr anchor="t" rtlCol="false"/>
                    <a:lstStyle/>
                    <a:p>
                      <a:pPr algn="r">
                        <a:lnSpc>
                          <a:spcPts val="2520"/>
                        </a:lnSpc>
                        <a:defRPr/>
                      </a:pPr>
                      <a:r>
                        <a:rPr lang="en-US" sz="2100" b="true">
                          <a:solidFill>
                            <a:srgbClr val="FFFFFF"/>
                          </a:solidFill>
                          <a:latin typeface="Calibri (MS) Bold"/>
                          <a:ea typeface="Calibri (MS) Bold"/>
                          <a:cs typeface="Calibri (MS) Bold"/>
                          <a:sym typeface="Calibri (MS) Bold"/>
                        </a:rPr>
                        <a:t>Cost, cents</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1B2A4A"/>
                    </a:solidFill>
                  </a:tcPr>
                </a:tc>
              </a:tr>
              <a:tr h="628650">
                <a:tc>
                  <a:txBody>
                    <a:bodyPr anchor="t" rtlCol="false"/>
                    <a:lstStyle/>
                    <a:p>
                      <a:pPr algn="l">
                        <a:lnSpc>
                          <a:spcPts val="2520"/>
                        </a:lnSpc>
                        <a:defRPr/>
                      </a:pPr>
                      <a:r>
                        <a:rPr lang="en-US" sz="2100">
                          <a:solidFill>
                            <a:srgbClr val="000000"/>
                          </a:solidFill>
                          <a:latin typeface="Calibri (MS)"/>
                          <a:ea typeface="Calibri (MS)"/>
                          <a:cs typeface="Calibri (MS)"/>
                          <a:sym typeface="Calibri (MS)"/>
                        </a:rPr>
                        <a:t>1  Cancellation exposure</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520"/>
                        </a:lnSpc>
                        <a:defRPr/>
                      </a:pPr>
                      <a:r>
                        <a:rPr lang="en-US" sz="2100">
                          <a:solidFill>
                            <a:srgbClr val="000000"/>
                          </a:solidFill>
                          <a:latin typeface="Calibri (MS)"/>
                          <a:ea typeface="Calibri (MS)"/>
                          <a:cs typeface="Calibri (MS)"/>
                          <a:sym typeface="Calibri (MS)"/>
                        </a:rPr>
                        <a:t>896</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520"/>
                        </a:lnSpc>
                        <a:defRPr/>
                      </a:pPr>
                      <a:r>
                        <a:rPr lang="en-US" sz="2100">
                          <a:solidFill>
                            <a:srgbClr val="000000"/>
                          </a:solidFill>
                          <a:latin typeface="Calibri (MS)"/>
                          <a:ea typeface="Calibri (MS)"/>
                          <a:cs typeface="Calibri (MS)"/>
                          <a:sym typeface="Calibri (MS)"/>
                        </a:rPr>
                        <a:t>0.18</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r>
              <a:tr h="628650">
                <a:tc>
                  <a:txBody>
                    <a:bodyPr anchor="t" rtlCol="false"/>
                    <a:lstStyle/>
                    <a:p>
                      <a:pPr algn="l">
                        <a:lnSpc>
                          <a:spcPts val="2520"/>
                        </a:lnSpc>
                        <a:defRPr/>
                      </a:pPr>
                      <a:r>
                        <a:rPr lang="en-US" sz="2100">
                          <a:solidFill>
                            <a:srgbClr val="000000"/>
                          </a:solidFill>
                          <a:latin typeface="Calibri (MS)"/>
                          <a:ea typeface="Calibri (MS)"/>
                          <a:cs typeface="Calibri (MS)"/>
                          <a:sym typeface="Calibri (MS)"/>
                        </a:rPr>
                        <a:t>2  Accommodation sourcing</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520"/>
                        </a:lnSpc>
                        <a:defRPr/>
                      </a:pPr>
                      <a:r>
                        <a:rPr lang="en-US" sz="2100">
                          <a:solidFill>
                            <a:srgbClr val="000000"/>
                          </a:solidFill>
                          <a:latin typeface="Calibri (MS)"/>
                          <a:ea typeface="Calibri (MS)"/>
                          <a:cs typeface="Calibri (MS)"/>
                          <a:sym typeface="Calibri (MS)"/>
                        </a:rPr>
                        <a:t>1,510</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520"/>
                        </a:lnSpc>
                        <a:defRPr/>
                      </a:pPr>
                      <a:r>
                        <a:rPr lang="en-US" sz="2100">
                          <a:solidFill>
                            <a:srgbClr val="000000"/>
                          </a:solidFill>
                          <a:latin typeface="Calibri (MS)"/>
                          <a:ea typeface="Calibri (MS)"/>
                          <a:cs typeface="Calibri (MS)"/>
                          <a:sym typeface="Calibri (MS)"/>
                        </a:rPr>
                        <a:t>0.30</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r>
              <a:tr h="628650">
                <a:tc>
                  <a:txBody>
                    <a:bodyPr anchor="t" rtlCol="false"/>
                    <a:lstStyle/>
                    <a:p>
                      <a:pPr algn="l">
                        <a:lnSpc>
                          <a:spcPts val="2520"/>
                        </a:lnSpc>
                        <a:defRPr/>
                      </a:pPr>
                      <a:r>
                        <a:rPr lang="en-US" sz="2100">
                          <a:solidFill>
                            <a:srgbClr val="000000"/>
                          </a:solidFill>
                          <a:latin typeface="Calibri (MS)"/>
                          <a:ea typeface="Calibri (MS)"/>
                          <a:cs typeface="Calibri (MS)"/>
                          <a:sym typeface="Calibri (MS)"/>
                        </a:rPr>
                        <a:t>3  Hotel call intelligence</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520"/>
                        </a:lnSpc>
                        <a:defRPr/>
                      </a:pPr>
                      <a:r>
                        <a:rPr lang="en-US" sz="2100">
                          <a:solidFill>
                            <a:srgbClr val="000000"/>
                          </a:solidFill>
                          <a:latin typeface="Calibri (MS)"/>
                          <a:ea typeface="Calibri (MS)"/>
                          <a:cs typeface="Calibri (MS)"/>
                          <a:sym typeface="Calibri (MS)"/>
                        </a:rPr>
                        <a:t>3,355</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c>
                  <a:txBody>
                    <a:bodyPr anchor="t" rtlCol="false"/>
                    <a:lstStyle/>
                    <a:p>
                      <a:pPr algn="r">
                        <a:lnSpc>
                          <a:spcPts val="2520"/>
                        </a:lnSpc>
                        <a:defRPr/>
                      </a:pPr>
                      <a:r>
                        <a:rPr lang="en-US" sz="2100">
                          <a:solidFill>
                            <a:srgbClr val="000000"/>
                          </a:solidFill>
                          <a:latin typeface="Calibri (MS)"/>
                          <a:ea typeface="Calibri (MS)"/>
                          <a:cs typeface="Calibri (MS)"/>
                          <a:sym typeface="Calibri (MS)"/>
                        </a:rPr>
                        <a:t>0.67</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tcPr>
                </a:tc>
              </a:tr>
              <a:tr h="628650">
                <a:tc>
                  <a:txBody>
                    <a:bodyPr anchor="t" rtlCol="false"/>
                    <a:lstStyle/>
                    <a:p>
                      <a:pPr algn="l">
                        <a:lnSpc>
                          <a:spcPts val="2520"/>
                        </a:lnSpc>
                        <a:defRPr/>
                      </a:pPr>
                      <a:r>
                        <a:rPr lang="en-US" sz="2100" b="true">
                          <a:solidFill>
                            <a:srgbClr val="000000"/>
                          </a:solidFill>
                          <a:latin typeface="Calibri (MS) Bold"/>
                          <a:ea typeface="Calibri (MS) Bold"/>
                          <a:cs typeface="Calibri (MS) Bold"/>
                          <a:sym typeface="Calibri (MS) Bold"/>
                        </a:rPr>
                        <a:t>One complete incident</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F7F7F9"/>
                    </a:solidFill>
                  </a:tcPr>
                </a:tc>
                <a:tc>
                  <a:txBody>
                    <a:bodyPr anchor="t" rtlCol="false"/>
                    <a:lstStyle/>
                    <a:p>
                      <a:pPr algn="r">
                        <a:lnSpc>
                          <a:spcPts val="2520"/>
                        </a:lnSpc>
                        <a:defRPr/>
                      </a:pPr>
                      <a:r>
                        <a:rPr lang="en-US" sz="2100" b="true">
                          <a:solidFill>
                            <a:srgbClr val="000000"/>
                          </a:solidFill>
                          <a:latin typeface="Calibri (MS) Bold"/>
                          <a:ea typeface="Calibri (MS) Bold"/>
                          <a:cs typeface="Calibri (MS) Bold"/>
                          <a:sym typeface="Calibri (MS) Bold"/>
                        </a:rPr>
                        <a:t>5,761</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F7F7F9"/>
                    </a:solidFill>
                  </a:tcPr>
                </a:tc>
                <a:tc>
                  <a:txBody>
                    <a:bodyPr anchor="t" rtlCol="false"/>
                    <a:lstStyle/>
                    <a:p>
                      <a:pPr algn="r">
                        <a:lnSpc>
                          <a:spcPts val="2520"/>
                        </a:lnSpc>
                        <a:defRPr/>
                      </a:pPr>
                      <a:r>
                        <a:rPr lang="en-US" sz="2100" b="true">
                          <a:solidFill>
                            <a:srgbClr val="000000"/>
                          </a:solidFill>
                          <a:latin typeface="Calibri (MS) Bold"/>
                          <a:ea typeface="Calibri (MS) Bold"/>
                          <a:cs typeface="Calibri (MS) Bold"/>
                          <a:sym typeface="Calibri (MS) Bold"/>
                        </a:rPr>
                        <a:t>1.15</a:t>
                      </a:r>
                      <a:endParaRPr lang="en-US" sz="1100"/>
                    </a:p>
                  </a:txBody>
                  <a:tcPr marL="101600" marR="101600" marT="101600" marB="101600" anchor="ctr">
                    <a:lnL cmpd="sng" algn="ctr" cap="flat" w="12700">
                      <a:solidFill>
                        <a:srgbClr val="E5E5E8"/>
                      </a:solidFill>
                      <a:prstDash val="solid"/>
                      <a:round/>
                      <a:headEnd type="none" w="med" len="med"/>
                      <a:tailEnd type="none" w="med" len="med"/>
                    </a:lnL>
                    <a:lnR cmpd="sng" algn="ctr" cap="flat" w="12700">
                      <a:solidFill>
                        <a:srgbClr val="E5E5E8"/>
                      </a:solidFill>
                      <a:prstDash val="solid"/>
                      <a:round/>
                      <a:headEnd type="none" w="med" len="med"/>
                      <a:tailEnd type="none" w="med" len="med"/>
                    </a:lnR>
                    <a:lnT cmpd="sng" algn="ctr" cap="flat" w="12700">
                      <a:solidFill>
                        <a:srgbClr val="E5E5E8"/>
                      </a:solidFill>
                      <a:prstDash val="solid"/>
                      <a:round/>
                      <a:headEnd type="none" w="med" len="med"/>
                      <a:tailEnd type="none" w="med" len="med"/>
                    </a:lnT>
                    <a:lnB cmpd="sng" algn="ctr" cap="flat" w="12700">
                      <a:solidFill>
                        <a:srgbClr val="E5E5E8"/>
                      </a:solidFill>
                      <a:prstDash val="solid"/>
                      <a:round/>
                      <a:headEnd type="none" w="med" len="med"/>
                      <a:tailEnd type="none" w="med" len="med"/>
                    </a:lnB>
                    <a:solidFill>
                      <a:srgbClr val="F7F7F9"/>
                    </a:solidFill>
                  </a:tcPr>
                </a:tc>
              </a:tr>
            </a:tbl>
          </a:graphicData>
        </a:graphic>
      </p:graphicFrame>
      <p:grpSp>
        <p:nvGrpSpPr>
          <p:cNvPr name="Group 12" id="12"/>
          <p:cNvGrpSpPr/>
          <p:nvPr/>
        </p:nvGrpSpPr>
        <p:grpSpPr>
          <a:xfrm rot="0">
            <a:off x="960120" y="6172200"/>
            <a:ext cx="10149840" cy="411480"/>
            <a:chOff x="0" y="0"/>
            <a:chExt cx="13533120" cy="548640"/>
          </a:xfrm>
        </p:grpSpPr>
        <p:sp>
          <p:nvSpPr>
            <p:cNvPr name="Freeform 13" id="13"/>
            <p:cNvSpPr/>
            <p:nvPr/>
          </p:nvSpPr>
          <p:spPr>
            <a:xfrm flipH="false" flipV="false" rot="0">
              <a:off x="0" y="0"/>
              <a:ext cx="13533120" cy="548640"/>
            </a:xfrm>
            <a:custGeom>
              <a:avLst/>
              <a:gdLst/>
              <a:ahLst/>
              <a:cxnLst/>
              <a:rect r="r" b="b" t="t" l="l"/>
              <a:pathLst>
                <a:path h="548640" w="13533120">
                  <a:moveTo>
                    <a:pt x="0" y="0"/>
                  </a:moveTo>
                  <a:lnTo>
                    <a:pt x="13533120" y="0"/>
                  </a:lnTo>
                  <a:lnTo>
                    <a:pt x="13533120" y="548640"/>
                  </a:lnTo>
                  <a:lnTo>
                    <a:pt x="0" y="548640"/>
                  </a:lnTo>
                  <a:close/>
                </a:path>
              </a:pathLst>
            </a:custGeom>
            <a:blipFill>
              <a:blip r:embed="rId3">
                <a:alphaModFix amt="0"/>
              </a:blip>
              <a:stretch>
                <a:fillRect l="0" t="-430630" r="0" b="-430630"/>
              </a:stretch>
            </a:blipFill>
          </p:spPr>
        </p:sp>
        <p:sp>
          <p:nvSpPr>
            <p:cNvPr name="TextBox 14" id="14"/>
            <p:cNvSpPr txBox="true"/>
            <p:nvPr/>
          </p:nvSpPr>
          <p:spPr>
            <a:xfrm>
              <a:off x="0" y="-38100"/>
              <a:ext cx="13533120" cy="586740"/>
            </a:xfrm>
            <a:prstGeom prst="rect">
              <a:avLst/>
            </a:prstGeom>
          </p:spPr>
          <p:txBody>
            <a:bodyPr anchor="ctr" rtlCol="false" tIns="0" lIns="0" bIns="0" rIns="0"/>
            <a:lstStyle/>
            <a:p>
              <a:pPr algn="l">
                <a:lnSpc>
                  <a:spcPts val="2160"/>
                </a:lnSpc>
              </a:pPr>
              <a:r>
                <a:rPr lang="en-US" sz="1800" i="true">
                  <a:solidFill>
                    <a:srgbClr val="6B6B70"/>
                  </a:solidFill>
                  <a:latin typeface="Calibri (MS) Italics"/>
                  <a:ea typeface="Calibri (MS) Italics"/>
                  <a:cs typeface="Calibri (MS) Italics"/>
                  <a:sym typeface="Calibri (MS) Italics"/>
                </a:rPr>
                <a:t>Language model only. Worst case, every token priced at the output rate.</a:t>
              </a:r>
            </a:p>
          </p:txBody>
        </p:sp>
      </p:grpSp>
      <p:grpSp>
        <p:nvGrpSpPr>
          <p:cNvPr name="Group 15" id="15"/>
          <p:cNvGrpSpPr/>
          <p:nvPr/>
        </p:nvGrpSpPr>
        <p:grpSpPr>
          <a:xfrm rot="0">
            <a:off x="11786235" y="2349627"/>
            <a:ext cx="5546598" cy="2076450"/>
            <a:chOff x="0" y="0"/>
            <a:chExt cx="7395464" cy="2768600"/>
          </a:xfrm>
        </p:grpSpPr>
        <p:sp>
          <p:nvSpPr>
            <p:cNvPr name="Freeform 16" id="16"/>
            <p:cNvSpPr/>
            <p:nvPr/>
          </p:nvSpPr>
          <p:spPr>
            <a:xfrm flipH="false" flipV="false" rot="0">
              <a:off x="0" y="0"/>
              <a:ext cx="7395464" cy="2768600"/>
            </a:xfrm>
            <a:custGeom>
              <a:avLst/>
              <a:gdLst/>
              <a:ahLst/>
              <a:cxnLst/>
              <a:rect r="r" b="b" t="t" l="l"/>
              <a:pathLst>
                <a:path h="2768600" w="7395464">
                  <a:moveTo>
                    <a:pt x="0" y="147701"/>
                  </a:moveTo>
                  <a:cubicBezTo>
                    <a:pt x="0" y="66167"/>
                    <a:pt x="66167" y="0"/>
                    <a:pt x="147701" y="0"/>
                  </a:cubicBezTo>
                  <a:lnTo>
                    <a:pt x="7247763" y="0"/>
                  </a:lnTo>
                  <a:cubicBezTo>
                    <a:pt x="7329297" y="0"/>
                    <a:pt x="7395464" y="66167"/>
                    <a:pt x="7395464" y="147701"/>
                  </a:cubicBezTo>
                  <a:lnTo>
                    <a:pt x="7395464" y="2620899"/>
                  </a:lnTo>
                  <a:cubicBezTo>
                    <a:pt x="7395464" y="2702433"/>
                    <a:pt x="7329297" y="2768600"/>
                    <a:pt x="7247763" y="2768600"/>
                  </a:cubicBezTo>
                  <a:lnTo>
                    <a:pt x="147701" y="2768600"/>
                  </a:lnTo>
                  <a:cubicBezTo>
                    <a:pt x="66167" y="2768600"/>
                    <a:pt x="0" y="2702433"/>
                    <a:pt x="0" y="2620899"/>
                  </a:cubicBezTo>
                  <a:close/>
                </a:path>
              </a:pathLst>
            </a:custGeom>
            <a:solidFill>
              <a:srgbClr val="1B2A4A"/>
            </a:solidFill>
            <a:ln w="19050" cap="sq">
              <a:solidFill>
                <a:srgbClr val="1B2A4A"/>
              </a:solidFill>
              <a:prstDash val="solid"/>
              <a:miter/>
            </a:ln>
          </p:spPr>
        </p:sp>
      </p:grpSp>
      <p:grpSp>
        <p:nvGrpSpPr>
          <p:cNvPr name="Group 17" id="17"/>
          <p:cNvGrpSpPr/>
          <p:nvPr/>
        </p:nvGrpSpPr>
        <p:grpSpPr>
          <a:xfrm rot="0">
            <a:off x="12207240" y="2606040"/>
            <a:ext cx="4663440" cy="960120"/>
            <a:chOff x="0" y="0"/>
            <a:chExt cx="6217920" cy="1280160"/>
          </a:xfrm>
        </p:grpSpPr>
        <p:sp>
          <p:nvSpPr>
            <p:cNvPr name="Freeform 18" id="18"/>
            <p:cNvSpPr/>
            <p:nvPr/>
          </p:nvSpPr>
          <p:spPr>
            <a:xfrm flipH="false" flipV="false" rot="0">
              <a:off x="0" y="0"/>
              <a:ext cx="6217920" cy="1280160"/>
            </a:xfrm>
            <a:custGeom>
              <a:avLst/>
              <a:gdLst/>
              <a:ahLst/>
              <a:cxnLst/>
              <a:rect r="r" b="b" t="t" l="l"/>
              <a:pathLst>
                <a:path h="1280160" w="6217920">
                  <a:moveTo>
                    <a:pt x="0" y="0"/>
                  </a:moveTo>
                  <a:lnTo>
                    <a:pt x="6217920" y="0"/>
                  </a:lnTo>
                  <a:lnTo>
                    <a:pt x="6217920" y="1280160"/>
                  </a:lnTo>
                  <a:lnTo>
                    <a:pt x="0" y="1280160"/>
                  </a:lnTo>
                  <a:close/>
                </a:path>
              </a:pathLst>
            </a:custGeom>
            <a:blipFill>
              <a:blip r:embed="rId3">
                <a:alphaModFix amt="0"/>
              </a:blip>
              <a:stretch>
                <a:fillRect l="0" t="-44641" r="0" b="-44641"/>
              </a:stretch>
            </a:blipFill>
          </p:spPr>
        </p:sp>
        <p:sp>
          <p:nvSpPr>
            <p:cNvPr name="TextBox 19" id="19"/>
            <p:cNvSpPr txBox="true"/>
            <p:nvPr/>
          </p:nvSpPr>
          <p:spPr>
            <a:xfrm>
              <a:off x="0" y="-9525"/>
              <a:ext cx="6217920" cy="1289685"/>
            </a:xfrm>
            <a:prstGeom prst="rect">
              <a:avLst/>
            </a:prstGeom>
          </p:spPr>
          <p:txBody>
            <a:bodyPr anchor="ctr" rtlCol="false" tIns="0" lIns="0" bIns="0" rIns="0"/>
            <a:lstStyle/>
            <a:p>
              <a:pPr algn="l">
                <a:lnSpc>
                  <a:spcPts val="6120"/>
                </a:lnSpc>
              </a:pPr>
              <a:r>
                <a:rPr lang="en-US" sz="5100" b="true">
                  <a:solidFill>
                    <a:srgbClr val="FFFFFF"/>
                  </a:solidFill>
                  <a:latin typeface="Cambria Bold"/>
                  <a:ea typeface="Cambria Bold"/>
                  <a:cs typeface="Cambria Bold"/>
                  <a:sym typeface="Cambria Bold"/>
                </a:rPr>
                <a:t>140 USD</a:t>
              </a:r>
            </a:p>
          </p:txBody>
        </p:sp>
      </p:grpSp>
      <p:grpSp>
        <p:nvGrpSpPr>
          <p:cNvPr name="Group 20" id="20"/>
          <p:cNvGrpSpPr/>
          <p:nvPr/>
        </p:nvGrpSpPr>
        <p:grpSpPr>
          <a:xfrm rot="0">
            <a:off x="12207240" y="3538728"/>
            <a:ext cx="4663440" cy="754380"/>
            <a:chOff x="0" y="0"/>
            <a:chExt cx="6217920" cy="1005840"/>
          </a:xfrm>
        </p:grpSpPr>
        <p:sp>
          <p:nvSpPr>
            <p:cNvPr name="Freeform 21" id="21"/>
            <p:cNvSpPr/>
            <p:nvPr/>
          </p:nvSpPr>
          <p:spPr>
            <a:xfrm flipH="false" flipV="false" rot="0">
              <a:off x="0" y="0"/>
              <a:ext cx="6217920" cy="1005840"/>
            </a:xfrm>
            <a:custGeom>
              <a:avLst/>
              <a:gdLst/>
              <a:ahLst/>
              <a:cxnLst/>
              <a:rect r="r" b="b" t="t" l="l"/>
              <a:pathLst>
                <a:path h="1005840" w="6217920">
                  <a:moveTo>
                    <a:pt x="0" y="0"/>
                  </a:moveTo>
                  <a:lnTo>
                    <a:pt x="6217920" y="0"/>
                  </a:lnTo>
                  <a:lnTo>
                    <a:pt x="6217920" y="1005840"/>
                  </a:lnTo>
                  <a:lnTo>
                    <a:pt x="0" y="1005840"/>
                  </a:lnTo>
                  <a:close/>
                </a:path>
              </a:pathLst>
            </a:custGeom>
            <a:blipFill>
              <a:blip r:embed="rId3">
                <a:alphaModFix amt="0"/>
              </a:blip>
              <a:stretch>
                <a:fillRect l="0" t="-70452" r="0" b="-70452"/>
              </a:stretch>
            </a:blipFill>
          </p:spPr>
        </p:sp>
        <p:sp>
          <p:nvSpPr>
            <p:cNvPr name="TextBox 22" id="22"/>
            <p:cNvSpPr txBox="true"/>
            <p:nvPr/>
          </p:nvSpPr>
          <p:spPr>
            <a:xfrm>
              <a:off x="0" y="-66675"/>
              <a:ext cx="6217920" cy="1072515"/>
            </a:xfrm>
            <a:prstGeom prst="rect">
              <a:avLst/>
            </a:prstGeom>
          </p:spPr>
          <p:txBody>
            <a:bodyPr anchor="ctr" rtlCol="false" tIns="0" lIns="0" bIns="0" rIns="0"/>
            <a:lstStyle/>
            <a:p>
              <a:pPr algn="l">
                <a:lnSpc>
                  <a:spcPts val="2549"/>
                </a:lnSpc>
              </a:pPr>
              <a:r>
                <a:rPr lang="en-US" sz="1950">
                  <a:solidFill>
                    <a:srgbClr val="CADCFC"/>
                  </a:solidFill>
                  <a:latin typeface="Calibri (MS)"/>
                  <a:ea typeface="Calibri (MS)"/>
                  <a:cs typeface="Calibri (MS)"/>
                  <a:sym typeface="Calibri (MS)"/>
                </a:rPr>
                <a:t>a year, everything, across 3,305 care events</a:t>
              </a:r>
            </a:p>
          </p:txBody>
        </p:sp>
      </p:grpSp>
      <p:grpSp>
        <p:nvGrpSpPr>
          <p:cNvPr name="Group 23" id="23"/>
          <p:cNvGrpSpPr/>
          <p:nvPr/>
        </p:nvGrpSpPr>
        <p:grpSpPr>
          <a:xfrm rot="0">
            <a:off x="11786235" y="4544187"/>
            <a:ext cx="5546598" cy="2049018"/>
            <a:chOff x="0" y="0"/>
            <a:chExt cx="7395464" cy="2732024"/>
          </a:xfrm>
        </p:grpSpPr>
        <p:sp>
          <p:nvSpPr>
            <p:cNvPr name="Freeform 24" id="24"/>
            <p:cNvSpPr/>
            <p:nvPr/>
          </p:nvSpPr>
          <p:spPr>
            <a:xfrm flipH="false" flipV="false" rot="0">
              <a:off x="0" y="0"/>
              <a:ext cx="7395464" cy="2732024"/>
            </a:xfrm>
            <a:custGeom>
              <a:avLst/>
              <a:gdLst/>
              <a:ahLst/>
              <a:cxnLst/>
              <a:rect r="r" b="b" t="t" l="l"/>
              <a:pathLst>
                <a:path h="2732024" w="7395464">
                  <a:moveTo>
                    <a:pt x="0" y="147701"/>
                  </a:moveTo>
                  <a:cubicBezTo>
                    <a:pt x="0" y="66167"/>
                    <a:pt x="66167" y="0"/>
                    <a:pt x="147701" y="0"/>
                  </a:cubicBezTo>
                  <a:lnTo>
                    <a:pt x="7247763" y="0"/>
                  </a:lnTo>
                  <a:cubicBezTo>
                    <a:pt x="7329297" y="0"/>
                    <a:pt x="7395464" y="66167"/>
                    <a:pt x="7395464" y="147701"/>
                  </a:cubicBezTo>
                  <a:lnTo>
                    <a:pt x="7395464" y="2584323"/>
                  </a:lnTo>
                  <a:cubicBezTo>
                    <a:pt x="7395464" y="2665857"/>
                    <a:pt x="7329297" y="2732024"/>
                    <a:pt x="7247763" y="2732024"/>
                  </a:cubicBezTo>
                  <a:lnTo>
                    <a:pt x="147701" y="2732024"/>
                  </a:lnTo>
                  <a:cubicBezTo>
                    <a:pt x="66167" y="2732024"/>
                    <a:pt x="0" y="2665857"/>
                    <a:pt x="0" y="2584323"/>
                  </a:cubicBezTo>
                  <a:close/>
                </a:path>
              </a:pathLst>
            </a:custGeom>
            <a:solidFill>
              <a:srgbClr val="F7F7F9"/>
            </a:solidFill>
            <a:ln w="19050" cap="sq">
              <a:solidFill>
                <a:srgbClr val="F7F7F9"/>
              </a:solidFill>
              <a:prstDash val="solid"/>
              <a:miter/>
            </a:ln>
          </p:spPr>
        </p:sp>
      </p:grpSp>
      <p:grpSp>
        <p:nvGrpSpPr>
          <p:cNvPr name="Group 25" id="25"/>
          <p:cNvGrpSpPr/>
          <p:nvPr/>
        </p:nvGrpSpPr>
        <p:grpSpPr>
          <a:xfrm rot="0">
            <a:off x="12207240" y="4800600"/>
            <a:ext cx="4663440" cy="548640"/>
            <a:chOff x="0" y="0"/>
            <a:chExt cx="6217920" cy="731520"/>
          </a:xfrm>
        </p:grpSpPr>
        <p:sp>
          <p:nvSpPr>
            <p:cNvPr name="Freeform 26" id="26"/>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3">
                <a:alphaModFix amt="0"/>
              </a:blip>
              <a:stretch>
                <a:fillRect l="0" t="-115622" r="0" b="-115622"/>
              </a:stretch>
            </a:blipFill>
          </p:spPr>
        </p:sp>
        <p:sp>
          <p:nvSpPr>
            <p:cNvPr name="TextBox 27" id="27"/>
            <p:cNvSpPr txBox="true"/>
            <p:nvPr/>
          </p:nvSpPr>
          <p:spPr>
            <a:xfrm>
              <a:off x="0" y="-19050"/>
              <a:ext cx="6217920" cy="750570"/>
            </a:xfrm>
            <a:prstGeom prst="rect">
              <a:avLst/>
            </a:prstGeom>
          </p:spPr>
          <p:txBody>
            <a:bodyPr anchor="ctr" rtlCol="false" tIns="0" lIns="0" bIns="0" rIns="0"/>
            <a:lstStyle/>
            <a:p>
              <a:pPr algn="l">
                <a:lnSpc>
                  <a:spcPts val="3600"/>
                </a:lnSpc>
              </a:pPr>
              <a:r>
                <a:rPr lang="en-US" sz="3000" b="true">
                  <a:solidFill>
                    <a:srgbClr val="1C1C1E"/>
                  </a:solidFill>
                  <a:latin typeface="Cambria Bold"/>
                  <a:ea typeface="Cambria Bold"/>
                  <a:cs typeface="Cambria Bold"/>
                  <a:sym typeface="Cambria Bold"/>
                </a:rPr>
                <a:t>Whisper costs more</a:t>
              </a:r>
            </a:p>
          </p:txBody>
        </p:sp>
      </p:grpSp>
      <p:grpSp>
        <p:nvGrpSpPr>
          <p:cNvPr name="Group 28" id="28"/>
          <p:cNvGrpSpPr/>
          <p:nvPr/>
        </p:nvGrpSpPr>
        <p:grpSpPr>
          <a:xfrm rot="0">
            <a:off x="12207240" y="5404104"/>
            <a:ext cx="4663440" cy="1028700"/>
            <a:chOff x="0" y="0"/>
            <a:chExt cx="6217920" cy="1371600"/>
          </a:xfrm>
        </p:grpSpPr>
        <p:sp>
          <p:nvSpPr>
            <p:cNvPr name="Freeform 29" id="29"/>
            <p:cNvSpPr/>
            <p:nvPr/>
          </p:nvSpPr>
          <p:spPr>
            <a:xfrm flipH="false" flipV="false" rot="0">
              <a:off x="0" y="0"/>
              <a:ext cx="6217920" cy="1371600"/>
            </a:xfrm>
            <a:custGeom>
              <a:avLst/>
              <a:gdLst/>
              <a:ahLst/>
              <a:cxnLst/>
              <a:rect r="r" b="b" t="t" l="l"/>
              <a:pathLst>
                <a:path h="1371600" w="6217920">
                  <a:moveTo>
                    <a:pt x="0" y="0"/>
                  </a:moveTo>
                  <a:lnTo>
                    <a:pt x="6217920" y="0"/>
                  </a:lnTo>
                  <a:lnTo>
                    <a:pt x="6217920" y="1371600"/>
                  </a:lnTo>
                  <a:lnTo>
                    <a:pt x="0" y="1371600"/>
                  </a:lnTo>
                  <a:close/>
                </a:path>
              </a:pathLst>
            </a:custGeom>
            <a:blipFill>
              <a:blip r:embed="rId3">
                <a:alphaModFix amt="0"/>
              </a:blip>
              <a:stretch>
                <a:fillRect l="0" t="-38332" r="0" b="-38332"/>
              </a:stretch>
            </a:blipFill>
          </p:spPr>
        </p:sp>
        <p:sp>
          <p:nvSpPr>
            <p:cNvPr name="TextBox 30" id="30"/>
            <p:cNvSpPr txBox="true"/>
            <p:nvPr/>
          </p:nvSpPr>
          <p:spPr>
            <a:xfrm>
              <a:off x="0" y="-66675"/>
              <a:ext cx="6217920" cy="1438275"/>
            </a:xfrm>
            <a:prstGeom prst="rect">
              <a:avLst/>
            </a:prstGeom>
          </p:spPr>
          <p:txBody>
            <a:bodyPr anchor="ctr" rtlCol="false" tIns="0" lIns="0" bIns="0" rIns="0"/>
            <a:lstStyle/>
            <a:p>
              <a:pPr algn="l">
                <a:lnSpc>
                  <a:spcPts val="2549"/>
                </a:lnSpc>
              </a:pPr>
              <a:r>
                <a:rPr lang="en-US" sz="1950">
                  <a:solidFill>
                    <a:srgbClr val="6B6B70"/>
                  </a:solidFill>
                  <a:latin typeface="Calibri (MS)"/>
                  <a:ea typeface="Calibri (MS)"/>
                  <a:cs typeface="Calibri (MS)"/>
                  <a:sym typeface="Calibri (MS)"/>
                </a:rPr>
                <a:t>Transcribing a five minute call is about 3 cents, roughly three times the models it feeds.</a:t>
              </a:r>
            </a:p>
          </p:txBody>
        </p:sp>
      </p:grpSp>
      <p:grpSp>
        <p:nvGrpSpPr>
          <p:cNvPr name="Group 31" id="31"/>
          <p:cNvGrpSpPr/>
          <p:nvPr/>
        </p:nvGrpSpPr>
        <p:grpSpPr>
          <a:xfrm rot="0">
            <a:off x="950595" y="6917055"/>
            <a:ext cx="16382238" cy="1322070"/>
            <a:chOff x="0" y="0"/>
            <a:chExt cx="21842984" cy="1762760"/>
          </a:xfrm>
        </p:grpSpPr>
        <p:sp>
          <p:nvSpPr>
            <p:cNvPr name="Freeform 32" id="32"/>
            <p:cNvSpPr/>
            <p:nvPr/>
          </p:nvSpPr>
          <p:spPr>
            <a:xfrm flipH="false" flipV="false" rot="0">
              <a:off x="0" y="0"/>
              <a:ext cx="21842985" cy="1762760"/>
            </a:xfrm>
            <a:custGeom>
              <a:avLst/>
              <a:gdLst/>
              <a:ahLst/>
              <a:cxnLst/>
              <a:rect r="r" b="b" t="t" l="l"/>
              <a:pathLst>
                <a:path h="1762760" w="21842985">
                  <a:moveTo>
                    <a:pt x="0" y="148463"/>
                  </a:moveTo>
                  <a:cubicBezTo>
                    <a:pt x="0" y="66421"/>
                    <a:pt x="66421" y="0"/>
                    <a:pt x="148463" y="0"/>
                  </a:cubicBezTo>
                  <a:lnTo>
                    <a:pt x="21694521" y="0"/>
                  </a:lnTo>
                  <a:cubicBezTo>
                    <a:pt x="21776562" y="0"/>
                    <a:pt x="21842985" y="66421"/>
                    <a:pt x="21842985" y="148463"/>
                  </a:cubicBezTo>
                  <a:lnTo>
                    <a:pt x="21842985" y="1614297"/>
                  </a:lnTo>
                  <a:cubicBezTo>
                    <a:pt x="21842985" y="1696339"/>
                    <a:pt x="21776562" y="1762760"/>
                    <a:pt x="21694521" y="1762760"/>
                  </a:cubicBezTo>
                  <a:lnTo>
                    <a:pt x="148463" y="1762760"/>
                  </a:lnTo>
                  <a:cubicBezTo>
                    <a:pt x="66421" y="1762760"/>
                    <a:pt x="0" y="1696339"/>
                    <a:pt x="0" y="1614297"/>
                  </a:cubicBezTo>
                  <a:close/>
                </a:path>
              </a:pathLst>
            </a:custGeom>
            <a:solidFill>
              <a:srgbClr val="E8F5EE"/>
            </a:solidFill>
            <a:ln w="19050" cap="sq">
              <a:solidFill>
                <a:srgbClr val="E8F5EE"/>
              </a:solidFill>
              <a:prstDash val="solid"/>
              <a:miter/>
            </a:ln>
          </p:spPr>
        </p:sp>
      </p:grpSp>
      <p:grpSp>
        <p:nvGrpSpPr>
          <p:cNvPr name="Group 33" id="33"/>
          <p:cNvGrpSpPr/>
          <p:nvPr/>
        </p:nvGrpSpPr>
        <p:grpSpPr>
          <a:xfrm rot="0">
            <a:off x="1508760" y="7324344"/>
            <a:ext cx="15224760" cy="617220"/>
            <a:chOff x="0" y="0"/>
            <a:chExt cx="20299680" cy="822960"/>
          </a:xfrm>
        </p:grpSpPr>
        <p:sp>
          <p:nvSpPr>
            <p:cNvPr name="Freeform 34" id="34"/>
            <p:cNvSpPr/>
            <p:nvPr/>
          </p:nvSpPr>
          <p:spPr>
            <a:xfrm flipH="false" flipV="false" rot="0">
              <a:off x="0" y="0"/>
              <a:ext cx="20299680" cy="822960"/>
            </a:xfrm>
            <a:custGeom>
              <a:avLst/>
              <a:gdLst/>
              <a:ahLst/>
              <a:cxnLst/>
              <a:rect r="r" b="b" t="t" l="l"/>
              <a:pathLst>
                <a:path h="822960" w="20299680">
                  <a:moveTo>
                    <a:pt x="0" y="0"/>
                  </a:moveTo>
                  <a:lnTo>
                    <a:pt x="20299680" y="0"/>
                  </a:lnTo>
                  <a:lnTo>
                    <a:pt x="20299680" y="822960"/>
                  </a:lnTo>
                  <a:lnTo>
                    <a:pt x="0" y="822960"/>
                  </a:lnTo>
                  <a:close/>
                </a:path>
              </a:pathLst>
            </a:custGeom>
            <a:blipFill>
              <a:blip r:embed="rId3">
                <a:alphaModFix amt="0"/>
              </a:blip>
              <a:stretch>
                <a:fillRect l="0" t="-430630" r="0" b="-430630"/>
              </a:stretch>
            </a:blipFill>
          </p:spPr>
        </p:sp>
        <p:sp>
          <p:nvSpPr>
            <p:cNvPr name="TextBox 35" id="35"/>
            <p:cNvSpPr txBox="true"/>
            <p:nvPr/>
          </p:nvSpPr>
          <p:spPr>
            <a:xfrm>
              <a:off x="0" y="-9525"/>
              <a:ext cx="20299680" cy="832485"/>
            </a:xfrm>
            <a:prstGeom prst="rect">
              <a:avLst/>
            </a:prstGeom>
          </p:spPr>
          <p:txBody>
            <a:bodyPr anchor="ctr" rtlCol="false" tIns="0" lIns="0" bIns="0" rIns="0"/>
            <a:lstStyle/>
            <a:p>
              <a:pPr algn="l">
                <a:lnSpc>
                  <a:spcPts val="3419"/>
                </a:lnSpc>
              </a:pPr>
              <a:r>
                <a:rPr lang="en-US" sz="2850" b="true">
                  <a:solidFill>
                    <a:srgbClr val="0F7B4F"/>
                  </a:solidFill>
                  <a:latin typeface="Cambria Bold"/>
                  <a:ea typeface="Cambria Bold"/>
                  <a:cs typeface="Cambria Bold"/>
                  <a:sym typeface="Cambria Bold"/>
                </a:rPr>
                <a:t>A year of AI costs about the same as one hotel room. The spend is integration, not compute.</a:t>
              </a:r>
            </a:p>
          </p:txBody>
        </p:sp>
      </p:grpSp>
      <p:grpSp>
        <p:nvGrpSpPr>
          <p:cNvPr name="Group 36" id="36"/>
          <p:cNvGrpSpPr/>
          <p:nvPr/>
        </p:nvGrpSpPr>
        <p:grpSpPr>
          <a:xfrm rot="0">
            <a:off x="960120" y="8503920"/>
            <a:ext cx="16322040" cy="480060"/>
            <a:chOff x="0" y="0"/>
            <a:chExt cx="21762720" cy="640080"/>
          </a:xfrm>
        </p:grpSpPr>
        <p:sp>
          <p:nvSpPr>
            <p:cNvPr name="Freeform 37" id="37"/>
            <p:cNvSpPr/>
            <p:nvPr/>
          </p:nvSpPr>
          <p:spPr>
            <a:xfrm flipH="false" flipV="false" rot="0">
              <a:off x="0" y="0"/>
              <a:ext cx="21762720" cy="640080"/>
            </a:xfrm>
            <a:custGeom>
              <a:avLst/>
              <a:gdLst/>
              <a:ahLst/>
              <a:cxnLst/>
              <a:rect r="r" b="b" t="t" l="l"/>
              <a:pathLst>
                <a:path h="640080" w="21762720">
                  <a:moveTo>
                    <a:pt x="0" y="0"/>
                  </a:moveTo>
                  <a:lnTo>
                    <a:pt x="21762720" y="0"/>
                  </a:lnTo>
                  <a:lnTo>
                    <a:pt x="21762720" y="640080"/>
                  </a:lnTo>
                  <a:lnTo>
                    <a:pt x="0" y="640080"/>
                  </a:lnTo>
                  <a:close/>
                </a:path>
              </a:pathLst>
            </a:custGeom>
            <a:blipFill>
              <a:blip r:embed="rId3">
                <a:alphaModFix amt="0"/>
              </a:blip>
              <a:stretch>
                <a:fillRect l="0" t="-612491" r="0" b="-612491"/>
              </a:stretch>
            </a:blipFill>
          </p:spPr>
        </p:sp>
        <p:sp>
          <p:nvSpPr>
            <p:cNvPr name="TextBox 38" id="38"/>
            <p:cNvSpPr txBox="true"/>
            <p:nvPr/>
          </p:nvSpPr>
          <p:spPr>
            <a:xfrm>
              <a:off x="0" y="-38100"/>
              <a:ext cx="21762720" cy="678180"/>
            </a:xfrm>
            <a:prstGeom prst="rect">
              <a:avLst/>
            </a:prstGeom>
          </p:spPr>
          <p:txBody>
            <a:bodyPr anchor="ctr" rtlCol="false" tIns="0" lIns="0" bIns="0" rIns="0"/>
            <a:lstStyle/>
            <a:p>
              <a:pPr algn="l">
                <a:lnSpc>
                  <a:spcPts val="2160"/>
                </a:lnSpc>
              </a:pPr>
              <a:r>
                <a:rPr lang="en-US" sz="1800" i="true">
                  <a:solidFill>
                    <a:srgbClr val="6B6B70"/>
                  </a:solidFill>
                  <a:latin typeface="Calibri (MS) Italics"/>
                  <a:ea typeface="Calibri (MS) Italics"/>
                  <a:cs typeface="Calibri (MS) Italics"/>
                  <a:sym typeface="Calibri (MS) Italics"/>
                </a:rPr>
                <a:t>Token counts measured from live workflow runs. gpt-5-mini and Whisper at published list prices, September 2026.</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B2A4A"/>
        </a:solidFill>
      </p:bgPr>
    </p:bg>
    <p:spTree>
      <p:nvGrpSpPr>
        <p:cNvPr id="1" name=""/>
        <p:cNvGrpSpPr/>
        <p:nvPr/>
      </p:nvGrpSpPr>
      <p:grpSpPr>
        <a:xfrm>
          <a:off x="0" y="0"/>
          <a:ext cx="0" cy="0"/>
          <a:chOff x="0" y="0"/>
          <a:chExt cx="0" cy="0"/>
        </a:xfrm>
      </p:grpSpPr>
      <p:grpSp>
        <p:nvGrpSpPr>
          <p:cNvPr name="Group 2" id="2"/>
          <p:cNvGrpSpPr/>
          <p:nvPr/>
        </p:nvGrpSpPr>
        <p:grpSpPr>
          <a:xfrm rot="0">
            <a:off x="960120" y="82296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28575"/>
              <a:ext cx="18288000" cy="577215"/>
            </a:xfrm>
            <a:prstGeom prst="rect">
              <a:avLst/>
            </a:prstGeom>
          </p:spPr>
          <p:txBody>
            <a:bodyPr anchor="ctr" rtlCol="false" tIns="0" lIns="0" bIns="0" rIns="0"/>
            <a:lstStyle/>
            <a:p>
              <a:pPr algn="l">
                <a:lnSpc>
                  <a:spcPts val="1980"/>
                </a:lnSpc>
              </a:pPr>
              <a:r>
                <a:rPr lang="en-US" b="true" sz="1650" spc="449">
                  <a:solidFill>
                    <a:srgbClr val="CADCFC"/>
                  </a:solidFill>
                  <a:latin typeface="Calibri (MS) Bold"/>
                  <a:ea typeface="Calibri (MS) Bold"/>
                  <a:cs typeface="Calibri (MS) Bold"/>
                  <a:sym typeface="Calibri (MS) Bold"/>
                </a:rPr>
                <a:t>WHERE THIS STANDS</a:t>
              </a:r>
            </a:p>
          </p:txBody>
        </p:sp>
      </p:grpSp>
      <p:grpSp>
        <p:nvGrpSpPr>
          <p:cNvPr name="Group 5" id="5"/>
          <p:cNvGrpSpPr/>
          <p:nvPr/>
        </p:nvGrpSpPr>
        <p:grpSpPr>
          <a:xfrm rot="0">
            <a:off x="960120" y="1303020"/>
            <a:ext cx="16322040" cy="891540"/>
            <a:chOff x="0" y="0"/>
            <a:chExt cx="21762720" cy="1188720"/>
          </a:xfrm>
        </p:grpSpPr>
        <p:sp>
          <p:nvSpPr>
            <p:cNvPr name="Freeform 6" id="6"/>
            <p:cNvSpPr/>
            <p:nvPr/>
          </p:nvSpPr>
          <p:spPr>
            <a:xfrm flipH="false" flipV="false" rot="0">
              <a:off x="0" y="0"/>
              <a:ext cx="21762720" cy="1188720"/>
            </a:xfrm>
            <a:custGeom>
              <a:avLst/>
              <a:gdLst/>
              <a:ahLst/>
              <a:cxnLst/>
              <a:rect r="r" b="b" t="t" l="l"/>
              <a:pathLst>
                <a:path h="1188720" w="21762720">
                  <a:moveTo>
                    <a:pt x="0" y="0"/>
                  </a:moveTo>
                  <a:lnTo>
                    <a:pt x="21762720" y="0"/>
                  </a:lnTo>
                  <a:lnTo>
                    <a:pt x="21762720" y="1188720"/>
                  </a:lnTo>
                  <a:lnTo>
                    <a:pt x="0" y="1188720"/>
                  </a:lnTo>
                  <a:close/>
                </a:path>
              </a:pathLst>
            </a:custGeom>
            <a:blipFill>
              <a:blip r:embed="rId3">
                <a:alphaModFix amt="0"/>
              </a:blip>
              <a:stretch>
                <a:fillRect l="0" t="-306726" r="0" b="-306726"/>
              </a:stretch>
            </a:blipFill>
          </p:spPr>
        </p:sp>
        <p:sp>
          <p:nvSpPr>
            <p:cNvPr name="TextBox 7" id="7"/>
            <p:cNvSpPr txBox="true"/>
            <p:nvPr/>
          </p:nvSpPr>
          <p:spPr>
            <a:xfrm>
              <a:off x="0" y="-9525"/>
              <a:ext cx="21762720" cy="1198245"/>
            </a:xfrm>
            <a:prstGeom prst="rect">
              <a:avLst/>
            </a:prstGeom>
          </p:spPr>
          <p:txBody>
            <a:bodyPr anchor="ctr" rtlCol="false" tIns="0" lIns="0" bIns="0" rIns="0"/>
            <a:lstStyle/>
            <a:p>
              <a:pPr algn="l">
                <a:lnSpc>
                  <a:spcPts val="6120"/>
                </a:lnSpc>
              </a:pPr>
              <a:r>
                <a:rPr lang="en-US" sz="5100" b="true">
                  <a:solidFill>
                    <a:srgbClr val="FFFFFF"/>
                  </a:solidFill>
                  <a:latin typeface="Cambria Bold"/>
                  <a:ea typeface="Cambria Bold"/>
                  <a:cs typeface="Cambria Bold"/>
                  <a:sym typeface="Cambria Bold"/>
                </a:rPr>
                <a:t>What is not built, and what I would fund</a:t>
              </a:r>
            </a:p>
          </p:txBody>
        </p:sp>
      </p:grpSp>
      <p:grpSp>
        <p:nvGrpSpPr>
          <p:cNvPr name="Group 8" id="8"/>
          <p:cNvGrpSpPr/>
          <p:nvPr/>
        </p:nvGrpSpPr>
        <p:grpSpPr>
          <a:xfrm rot="0">
            <a:off x="960120" y="2674620"/>
            <a:ext cx="7543800" cy="480060"/>
            <a:chOff x="0" y="0"/>
            <a:chExt cx="10058400" cy="640080"/>
          </a:xfrm>
        </p:grpSpPr>
        <p:sp>
          <p:nvSpPr>
            <p:cNvPr name="Freeform 9" id="9"/>
            <p:cNvSpPr/>
            <p:nvPr/>
          </p:nvSpPr>
          <p:spPr>
            <a:xfrm flipH="false" flipV="false" rot="0">
              <a:off x="0" y="0"/>
              <a:ext cx="10058400" cy="640080"/>
            </a:xfrm>
            <a:custGeom>
              <a:avLst/>
              <a:gdLst/>
              <a:ahLst/>
              <a:cxnLst/>
              <a:rect r="r" b="b" t="t" l="l"/>
              <a:pathLst>
                <a:path h="640080" w="10058400">
                  <a:moveTo>
                    <a:pt x="0" y="0"/>
                  </a:moveTo>
                  <a:lnTo>
                    <a:pt x="10058400" y="0"/>
                  </a:lnTo>
                  <a:lnTo>
                    <a:pt x="10058400" y="640080"/>
                  </a:lnTo>
                  <a:lnTo>
                    <a:pt x="0" y="640080"/>
                  </a:lnTo>
                  <a:close/>
                </a:path>
              </a:pathLst>
            </a:custGeom>
            <a:blipFill>
              <a:blip r:embed="rId3">
                <a:alphaModFix amt="0"/>
              </a:blip>
              <a:stretch>
                <a:fillRect l="0" t="-256193" r="0" b="-256193"/>
              </a:stretch>
            </a:blipFill>
          </p:spPr>
        </p:sp>
        <p:sp>
          <p:nvSpPr>
            <p:cNvPr name="TextBox 10" id="10"/>
            <p:cNvSpPr txBox="true"/>
            <p:nvPr/>
          </p:nvSpPr>
          <p:spPr>
            <a:xfrm>
              <a:off x="0" y="-47625"/>
              <a:ext cx="10058400" cy="687705"/>
            </a:xfrm>
            <a:prstGeom prst="rect">
              <a:avLst/>
            </a:prstGeom>
          </p:spPr>
          <p:txBody>
            <a:bodyPr anchor="ctr" rtlCol="false" tIns="0" lIns="0" bIns="0" rIns="0"/>
            <a:lstStyle/>
            <a:p>
              <a:pPr algn="l">
                <a:lnSpc>
                  <a:spcPts val="2340"/>
                </a:lnSpc>
              </a:pPr>
              <a:r>
                <a:rPr lang="en-US" b="true" sz="1950" spc="150">
                  <a:solidFill>
                    <a:srgbClr val="CADCFC"/>
                  </a:solidFill>
                  <a:latin typeface="Calibri (MS) Bold"/>
                  <a:ea typeface="Calibri (MS) Bold"/>
                  <a:cs typeface="Calibri (MS) Bold"/>
                  <a:sym typeface="Calibri (MS) Bold"/>
                </a:rPr>
                <a:t>Not built</a:t>
              </a:r>
            </a:p>
          </p:txBody>
        </p:sp>
      </p:grpSp>
      <p:grpSp>
        <p:nvGrpSpPr>
          <p:cNvPr name="Group 11" id="11"/>
          <p:cNvGrpSpPr/>
          <p:nvPr/>
        </p:nvGrpSpPr>
        <p:grpSpPr>
          <a:xfrm rot="0">
            <a:off x="960120" y="3291840"/>
            <a:ext cx="7680960" cy="3566160"/>
            <a:chOff x="0" y="0"/>
            <a:chExt cx="10241280" cy="4754880"/>
          </a:xfrm>
        </p:grpSpPr>
        <p:sp>
          <p:nvSpPr>
            <p:cNvPr name="Freeform 12" id="12"/>
            <p:cNvSpPr/>
            <p:nvPr/>
          </p:nvSpPr>
          <p:spPr>
            <a:xfrm flipH="false" flipV="false" rot="0">
              <a:off x="0" y="0"/>
              <a:ext cx="10241280" cy="4754880"/>
            </a:xfrm>
            <a:custGeom>
              <a:avLst/>
              <a:gdLst/>
              <a:ahLst/>
              <a:cxnLst/>
              <a:rect r="r" b="b" t="t" l="l"/>
              <a:pathLst>
                <a:path h="4754880" w="10241280">
                  <a:moveTo>
                    <a:pt x="0" y="0"/>
                  </a:moveTo>
                  <a:lnTo>
                    <a:pt x="10241280" y="0"/>
                  </a:lnTo>
                  <a:lnTo>
                    <a:pt x="10241280" y="4754880"/>
                  </a:lnTo>
                  <a:lnTo>
                    <a:pt x="0" y="4754880"/>
                  </a:lnTo>
                  <a:close/>
                </a:path>
              </a:pathLst>
            </a:custGeom>
            <a:blipFill>
              <a:blip r:embed="rId3">
                <a:alphaModFix amt="0"/>
              </a:blip>
              <a:stretch>
                <a:fillRect l="-9569" t="0" r="-9569" b="0"/>
              </a:stretch>
            </a:blipFill>
          </p:spPr>
        </p:sp>
        <p:sp>
          <p:nvSpPr>
            <p:cNvPr name="TextBox 13" id="13"/>
            <p:cNvSpPr txBox="true"/>
            <p:nvPr/>
          </p:nvSpPr>
          <p:spPr>
            <a:xfrm>
              <a:off x="0" y="-76200"/>
              <a:ext cx="10241280" cy="4831080"/>
            </a:xfrm>
            <a:prstGeom prst="rect">
              <a:avLst/>
            </a:prstGeom>
          </p:spPr>
          <p:txBody>
            <a:bodyPr anchor="ctr" rtlCol="false" tIns="0" lIns="0" bIns="0" rIns="0"/>
            <a:lstStyle/>
            <a:p>
              <a:pPr algn="l" marL="380048" indent="-190024" lvl="1">
                <a:lnSpc>
                  <a:spcPts val="2849"/>
                </a:lnSpc>
                <a:buFont typeface="Arial"/>
                <a:buChar char="•"/>
              </a:pPr>
              <a:r>
                <a:rPr lang="en-US" sz="2100">
                  <a:solidFill>
                    <a:srgbClr val="FFFFFF"/>
                  </a:solidFill>
                  <a:latin typeface="Calibri (MS)"/>
                  <a:ea typeface="Calibri (MS)"/>
                  <a:cs typeface="Calibri (MS)"/>
                  <a:sym typeface="Calibri (MS)"/>
                </a:rPr>
                <a:t>No live hotel availability. Room counts are nominal from the partner list.</a:t>
              </a:r>
            </a:p>
            <a:p>
              <a:pPr algn="l" marL="380048" indent="-190024" lvl="1">
                <a:lnSpc>
                  <a:spcPts val="2849"/>
                </a:lnSpc>
                <a:buFont typeface="Arial"/>
                <a:buChar char="•"/>
              </a:pPr>
              <a:r>
                <a:rPr lang="en-US" sz="2100">
                  <a:solidFill>
                    <a:srgbClr val="FFFFFF"/>
                  </a:solidFill>
                  <a:latin typeface="Calibri (MS)"/>
                  <a:ea typeface="Calibri (MS)"/>
                  <a:cs typeface="Calibri (MS)"/>
                  <a:sym typeface="Calibri (MS)"/>
                </a:rPr>
                <a:t>No outbound sending. Workflow 2 suggests, it does not contact hotels.</a:t>
              </a:r>
            </a:p>
            <a:p>
              <a:pPr algn="l" marL="380048" indent="-190024" lvl="1">
                <a:lnSpc>
                  <a:spcPts val="2849"/>
                </a:lnSpc>
                <a:buFont typeface="Arial"/>
                <a:buChar char="•"/>
              </a:pPr>
              <a:r>
                <a:rPr lang="en-US" sz="2100">
                  <a:solidFill>
                    <a:srgbClr val="FFFFFF"/>
                  </a:solidFill>
                  <a:latin typeface="Calibri (MS)"/>
                  <a:ea typeface="Calibri (MS)"/>
                  <a:cs typeface="Calibri (MS)"/>
                  <a:sym typeface="Calibri (MS)"/>
                </a:rPr>
                <a:t>One incident reference across all three workflows is designed, not yet wired.</a:t>
              </a:r>
            </a:p>
            <a:p>
              <a:pPr algn="l" marL="380048" indent="-190024" lvl="1">
                <a:lnSpc>
                  <a:spcPts val="2849"/>
                </a:lnSpc>
                <a:buFont typeface="Arial"/>
                <a:buChar char="•"/>
              </a:pPr>
              <a:r>
                <a:rPr lang="en-US" sz="2100">
                  <a:solidFill>
                    <a:srgbClr val="FFFFFF"/>
                  </a:solidFill>
                  <a:latin typeface="Calibri (MS)"/>
                  <a:ea typeface="Calibri (MS)"/>
                  <a:cs typeface="Calibri (MS)"/>
                  <a:sym typeface="Calibri (MS)"/>
                </a:rPr>
                <a:t>No integration to a reservation system. Trip origin is synthetic.</a:t>
              </a:r>
            </a:p>
          </p:txBody>
        </p:sp>
      </p:grpSp>
      <p:grpSp>
        <p:nvGrpSpPr>
          <p:cNvPr name="Group 14" id="14"/>
          <p:cNvGrpSpPr/>
          <p:nvPr/>
        </p:nvGrpSpPr>
        <p:grpSpPr>
          <a:xfrm rot="0">
            <a:off x="9358503" y="2596515"/>
            <a:ext cx="7974330" cy="4682490"/>
            <a:chOff x="0" y="0"/>
            <a:chExt cx="10632440" cy="6243320"/>
          </a:xfrm>
        </p:grpSpPr>
        <p:sp>
          <p:nvSpPr>
            <p:cNvPr name="Freeform 15" id="15"/>
            <p:cNvSpPr/>
            <p:nvPr/>
          </p:nvSpPr>
          <p:spPr>
            <a:xfrm flipH="false" flipV="false" rot="0">
              <a:off x="0" y="0"/>
              <a:ext cx="10632440" cy="6243320"/>
            </a:xfrm>
            <a:custGeom>
              <a:avLst/>
              <a:gdLst/>
              <a:ahLst/>
              <a:cxnLst/>
              <a:rect r="r" b="b" t="t" l="l"/>
              <a:pathLst>
                <a:path h="6243320" w="10632440">
                  <a:moveTo>
                    <a:pt x="0" y="146939"/>
                  </a:moveTo>
                  <a:cubicBezTo>
                    <a:pt x="0" y="65786"/>
                    <a:pt x="65786" y="0"/>
                    <a:pt x="146939" y="0"/>
                  </a:cubicBezTo>
                  <a:lnTo>
                    <a:pt x="10485501" y="0"/>
                  </a:lnTo>
                  <a:cubicBezTo>
                    <a:pt x="10566654" y="0"/>
                    <a:pt x="10632440" y="65786"/>
                    <a:pt x="10632440" y="146939"/>
                  </a:cubicBezTo>
                  <a:lnTo>
                    <a:pt x="10632440" y="6096381"/>
                  </a:lnTo>
                  <a:cubicBezTo>
                    <a:pt x="10632440" y="6177534"/>
                    <a:pt x="10566654" y="6243320"/>
                    <a:pt x="10485501" y="6243320"/>
                  </a:cubicBezTo>
                  <a:lnTo>
                    <a:pt x="146939" y="6243320"/>
                  </a:lnTo>
                  <a:cubicBezTo>
                    <a:pt x="65786" y="6243320"/>
                    <a:pt x="0" y="6177534"/>
                    <a:pt x="0" y="6096381"/>
                  </a:cubicBezTo>
                  <a:close/>
                </a:path>
              </a:pathLst>
            </a:custGeom>
            <a:solidFill>
              <a:srgbClr val="263B62"/>
            </a:solidFill>
            <a:ln w="19050" cap="sq">
              <a:solidFill>
                <a:srgbClr val="263B62"/>
              </a:solidFill>
              <a:prstDash val="solid"/>
              <a:miter/>
            </a:ln>
          </p:spPr>
        </p:sp>
      </p:grpSp>
      <p:grpSp>
        <p:nvGrpSpPr>
          <p:cNvPr name="Group 16" id="16"/>
          <p:cNvGrpSpPr/>
          <p:nvPr/>
        </p:nvGrpSpPr>
        <p:grpSpPr>
          <a:xfrm rot="0">
            <a:off x="9848088" y="2907792"/>
            <a:ext cx="6995160" cy="480060"/>
            <a:chOff x="0" y="0"/>
            <a:chExt cx="9326880" cy="640080"/>
          </a:xfrm>
        </p:grpSpPr>
        <p:sp>
          <p:nvSpPr>
            <p:cNvPr name="Freeform 17" id="17"/>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3">
                <a:alphaModFix amt="0"/>
              </a:blip>
              <a:stretch>
                <a:fillRect l="0" t="-233924" r="0" b="-233924"/>
              </a:stretch>
            </a:blipFill>
          </p:spPr>
        </p:sp>
        <p:sp>
          <p:nvSpPr>
            <p:cNvPr name="TextBox 18" id="18"/>
            <p:cNvSpPr txBox="true"/>
            <p:nvPr/>
          </p:nvSpPr>
          <p:spPr>
            <a:xfrm>
              <a:off x="0" y="-47625"/>
              <a:ext cx="9326880" cy="687705"/>
            </a:xfrm>
            <a:prstGeom prst="rect">
              <a:avLst/>
            </a:prstGeom>
          </p:spPr>
          <p:txBody>
            <a:bodyPr anchor="ctr" rtlCol="false" tIns="0" lIns="0" bIns="0" rIns="0"/>
            <a:lstStyle/>
            <a:p>
              <a:pPr algn="l">
                <a:lnSpc>
                  <a:spcPts val="2340"/>
                </a:lnSpc>
              </a:pPr>
              <a:r>
                <a:rPr lang="en-US" b="true" sz="1950" spc="150">
                  <a:solidFill>
                    <a:srgbClr val="CADCFC"/>
                  </a:solidFill>
                  <a:latin typeface="Calibri (MS) Bold"/>
                  <a:ea typeface="Calibri (MS) Bold"/>
                  <a:cs typeface="Calibri (MS) Bold"/>
                  <a:sym typeface="Calibri (MS) Bold"/>
                </a:rPr>
                <a:t>The ask</a:t>
              </a:r>
            </a:p>
          </p:txBody>
        </p:sp>
      </p:grpSp>
      <p:grpSp>
        <p:nvGrpSpPr>
          <p:cNvPr name="Group 19" id="19"/>
          <p:cNvGrpSpPr/>
          <p:nvPr/>
        </p:nvGrpSpPr>
        <p:grpSpPr>
          <a:xfrm rot="0">
            <a:off x="9848088" y="3429000"/>
            <a:ext cx="6995160" cy="1028700"/>
            <a:chOff x="0" y="0"/>
            <a:chExt cx="9326880" cy="1371600"/>
          </a:xfrm>
        </p:grpSpPr>
        <p:sp>
          <p:nvSpPr>
            <p:cNvPr name="Freeform 20" id="20"/>
            <p:cNvSpPr/>
            <p:nvPr/>
          </p:nvSpPr>
          <p:spPr>
            <a:xfrm flipH="false" flipV="false" rot="0">
              <a:off x="0" y="0"/>
              <a:ext cx="9326880" cy="1371600"/>
            </a:xfrm>
            <a:custGeom>
              <a:avLst/>
              <a:gdLst/>
              <a:ahLst/>
              <a:cxnLst/>
              <a:rect r="r" b="b" t="t" l="l"/>
              <a:pathLst>
                <a:path h="1371600" w="9326880">
                  <a:moveTo>
                    <a:pt x="0" y="0"/>
                  </a:moveTo>
                  <a:lnTo>
                    <a:pt x="9326880" y="0"/>
                  </a:lnTo>
                  <a:lnTo>
                    <a:pt x="9326880" y="1371600"/>
                  </a:lnTo>
                  <a:lnTo>
                    <a:pt x="0" y="1371600"/>
                  </a:lnTo>
                  <a:close/>
                </a:path>
              </a:pathLst>
            </a:custGeom>
            <a:blipFill>
              <a:blip r:embed="rId3">
                <a:alphaModFix amt="0"/>
              </a:blip>
              <a:stretch>
                <a:fillRect l="0" t="-82498" r="0" b="-82498"/>
              </a:stretch>
            </a:blipFill>
          </p:spPr>
        </p:sp>
        <p:sp>
          <p:nvSpPr>
            <p:cNvPr name="TextBox 21" id="21"/>
            <p:cNvSpPr txBox="true"/>
            <p:nvPr/>
          </p:nvSpPr>
          <p:spPr>
            <a:xfrm>
              <a:off x="0" y="9525"/>
              <a:ext cx="9326880" cy="1362075"/>
            </a:xfrm>
            <a:prstGeom prst="rect">
              <a:avLst/>
            </a:prstGeom>
          </p:spPr>
          <p:txBody>
            <a:bodyPr anchor="ctr" rtlCol="false" tIns="0" lIns="0" bIns="0" rIns="0"/>
            <a:lstStyle/>
            <a:p>
              <a:pPr algn="l">
                <a:lnSpc>
                  <a:spcPts val="4350"/>
                </a:lnSpc>
              </a:pPr>
              <a:r>
                <a:rPr lang="en-US" sz="3750" b="true">
                  <a:solidFill>
                    <a:srgbClr val="FFFFFF"/>
                  </a:solidFill>
                  <a:latin typeface="Cambria Bold"/>
                  <a:ea typeface="Cambria Bold"/>
                  <a:cs typeface="Cambria Bold"/>
                  <a:sym typeface="Cambria Bold"/>
                </a:rPr>
                <a:t>Fund a pilot, not the integration</a:t>
              </a:r>
            </a:p>
          </p:txBody>
        </p:sp>
      </p:grpSp>
      <p:grpSp>
        <p:nvGrpSpPr>
          <p:cNvPr name="Group 22" id="22"/>
          <p:cNvGrpSpPr/>
          <p:nvPr/>
        </p:nvGrpSpPr>
        <p:grpSpPr>
          <a:xfrm rot="0">
            <a:off x="9848088" y="4594860"/>
            <a:ext cx="6995160" cy="1371600"/>
            <a:chOff x="0" y="0"/>
            <a:chExt cx="9326880" cy="1828800"/>
          </a:xfrm>
        </p:grpSpPr>
        <p:sp>
          <p:nvSpPr>
            <p:cNvPr name="Freeform 23" id="23"/>
            <p:cNvSpPr/>
            <p:nvPr/>
          </p:nvSpPr>
          <p:spPr>
            <a:xfrm flipH="false" flipV="false" rot="0">
              <a:off x="0" y="0"/>
              <a:ext cx="9326880" cy="1828800"/>
            </a:xfrm>
            <a:custGeom>
              <a:avLst/>
              <a:gdLst/>
              <a:ahLst/>
              <a:cxnLst/>
              <a:rect r="r" b="b" t="t" l="l"/>
              <a:pathLst>
                <a:path h="1828800" w="9326880">
                  <a:moveTo>
                    <a:pt x="0" y="0"/>
                  </a:moveTo>
                  <a:lnTo>
                    <a:pt x="9326880" y="0"/>
                  </a:lnTo>
                  <a:lnTo>
                    <a:pt x="9326880" y="1828800"/>
                  </a:lnTo>
                  <a:lnTo>
                    <a:pt x="0" y="1828800"/>
                  </a:lnTo>
                  <a:close/>
                </a:path>
              </a:pathLst>
            </a:custGeom>
            <a:blipFill>
              <a:blip r:embed="rId3">
                <a:alphaModFix amt="0"/>
              </a:blip>
              <a:stretch>
                <a:fillRect l="0" t="-49373" r="0" b="-49373"/>
              </a:stretch>
            </a:blipFill>
          </p:spPr>
        </p:sp>
        <p:sp>
          <p:nvSpPr>
            <p:cNvPr name="TextBox 24" id="24"/>
            <p:cNvSpPr txBox="true"/>
            <p:nvPr/>
          </p:nvSpPr>
          <p:spPr>
            <a:xfrm>
              <a:off x="0" y="-76200"/>
              <a:ext cx="9326880" cy="1905000"/>
            </a:xfrm>
            <a:prstGeom prst="rect">
              <a:avLst/>
            </a:prstGeom>
          </p:spPr>
          <p:txBody>
            <a:bodyPr anchor="ctr" rtlCol="false" tIns="0" lIns="0" bIns="0" rIns="0"/>
            <a:lstStyle/>
            <a:p>
              <a:pPr algn="l">
                <a:lnSpc>
                  <a:spcPts val="2849"/>
                </a:lnSpc>
              </a:pPr>
              <a:r>
                <a:rPr lang="en-US" sz="2100">
                  <a:solidFill>
                    <a:srgbClr val="CADCFC"/>
                  </a:solidFill>
                  <a:latin typeface="Calibri (MS)"/>
                  <a:ea typeface="Calibri (MS)"/>
                  <a:cs typeface="Calibri (MS)"/>
                  <a:sym typeface="Calibri (MS)"/>
                </a:rPr>
                <a:t>Three stations where a trip origin feed already exists. Eight to twelve weeks. One job: measure the real capture rate against the assumption.</a:t>
              </a:r>
            </a:p>
          </p:txBody>
        </p:sp>
      </p:grpSp>
      <p:grpSp>
        <p:nvGrpSpPr>
          <p:cNvPr name="Group 25" id="25"/>
          <p:cNvGrpSpPr/>
          <p:nvPr/>
        </p:nvGrpSpPr>
        <p:grpSpPr>
          <a:xfrm rot="0">
            <a:off x="9848088" y="6035040"/>
            <a:ext cx="6995160" cy="960120"/>
            <a:chOff x="0" y="0"/>
            <a:chExt cx="9326880" cy="1280160"/>
          </a:xfrm>
        </p:grpSpPr>
        <p:sp>
          <p:nvSpPr>
            <p:cNvPr name="Freeform 26" id="26"/>
            <p:cNvSpPr/>
            <p:nvPr/>
          </p:nvSpPr>
          <p:spPr>
            <a:xfrm flipH="false" flipV="false" rot="0">
              <a:off x="0" y="0"/>
              <a:ext cx="9326880" cy="1280160"/>
            </a:xfrm>
            <a:custGeom>
              <a:avLst/>
              <a:gdLst/>
              <a:ahLst/>
              <a:cxnLst/>
              <a:rect r="r" b="b" t="t" l="l"/>
              <a:pathLst>
                <a:path h="1280160" w="9326880">
                  <a:moveTo>
                    <a:pt x="0" y="0"/>
                  </a:moveTo>
                  <a:lnTo>
                    <a:pt x="9326880" y="0"/>
                  </a:lnTo>
                  <a:lnTo>
                    <a:pt x="9326880" y="1280160"/>
                  </a:lnTo>
                  <a:lnTo>
                    <a:pt x="0" y="1280160"/>
                  </a:lnTo>
                  <a:close/>
                </a:path>
              </a:pathLst>
            </a:custGeom>
            <a:blipFill>
              <a:blip r:embed="rId3">
                <a:alphaModFix amt="0"/>
              </a:blip>
              <a:stretch>
                <a:fillRect l="0" t="-91962" r="0" b="-91962"/>
              </a:stretch>
            </a:blipFill>
          </p:spPr>
        </p:sp>
        <p:sp>
          <p:nvSpPr>
            <p:cNvPr name="TextBox 27" id="27"/>
            <p:cNvSpPr txBox="true"/>
            <p:nvPr/>
          </p:nvSpPr>
          <p:spPr>
            <a:xfrm>
              <a:off x="0" y="-85725"/>
              <a:ext cx="9326880" cy="1365885"/>
            </a:xfrm>
            <a:prstGeom prst="rect">
              <a:avLst/>
            </a:prstGeom>
          </p:spPr>
          <p:txBody>
            <a:bodyPr anchor="ctr" rtlCol="false" tIns="0" lIns="0" bIns="0" rIns="0"/>
            <a:lstStyle/>
            <a:p>
              <a:pPr algn="l">
                <a:lnSpc>
                  <a:spcPts val="2700"/>
                </a:lnSpc>
              </a:pPr>
              <a:r>
                <a:rPr lang="en-US" sz="1950" b="true">
                  <a:solidFill>
                    <a:srgbClr val="FFFFFF"/>
                  </a:solidFill>
                  <a:latin typeface="Calibri (MS) Bold"/>
                  <a:ea typeface="Calibri (MS) Bold"/>
                  <a:cs typeface="Calibri (MS) Bold"/>
                  <a:sym typeface="Calibri (MS) Bold"/>
                </a:rPr>
                <a:t>Everything else in the model barely moves the answer. This one number decides it.</a:t>
              </a:r>
            </a:p>
          </p:txBody>
        </p:sp>
      </p:grpSp>
      <p:grpSp>
        <p:nvGrpSpPr>
          <p:cNvPr name="Group 28" id="28"/>
          <p:cNvGrpSpPr/>
          <p:nvPr/>
        </p:nvGrpSpPr>
        <p:grpSpPr>
          <a:xfrm rot="0">
            <a:off x="960120" y="7818120"/>
            <a:ext cx="16322040" cy="960120"/>
            <a:chOff x="0" y="0"/>
            <a:chExt cx="21762720" cy="1280160"/>
          </a:xfrm>
        </p:grpSpPr>
        <p:sp>
          <p:nvSpPr>
            <p:cNvPr name="Freeform 29" id="29"/>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30" id="30"/>
            <p:cNvSpPr txBox="true"/>
            <p:nvPr/>
          </p:nvSpPr>
          <p:spPr>
            <a:xfrm>
              <a:off x="0" y="-38100"/>
              <a:ext cx="21762720" cy="1318260"/>
            </a:xfrm>
            <a:prstGeom prst="rect">
              <a:avLst/>
            </a:prstGeom>
          </p:spPr>
          <p:txBody>
            <a:bodyPr anchor="ctr" rtlCol="false" tIns="0" lIns="0" bIns="0" rIns="0"/>
            <a:lstStyle/>
            <a:p>
              <a:pPr algn="l">
                <a:lnSpc>
                  <a:spcPts val="3750"/>
                </a:lnSpc>
              </a:pPr>
              <a:r>
                <a:rPr lang="en-US" sz="2850" b="true">
                  <a:solidFill>
                    <a:srgbClr val="CADCFC"/>
                  </a:solidFill>
                  <a:latin typeface="Cambria Bold"/>
                  <a:ea typeface="Cambria Bold"/>
                  <a:cs typeface="Cambria Bold"/>
                  <a:sym typeface="Cambria Bold"/>
                </a:rPr>
                <a:t>The software is cheap and the return is large, but both depend on one feed of data you already own and do not yet use at the station.</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0" y="0"/>
            <a:ext cx="18288000"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DAHULYpRhSw</dc:identifier>
  <dcterms:modified xsi:type="dcterms:W3CDTF">2011-08-01T06:04:30Z</dcterms:modified>
  <cp:revision>1</cp:revision>
  <dc:title>disruption_care_capstone.pptx</dc:title>
</cp:coreProperties>
</file>