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scene, not the tech. 'At 19:40 a flight cancels and one person has to solve it.' Do not read the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failures: over booking and stalling. Both come from missing information, not from bad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she asks whether you are cutting EU261 costs: no. Anyone pitching that is either wrong or planning to under provide care, which is unlawful. You recover over spend, not statutory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number only. If asked why not more precise: the ceiling is what the data supports, capture rate is the assumption, and that is exactly what the pilot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sentence in the green box out loud. It is the answer to half the questions you will 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result page shows the exact payload the model received. Offer to open it if she pushes on transparency. Confirm the demo numbers against your own run before you present.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asked why not book automatically: an enquiry commits nothing, a booking commits money, and the second one needs a person. That is also what keeps the AI Act classification out of high risk.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that breaks the privacy design. Do not hide it. Slide 9 handles it head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Concede the fact instantly, then show you knew the boundary. Article 6(3) narrow task exemption plus the human authorisation gate. Annex III high risk duties are deferred to December 2027 anyway, but that is not the argument you lead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pilot, not on the 9.2M. Asking for a small, measurable step is what a consultant does. Asking for the full build on an unproven assumption is what a vendor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1371600"/>
            <a:ext cx="10058400" cy="274320"/>
          </a:xfrm>
          <a:prstGeom prst="rect">
            <a:avLst/>
          </a:prstGeom>
          <a:noFill/>
          <a:ln/>
        </p:spPr>
        <p:txBody>
          <a:bodyPr wrap="square" lIns="0" tIns="0" rIns="0" bIns="0" rtlCol="0" anchor="ctr"/>
          <a:lstStyle/>
          <a:p>
            <a:pPr indent="0" marL="0">
              <a:buNone/>
            </a:pPr>
            <a:r>
              <a:rPr lang="en-US" sz="1200" b="1" spc="300" kern="0" dirty="0">
                <a:solidFill>
                  <a:srgbClr val="CADCFC"/>
                </a:solidFill>
                <a:latin typeface="Calibri" pitchFamily="34" charset="0"/>
                <a:ea typeface="Calibri" pitchFamily="34" charset="-122"/>
                <a:cs typeface="Calibri" pitchFamily="34" charset="-120"/>
              </a:rPr>
              <a:t>IRONHACK  AI  CONSULTING  CAPSTONE</a:t>
            </a:r>
            <a:endParaRPr lang="en-US" sz="1200" dirty="0"/>
          </a:p>
        </p:txBody>
      </p:sp>
      <p:sp>
        <p:nvSpPr>
          <p:cNvPr id="3" name="Text 1"/>
          <p:cNvSpPr txBox="1"/>
          <p:nvPr/>
        </p:nvSpPr>
        <p:spPr>
          <a:xfrm>
            <a:off x="640080" y="1828800"/>
            <a:ext cx="10515600" cy="1005840"/>
          </a:xfrm>
          <a:prstGeom prst="rect">
            <a:avLst/>
          </a:prstGeom>
          <a:noFill/>
          <a:ln/>
        </p:spPr>
        <p:txBody>
          <a:bodyPr wrap="square" lIns="0" tIns="0" rIns="0" bIns="0"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The night the flight cancels</a:t>
            </a:r>
            <a:endParaRPr lang="en-US" sz="4600" dirty="0"/>
          </a:p>
        </p:txBody>
      </p:sp>
      <p:sp>
        <p:nvSpPr>
          <p:cNvPr id="4" name="Text 2"/>
          <p:cNvSpPr txBox="1"/>
          <p:nvPr/>
        </p:nvSpPr>
        <p:spPr>
          <a:xfrm>
            <a:off x="640080" y="2880360"/>
            <a:ext cx="8778240" cy="822960"/>
          </a:xfrm>
          <a:prstGeom prst="rect">
            <a:avLst/>
          </a:prstGeom>
          <a:noFill/>
          <a:ln/>
        </p:spPr>
        <p:txBody>
          <a:bodyPr wrap="square" lIns="0" tIns="0" rIns="0" bIns="0" rtlCol="0" anchor="ctr"/>
          <a:lstStyle/>
          <a:p>
            <a:pPr indent="0" marL="0">
              <a:lnSpc>
                <a:spcPts val="2600"/>
              </a:lnSpc>
              <a:buNone/>
            </a:pPr>
            <a:r>
              <a:rPr lang="en-US" sz="1700" dirty="0">
                <a:solidFill>
                  <a:srgbClr val="CADCFC"/>
                </a:solidFill>
                <a:latin typeface="Calibri" pitchFamily="34" charset="0"/>
                <a:ea typeface="Calibri" pitchFamily="34" charset="-122"/>
                <a:cs typeface="Calibri" pitchFamily="34" charset="-120"/>
              </a:rPr>
              <a:t>Decision support for airline disruption care. Three working n8n workflows that cost the night, source the rooms, and capture what was agreed.</a:t>
            </a:r>
            <a:endParaRPr lang="en-US" sz="1700" dirty="0"/>
          </a:p>
        </p:txBody>
      </p:sp>
      <p:sp>
        <p:nvSpPr>
          <p:cNvPr id="5" name="Shape 3"/>
          <p:cNvSpPr/>
          <p:nvPr/>
        </p:nvSpPr>
        <p:spPr>
          <a:xfrm>
            <a:off x="640080" y="3977640"/>
            <a:ext cx="1005840" cy="27432"/>
          </a:xfrm>
          <a:prstGeom prst="rect">
            <a:avLst/>
          </a:prstGeom>
          <a:solidFill>
            <a:srgbClr val="29528F"/>
          </a:solidFill>
          <a:ln/>
        </p:spPr>
      </p:sp>
      <p:sp>
        <p:nvSpPr>
          <p:cNvPr id="6" name="Text 4"/>
          <p:cNvSpPr txBox="1"/>
          <p:nvPr/>
        </p:nvSpPr>
        <p:spPr>
          <a:xfrm>
            <a:off x="640080" y="4206240"/>
            <a:ext cx="8229600" cy="27432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Gordan Skopljak   |   Round 2   |   September 2026</a:t>
            </a:r>
            <a:endParaRPr lang="en-US" sz="1300" dirty="0"/>
          </a:p>
        </p:txBody>
      </p:sp>
      <p:sp>
        <p:nvSpPr>
          <p:cNvPr id="7" name="Text 5"/>
          <p:cNvSpPr txBox="1"/>
          <p:nvPr/>
        </p:nvSpPr>
        <p:spPr>
          <a:xfrm>
            <a:off x="640080" y="5943600"/>
            <a:ext cx="8229600" cy="274320"/>
          </a:xfrm>
          <a:prstGeom prst="rect">
            <a:avLst/>
          </a:prstGeom>
          <a:noFill/>
          <a:ln/>
        </p:spPr>
        <p:txBody>
          <a:bodyPr wrap="square" lIns="0" tIns="0" rIns="0" bIns="0" rtlCol="0" anchor="ctr"/>
          <a:lstStyle/>
          <a:p>
            <a:pPr indent="0" marL="0">
              <a:buNone/>
            </a:pPr>
            <a:r>
              <a:rPr lang="en-US" sz="1100" i="1" dirty="0">
                <a:solidFill>
                  <a:srgbClr val="8FA3C9"/>
                </a:solidFill>
                <a:latin typeface="Calibri" pitchFamily="34" charset="0"/>
                <a:ea typeface="Calibri" pitchFamily="34" charset="-122"/>
                <a:cs typeface="Calibri" pitchFamily="34" charset="-120"/>
              </a:rPr>
              <a:t>Synthetic and public data only. No real passenger data was used.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THE PROBLEM</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One person, three hours, no numbers</a:t>
            </a:r>
            <a:endParaRPr lang="en-US" sz="3400" dirty="0"/>
          </a:p>
        </p:txBody>
      </p:sp>
      <p:sp>
        <p:nvSpPr>
          <p:cNvPr id="4" name="Shape 2"/>
          <p:cNvSpPr/>
          <p:nvPr/>
        </p:nvSpPr>
        <p:spPr>
          <a:xfrm>
            <a:off x="640080" y="1600200"/>
            <a:ext cx="3474720" cy="1965960"/>
          </a:xfrm>
          <a:prstGeom prst="roundRect">
            <a:avLst>
              <a:gd name="adj" fmla="val 3721"/>
            </a:avLst>
          </a:prstGeom>
          <a:solidFill>
            <a:srgbClr val="F7F7F9"/>
          </a:solidFill>
          <a:ln w="12700">
            <a:solidFill>
              <a:srgbClr val="F7F7F9"/>
            </a:solidFill>
            <a:prstDash val="solid"/>
          </a:ln>
        </p:spPr>
      </p:sp>
      <p:sp>
        <p:nvSpPr>
          <p:cNvPr id="5" name="Text 3"/>
          <p:cNvSpPr txBox="1"/>
          <p:nvPr/>
        </p:nvSpPr>
        <p:spPr>
          <a:xfrm>
            <a:off x="914400" y="1783080"/>
            <a:ext cx="2926080" cy="685800"/>
          </a:xfrm>
          <a:prstGeom prst="rect">
            <a:avLst/>
          </a:prstGeom>
          <a:noFill/>
          <a:ln/>
        </p:spPr>
        <p:txBody>
          <a:bodyPr wrap="square" lIns="0" tIns="0" rIns="0" bIns="0" rtlCol="0" anchor="ctr"/>
          <a:lstStyle/>
          <a:p>
            <a:pPr indent="0" marL="0">
              <a:buNone/>
            </a:pPr>
            <a:r>
              <a:rPr lang="en-US" sz="4000" b="1" dirty="0">
                <a:solidFill>
                  <a:srgbClr val="A15C00"/>
                </a:solidFill>
                <a:latin typeface="Cambria" pitchFamily="34" charset="0"/>
                <a:ea typeface="Cambria" pitchFamily="34" charset="-122"/>
                <a:cs typeface="Cambria" pitchFamily="34" charset="-120"/>
              </a:rPr>
              <a:t>19:40</a:t>
            </a:r>
            <a:endParaRPr lang="en-US" sz="4000" dirty="0"/>
          </a:p>
        </p:txBody>
      </p:sp>
      <p:sp>
        <p:nvSpPr>
          <p:cNvPr id="6" name="Text 4"/>
          <p:cNvSpPr txBox="1"/>
          <p:nvPr/>
        </p:nvSpPr>
        <p:spPr>
          <a:xfrm>
            <a:off x="914400" y="2487168"/>
            <a:ext cx="292608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Flight cancels</a:t>
            </a:r>
            <a:endParaRPr lang="en-US" sz="1400" dirty="0"/>
          </a:p>
        </p:txBody>
      </p:sp>
      <p:sp>
        <p:nvSpPr>
          <p:cNvPr id="7" name="Text 5"/>
          <p:cNvSpPr txBox="1"/>
          <p:nvPr/>
        </p:nvSpPr>
        <p:spPr>
          <a:xfrm>
            <a:off x="914400" y="2788920"/>
            <a:ext cx="2926080" cy="685800"/>
          </a:xfrm>
          <a:prstGeom prst="rect">
            <a:avLst/>
          </a:prstGeom>
          <a:noFill/>
          <a:ln/>
        </p:spPr>
        <p:txBody>
          <a:bodyPr wrap="square" lIns="0" tIns="0" rIns="0" bIns="0" rtlCol="0" anchor="ctr"/>
          <a:lstStyle/>
          <a:p>
            <a:pPr indent="0" marL="0">
              <a:lnSpc>
                <a:spcPts val="1600"/>
              </a:lnSpc>
              <a:buNone/>
            </a:pPr>
            <a:r>
              <a:rPr lang="en-US" sz="1200" dirty="0">
                <a:solidFill>
                  <a:srgbClr val="6B6B70"/>
                </a:solidFill>
                <a:latin typeface="Calibri" pitchFamily="34" charset="0"/>
                <a:ea typeface="Calibri" pitchFamily="34" charset="-122"/>
                <a:cs typeface="Calibri" pitchFamily="34" charset="-120"/>
              </a:rPr>
              <a:t>195 passengers, 18 crew, nobody has costed anything yet.</a:t>
            </a:r>
            <a:endParaRPr lang="en-US" sz="1200" dirty="0"/>
          </a:p>
        </p:txBody>
      </p:sp>
      <p:sp>
        <p:nvSpPr>
          <p:cNvPr id="8" name="Shape 6"/>
          <p:cNvSpPr/>
          <p:nvPr/>
        </p:nvSpPr>
        <p:spPr>
          <a:xfrm>
            <a:off x="4352544" y="1600200"/>
            <a:ext cx="3474720" cy="1965960"/>
          </a:xfrm>
          <a:prstGeom prst="roundRect">
            <a:avLst>
              <a:gd name="adj" fmla="val 3721"/>
            </a:avLst>
          </a:prstGeom>
          <a:solidFill>
            <a:srgbClr val="F7F7F9"/>
          </a:solidFill>
          <a:ln w="12700">
            <a:solidFill>
              <a:srgbClr val="F7F7F9"/>
            </a:solidFill>
            <a:prstDash val="solid"/>
          </a:ln>
        </p:spPr>
      </p:sp>
      <p:sp>
        <p:nvSpPr>
          <p:cNvPr id="9" name="Text 7"/>
          <p:cNvSpPr txBox="1"/>
          <p:nvPr/>
        </p:nvSpPr>
        <p:spPr>
          <a:xfrm>
            <a:off x="4626864" y="1783080"/>
            <a:ext cx="2926080" cy="685800"/>
          </a:xfrm>
          <a:prstGeom prst="rect">
            <a:avLst/>
          </a:prstGeom>
          <a:noFill/>
          <a:ln/>
        </p:spPr>
        <p:txBody>
          <a:bodyPr wrap="square" lIns="0" tIns="0" rIns="0" bIns="0" rtlCol="0" anchor="ctr"/>
          <a:lstStyle/>
          <a:p>
            <a:pPr indent="0" marL="0">
              <a:buNone/>
            </a:pPr>
            <a:r>
              <a:rPr lang="en-US" sz="4000" b="1" dirty="0">
                <a:solidFill>
                  <a:srgbClr val="29528F"/>
                </a:solidFill>
                <a:latin typeface="Cambria" pitchFamily="34" charset="0"/>
                <a:ea typeface="Cambria" pitchFamily="34" charset="-122"/>
                <a:cs typeface="Cambria" pitchFamily="34" charset="-120"/>
              </a:rPr>
              <a:t>23:30</a:t>
            </a:r>
            <a:endParaRPr lang="en-US" sz="4000" dirty="0"/>
          </a:p>
        </p:txBody>
      </p:sp>
      <p:sp>
        <p:nvSpPr>
          <p:cNvPr id="10" name="Text 8"/>
          <p:cNvSpPr txBox="1"/>
          <p:nvPr/>
        </p:nvSpPr>
        <p:spPr>
          <a:xfrm>
            <a:off x="4626864" y="2487168"/>
            <a:ext cx="292608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Hotels stop check in</a:t>
            </a:r>
            <a:endParaRPr lang="en-US" sz="1400" dirty="0"/>
          </a:p>
        </p:txBody>
      </p:sp>
      <p:sp>
        <p:nvSpPr>
          <p:cNvPr id="11" name="Text 9"/>
          <p:cNvSpPr txBox="1"/>
          <p:nvPr/>
        </p:nvSpPr>
        <p:spPr>
          <a:xfrm>
            <a:off x="4626864" y="2788920"/>
            <a:ext cx="2926080" cy="685800"/>
          </a:xfrm>
          <a:prstGeom prst="rect">
            <a:avLst/>
          </a:prstGeom>
          <a:noFill/>
          <a:ln/>
        </p:spPr>
        <p:txBody>
          <a:bodyPr wrap="square" lIns="0" tIns="0" rIns="0" bIns="0" rtlCol="0" anchor="ctr"/>
          <a:lstStyle/>
          <a:p>
            <a:pPr indent="0" marL="0">
              <a:lnSpc>
                <a:spcPts val="1600"/>
              </a:lnSpc>
              <a:buNone/>
            </a:pPr>
            <a:r>
              <a:rPr lang="en-US" sz="1200" dirty="0">
                <a:solidFill>
                  <a:srgbClr val="6B6B70"/>
                </a:solidFill>
                <a:latin typeface="Calibri" pitchFamily="34" charset="0"/>
                <a:ea typeface="Calibri" pitchFamily="34" charset="-122"/>
                <a:cs typeface="Calibri" pitchFamily="34" charset="-120"/>
              </a:rPr>
              <a:t>Rooms must be found, priced and approved before this.</a:t>
            </a:r>
            <a:endParaRPr lang="en-US" sz="1200" dirty="0"/>
          </a:p>
        </p:txBody>
      </p:sp>
      <p:sp>
        <p:nvSpPr>
          <p:cNvPr id="12" name="Shape 10"/>
          <p:cNvSpPr/>
          <p:nvPr/>
        </p:nvSpPr>
        <p:spPr>
          <a:xfrm>
            <a:off x="8065008" y="1600200"/>
            <a:ext cx="3474720" cy="1965960"/>
          </a:xfrm>
          <a:prstGeom prst="roundRect">
            <a:avLst>
              <a:gd name="adj" fmla="val 3721"/>
            </a:avLst>
          </a:prstGeom>
          <a:solidFill>
            <a:srgbClr val="F7F7F9"/>
          </a:solidFill>
          <a:ln w="12700">
            <a:solidFill>
              <a:srgbClr val="F7F7F9"/>
            </a:solidFill>
            <a:prstDash val="solid"/>
          </a:ln>
        </p:spPr>
      </p:sp>
      <p:sp>
        <p:nvSpPr>
          <p:cNvPr id="13" name="Text 11"/>
          <p:cNvSpPr txBox="1"/>
          <p:nvPr/>
        </p:nvSpPr>
        <p:spPr>
          <a:xfrm>
            <a:off x="8339328" y="1783080"/>
            <a:ext cx="2926080" cy="685800"/>
          </a:xfrm>
          <a:prstGeom prst="rect">
            <a:avLst/>
          </a:prstGeom>
          <a:noFill/>
          <a:ln/>
        </p:spPr>
        <p:txBody>
          <a:bodyPr wrap="square" lIns="0" tIns="0" rIns="0" bIns="0" rtlCol="0" anchor="ctr"/>
          <a:lstStyle/>
          <a:p>
            <a:pPr indent="0" marL="0">
              <a:buNone/>
            </a:pPr>
            <a:r>
              <a:rPr lang="en-US" sz="4000" b="1" dirty="0">
                <a:solidFill>
                  <a:srgbClr val="29528F"/>
                </a:solidFill>
                <a:latin typeface="Cambria" pitchFamily="34" charset="0"/>
                <a:ea typeface="Cambria" pitchFamily="34" charset="-122"/>
                <a:cs typeface="Cambria" pitchFamily="34" charset="-120"/>
              </a:rPr>
              <a:t>07:00</a:t>
            </a:r>
            <a:endParaRPr lang="en-US" sz="4000" dirty="0"/>
          </a:p>
        </p:txBody>
      </p:sp>
      <p:sp>
        <p:nvSpPr>
          <p:cNvPr id="14" name="Text 12"/>
          <p:cNvSpPr txBox="1"/>
          <p:nvPr/>
        </p:nvSpPr>
        <p:spPr>
          <a:xfrm>
            <a:off x="8339328" y="2487168"/>
            <a:ext cx="292608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Next departure</a:t>
            </a:r>
            <a:endParaRPr lang="en-US" sz="1400" dirty="0"/>
          </a:p>
        </p:txBody>
      </p:sp>
      <p:sp>
        <p:nvSpPr>
          <p:cNvPr id="15" name="Text 13"/>
          <p:cNvSpPr txBox="1"/>
          <p:nvPr/>
        </p:nvSpPr>
        <p:spPr>
          <a:xfrm>
            <a:off x="8339328" y="2788920"/>
            <a:ext cx="2926080" cy="685800"/>
          </a:xfrm>
          <a:prstGeom prst="rect">
            <a:avLst/>
          </a:prstGeom>
          <a:noFill/>
          <a:ln/>
        </p:spPr>
        <p:txBody>
          <a:bodyPr wrap="square" lIns="0" tIns="0" rIns="0" bIns="0" rtlCol="0" anchor="ctr"/>
          <a:lstStyle/>
          <a:p>
            <a:pPr indent="0" marL="0">
              <a:lnSpc>
                <a:spcPts val="1600"/>
              </a:lnSpc>
              <a:buNone/>
            </a:pPr>
            <a:r>
              <a:rPr lang="en-US" sz="1200" dirty="0">
                <a:solidFill>
                  <a:srgbClr val="6B6B70"/>
                </a:solidFill>
                <a:latin typeface="Calibri" pitchFamily="34" charset="0"/>
                <a:ea typeface="Calibri" pitchFamily="34" charset="-122"/>
                <a:cs typeface="Calibri" pitchFamily="34" charset="-120"/>
              </a:rPr>
              <a:t>Whatever rest is left after coaches out and back.</a:t>
            </a:r>
            <a:endParaRPr lang="en-US" sz="1200" dirty="0"/>
          </a:p>
        </p:txBody>
      </p:sp>
      <p:sp>
        <p:nvSpPr>
          <p:cNvPr id="16" name="Text 14"/>
          <p:cNvSpPr txBox="1"/>
          <p:nvPr/>
        </p:nvSpPr>
        <p:spPr>
          <a:xfrm>
            <a:off x="640080" y="3977640"/>
            <a:ext cx="10881360" cy="365760"/>
          </a:xfrm>
          <a:prstGeom prst="rect">
            <a:avLst/>
          </a:prstGeom>
          <a:noFill/>
          <a:ln/>
        </p:spPr>
        <p:txBody>
          <a:bodyPr wrap="square" lIns="0" tIns="0" rIns="0" bIns="0" rtlCol="0" anchor="ctr"/>
          <a:lstStyle/>
          <a:p>
            <a:pPr indent="0" marL="0">
              <a:buNone/>
            </a:pPr>
            <a:r>
              <a:rPr lang="en-US" sz="2200" b="1" dirty="0">
                <a:solidFill>
                  <a:srgbClr val="1C1C1E"/>
                </a:solidFill>
                <a:latin typeface="Cambria" pitchFamily="34" charset="0"/>
                <a:ea typeface="Cambria" pitchFamily="34" charset="-122"/>
                <a:cs typeface="Cambria" pitchFamily="34" charset="-120"/>
              </a:rPr>
              <a:t>The station duty manager works from memory and a phone list.</a:t>
            </a:r>
            <a:endParaRPr lang="en-US" sz="2200" dirty="0"/>
          </a:p>
        </p:txBody>
      </p:sp>
      <p:sp>
        <p:nvSpPr>
          <p:cNvPr id="17" name="Text 15"/>
          <p:cNvSpPr txBox="1"/>
          <p:nvPr/>
        </p:nvSpPr>
        <p:spPr>
          <a:xfrm>
            <a:off x="640080" y="4434840"/>
            <a:ext cx="10881360" cy="1097280"/>
          </a:xfrm>
          <a:prstGeom prst="rect">
            <a:avLst/>
          </a:prstGeom>
          <a:noFill/>
          <a:ln/>
        </p:spPr>
        <p:txBody>
          <a:bodyPr wrap="square" lIns="0" tIns="0" rIns="0" bIns="0" rtlCol="0" anchor="ctr"/>
          <a:lstStyle/>
          <a:p>
            <a:pPr marL="342900" indent="-342900">
              <a:lnSpc>
                <a:spcPts val="2000"/>
              </a:lnSpc>
              <a:spcAft>
                <a:spcPts val="800"/>
              </a:spcAft>
              <a:buSzPct val="100000"/>
              <a:buChar char="•"/>
            </a:pPr>
            <a:r>
              <a:rPr lang="en-US" sz="1500" dirty="0">
                <a:solidFill>
                  <a:srgbClr val="1C1C1E"/>
                </a:solidFill>
                <a:latin typeface="Calibri" pitchFamily="34" charset="0"/>
                <a:ea typeface="Calibri" pitchFamily="34" charset="-122"/>
                <a:cs typeface="Calibri" pitchFamily="34" charset="-120"/>
              </a:rPr>
              <a:t>He over books rooms, because nothing tells him which passengers started their journey here and are simply going home.</a:t>
            </a:r>
            <a:endParaRPr lang="en-US" sz="1500" dirty="0"/>
          </a:p>
          <a:p>
            <a:pPr marL="342900" indent="-342900">
              <a:lnSpc>
                <a:spcPts val="2000"/>
              </a:lnSpc>
              <a:spcAft>
                <a:spcPts val="800"/>
              </a:spcAft>
              <a:buSzPct val="100000"/>
              <a:buChar char="•"/>
            </a:pPr>
            <a:r>
              <a:rPr lang="en-US" sz="1500" dirty="0">
                <a:solidFill>
                  <a:srgbClr val="1C1C1E"/>
                </a:solidFill>
                <a:latin typeface="Calibri" pitchFamily="34" charset="0"/>
                <a:ea typeface="Calibri" pitchFamily="34" charset="-122"/>
                <a:cs typeface="Calibri" pitchFamily="34" charset="-120"/>
              </a:rPr>
              <a:t>The decision stalls, because authority to commit the spend sits above the station and the case for it is not in front of anyone.</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THE LEGAL FLOOR</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Compensation is conditional. Care is not.</a:t>
            </a:r>
            <a:endParaRPr lang="en-US" sz="3400" dirty="0"/>
          </a:p>
        </p:txBody>
      </p:sp>
      <p:sp>
        <p:nvSpPr>
          <p:cNvPr id="4" name="Shape 2"/>
          <p:cNvSpPr/>
          <p:nvPr/>
        </p:nvSpPr>
        <p:spPr>
          <a:xfrm>
            <a:off x="640080" y="1645920"/>
            <a:ext cx="5303520" cy="2743200"/>
          </a:xfrm>
          <a:prstGeom prst="roundRect">
            <a:avLst>
              <a:gd name="adj" fmla="val 2667"/>
            </a:avLst>
          </a:prstGeom>
          <a:solidFill>
            <a:srgbClr val="F7F7F9"/>
          </a:solidFill>
          <a:ln w="12700">
            <a:solidFill>
              <a:srgbClr val="F7F7F9"/>
            </a:solidFill>
            <a:prstDash val="solid"/>
          </a:ln>
        </p:spPr>
      </p:sp>
      <p:sp>
        <p:nvSpPr>
          <p:cNvPr id="5" name="Text 3"/>
          <p:cNvSpPr txBox="1"/>
          <p:nvPr/>
        </p:nvSpPr>
        <p:spPr>
          <a:xfrm>
            <a:off x="960120" y="1874520"/>
            <a:ext cx="4663440" cy="320040"/>
          </a:xfrm>
          <a:prstGeom prst="rect">
            <a:avLst/>
          </a:prstGeom>
          <a:noFill/>
          <a:ln/>
        </p:spPr>
        <p:txBody>
          <a:bodyPr wrap="square" lIns="0" tIns="0" rIns="0" bIns="0" rtlCol="0" anchor="ctr"/>
          <a:lstStyle/>
          <a:p>
            <a:pPr indent="0" marL="0">
              <a:buNone/>
            </a:pPr>
            <a:r>
              <a:rPr lang="en-US" sz="1300" b="1" spc="100" kern="0" dirty="0">
                <a:solidFill>
                  <a:srgbClr val="6B6B70"/>
                </a:solidFill>
                <a:latin typeface="Calibri" pitchFamily="34" charset="0"/>
                <a:ea typeface="Calibri" pitchFamily="34" charset="-122"/>
                <a:cs typeface="Calibri" pitchFamily="34" charset="-120"/>
              </a:rPr>
              <a:t>Article 7  Compensation</a:t>
            </a:r>
            <a:endParaRPr lang="en-US" sz="1300" dirty="0"/>
          </a:p>
        </p:txBody>
      </p:sp>
      <p:sp>
        <p:nvSpPr>
          <p:cNvPr id="6" name="Text 4"/>
          <p:cNvSpPr txBox="1"/>
          <p:nvPr/>
        </p:nvSpPr>
        <p:spPr>
          <a:xfrm>
            <a:off x="960120" y="2240280"/>
            <a:ext cx="4663440" cy="548640"/>
          </a:xfrm>
          <a:prstGeom prst="rect">
            <a:avLst/>
          </a:prstGeom>
          <a:noFill/>
          <a:ln/>
        </p:spPr>
        <p:txBody>
          <a:bodyPr wrap="square" lIns="0" tIns="0" rIns="0" bIns="0" rtlCol="0" anchor="ctr"/>
          <a:lstStyle/>
          <a:p>
            <a:pPr indent="0" marL="0">
              <a:buNone/>
            </a:pPr>
            <a:r>
              <a:rPr lang="en-US" sz="3200" b="1" dirty="0">
                <a:solidFill>
                  <a:srgbClr val="6B6B70"/>
                </a:solidFill>
                <a:latin typeface="Cambria" pitchFamily="34" charset="0"/>
                <a:ea typeface="Cambria" pitchFamily="34" charset="-122"/>
                <a:cs typeface="Cambria" pitchFamily="34" charset="-120"/>
              </a:rPr>
              <a:t>Can be zero</a:t>
            </a:r>
            <a:endParaRPr lang="en-US" sz="3200" dirty="0"/>
          </a:p>
        </p:txBody>
      </p:sp>
      <p:sp>
        <p:nvSpPr>
          <p:cNvPr id="7" name="Text 5"/>
          <p:cNvSpPr txBox="1"/>
          <p:nvPr/>
        </p:nvSpPr>
        <p:spPr>
          <a:xfrm>
            <a:off x="960120" y="2880360"/>
            <a:ext cx="466344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C1C1E"/>
                </a:solidFill>
                <a:latin typeface="Calibri" pitchFamily="34" charset="0"/>
                <a:ea typeface="Calibri" pitchFamily="34" charset="-122"/>
                <a:cs typeface="Calibri" pitchFamily="34" charset="-120"/>
              </a:rPr>
              <a:t>Owed only when the cause is within the airline's control</a:t>
            </a:r>
            <a:endParaRPr lang="en-US" sz="1300" dirty="0"/>
          </a:p>
          <a:p>
            <a:pPr marL="342900" indent="-342900">
              <a:spcAft>
                <a:spcPts val="600"/>
              </a:spcAft>
              <a:buSzPct val="100000"/>
              <a:buChar char="•"/>
            </a:pPr>
            <a:r>
              <a:rPr lang="en-US" sz="1300" dirty="0">
                <a:solidFill>
                  <a:srgbClr val="1C1C1E"/>
                </a:solidFill>
                <a:latin typeface="Calibri" pitchFamily="34" charset="0"/>
                <a:ea typeface="Calibri" pitchFamily="34" charset="-122"/>
                <a:cs typeface="Calibri" pitchFamily="34" charset="-120"/>
              </a:rPr>
              <a:t>Extraordinary circumstances remove it entirely</a:t>
            </a:r>
            <a:endParaRPr lang="en-US" sz="1300" dirty="0"/>
          </a:p>
          <a:p>
            <a:pPr marL="342900" indent="-342900">
              <a:spcAft>
                <a:spcPts val="600"/>
              </a:spcAft>
              <a:buSzPct val="100000"/>
              <a:buChar char="•"/>
            </a:pPr>
            <a:r>
              <a:rPr lang="en-US" sz="1300" dirty="0">
                <a:solidFill>
                  <a:srgbClr val="1C1C1E"/>
                </a:solidFill>
                <a:latin typeface="Calibri" pitchFamily="34" charset="0"/>
                <a:ea typeface="Calibri" pitchFamily="34" charset="-122"/>
                <a:cs typeface="Calibri" pitchFamily="34" charset="-120"/>
              </a:rPr>
              <a:t>Never a station decision</a:t>
            </a:r>
            <a:endParaRPr lang="en-US" sz="1300" dirty="0"/>
          </a:p>
        </p:txBody>
      </p:sp>
      <p:sp>
        <p:nvSpPr>
          <p:cNvPr id="8" name="Shape 6"/>
          <p:cNvSpPr/>
          <p:nvPr/>
        </p:nvSpPr>
        <p:spPr>
          <a:xfrm>
            <a:off x="6217920" y="1645920"/>
            <a:ext cx="5303520" cy="2743200"/>
          </a:xfrm>
          <a:prstGeom prst="roundRect">
            <a:avLst>
              <a:gd name="adj" fmla="val 2667"/>
            </a:avLst>
          </a:prstGeom>
          <a:solidFill>
            <a:srgbClr val="E8F5EE"/>
          </a:solidFill>
          <a:ln w="12700">
            <a:solidFill>
              <a:srgbClr val="E8F5EE"/>
            </a:solidFill>
            <a:prstDash val="solid"/>
          </a:ln>
        </p:spPr>
      </p:sp>
      <p:sp>
        <p:nvSpPr>
          <p:cNvPr id="9" name="Text 7"/>
          <p:cNvSpPr txBox="1"/>
          <p:nvPr/>
        </p:nvSpPr>
        <p:spPr>
          <a:xfrm>
            <a:off x="6537960" y="1874520"/>
            <a:ext cx="4663440" cy="320040"/>
          </a:xfrm>
          <a:prstGeom prst="rect">
            <a:avLst/>
          </a:prstGeom>
          <a:noFill/>
          <a:ln/>
        </p:spPr>
        <p:txBody>
          <a:bodyPr wrap="square" lIns="0" tIns="0" rIns="0" bIns="0" rtlCol="0" anchor="ctr"/>
          <a:lstStyle/>
          <a:p>
            <a:pPr indent="0" marL="0">
              <a:buNone/>
            </a:pPr>
            <a:r>
              <a:rPr lang="en-US" sz="1300" b="1" spc="100" kern="0" dirty="0">
                <a:solidFill>
                  <a:srgbClr val="0F7B4F"/>
                </a:solidFill>
                <a:latin typeface="Calibri" pitchFamily="34" charset="0"/>
                <a:ea typeface="Calibri" pitchFamily="34" charset="-122"/>
                <a:cs typeface="Calibri" pitchFamily="34" charset="-120"/>
              </a:rPr>
              <a:t>Article 9  Duty of care</a:t>
            </a:r>
            <a:endParaRPr lang="en-US" sz="1300" dirty="0"/>
          </a:p>
        </p:txBody>
      </p:sp>
      <p:sp>
        <p:nvSpPr>
          <p:cNvPr id="10" name="Text 8"/>
          <p:cNvSpPr txBox="1"/>
          <p:nvPr/>
        </p:nvSpPr>
        <p:spPr>
          <a:xfrm>
            <a:off x="6537960" y="2240280"/>
            <a:ext cx="4663440" cy="548640"/>
          </a:xfrm>
          <a:prstGeom prst="rect">
            <a:avLst/>
          </a:prstGeom>
          <a:noFill/>
          <a:ln/>
        </p:spPr>
        <p:txBody>
          <a:bodyPr wrap="square" lIns="0" tIns="0" rIns="0" bIns="0" rtlCol="0" anchor="ctr"/>
          <a:lstStyle/>
          <a:p>
            <a:pPr indent="0" marL="0">
              <a:buNone/>
            </a:pPr>
            <a:r>
              <a:rPr lang="en-US" sz="3200" b="1" dirty="0">
                <a:solidFill>
                  <a:srgbClr val="0F7B4F"/>
                </a:solidFill>
                <a:latin typeface="Cambria" pitchFamily="34" charset="0"/>
                <a:ea typeface="Cambria" pitchFamily="34" charset="-122"/>
                <a:cs typeface="Cambria" pitchFamily="34" charset="-120"/>
              </a:rPr>
              <a:t>Always owed, no ceiling</a:t>
            </a:r>
            <a:endParaRPr lang="en-US" sz="3200" dirty="0"/>
          </a:p>
        </p:txBody>
      </p:sp>
      <p:sp>
        <p:nvSpPr>
          <p:cNvPr id="11" name="Text 9"/>
          <p:cNvSpPr txBox="1"/>
          <p:nvPr/>
        </p:nvSpPr>
        <p:spPr>
          <a:xfrm>
            <a:off x="6537960" y="2880360"/>
            <a:ext cx="4663440" cy="137160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1C1C1E"/>
                </a:solidFill>
                <a:latin typeface="Calibri" pitchFamily="34" charset="0"/>
                <a:ea typeface="Calibri" pitchFamily="34" charset="-122"/>
                <a:cs typeface="Calibri" pitchFamily="34" charset="-120"/>
              </a:rPr>
              <a:t>Rooms, meals and transport, whatever the cause</a:t>
            </a:r>
            <a:endParaRPr lang="en-US" sz="1300" dirty="0"/>
          </a:p>
          <a:p>
            <a:pPr marL="342900" indent="-342900">
              <a:spcAft>
                <a:spcPts val="600"/>
              </a:spcAft>
              <a:buSzPct val="100000"/>
              <a:buChar char="•"/>
            </a:pPr>
            <a:r>
              <a:rPr lang="en-US" sz="1300" dirty="0">
                <a:solidFill>
                  <a:srgbClr val="1C1C1E"/>
                </a:solidFill>
                <a:latin typeface="Calibri" pitchFamily="34" charset="0"/>
                <a:ea typeface="Calibri" pitchFamily="34" charset="-122"/>
                <a:cs typeface="Calibri" pitchFamily="34" charset="-120"/>
              </a:rPr>
              <a:t>Survives extraordinary circumstances</a:t>
            </a:r>
            <a:endParaRPr lang="en-US" sz="1300" dirty="0"/>
          </a:p>
          <a:p>
            <a:pPr marL="342900" indent="-342900">
              <a:spcAft>
                <a:spcPts val="600"/>
              </a:spcAft>
              <a:buSzPct val="100000"/>
              <a:buChar char="•"/>
            </a:pPr>
            <a:r>
              <a:rPr lang="en-US" sz="1300" dirty="0">
                <a:solidFill>
                  <a:srgbClr val="1C1C1E"/>
                </a:solidFill>
                <a:latin typeface="Calibri" pitchFamily="34" charset="0"/>
                <a:ea typeface="Calibri" pitchFamily="34" charset="-122"/>
                <a:cs typeface="Calibri" pitchFamily="34" charset="-120"/>
              </a:rPr>
              <a:t>CJEU McDonagh v Ryanair: no financial cap</a:t>
            </a:r>
            <a:endParaRPr lang="en-US" sz="1300" dirty="0"/>
          </a:p>
        </p:txBody>
      </p:sp>
      <p:sp>
        <p:nvSpPr>
          <p:cNvPr id="12" name="Text 10"/>
          <p:cNvSpPr txBox="1"/>
          <p:nvPr/>
        </p:nvSpPr>
        <p:spPr>
          <a:xfrm>
            <a:off x="640080" y="4709160"/>
            <a:ext cx="10881360" cy="457200"/>
          </a:xfrm>
          <a:prstGeom prst="rect">
            <a:avLst/>
          </a:prstGeom>
          <a:noFill/>
          <a:ln/>
        </p:spPr>
        <p:txBody>
          <a:bodyPr wrap="square" lIns="0" tIns="0" rIns="0" bIns="0" rtlCol="0" anchor="ctr"/>
          <a:lstStyle/>
          <a:p>
            <a:pPr indent="0" marL="0">
              <a:buNone/>
            </a:pPr>
            <a:r>
              <a:rPr lang="en-US" sz="2400" b="1" dirty="0">
                <a:solidFill>
                  <a:srgbClr val="1C1C1E"/>
                </a:solidFill>
                <a:latin typeface="Cambria" pitchFamily="34" charset="0"/>
                <a:ea typeface="Cambria" pitchFamily="34" charset="-122"/>
                <a:cs typeface="Cambria" pitchFamily="34" charset="-120"/>
              </a:rPr>
              <a:t>Care is the bill the airline always pays. That is the cost this system attacks.</a:t>
            </a:r>
            <a:endParaRPr lang="en-US" sz="2400" dirty="0"/>
          </a:p>
        </p:txBody>
      </p:sp>
      <p:sp>
        <p:nvSpPr>
          <p:cNvPr id="13" name="Text 11"/>
          <p:cNvSpPr txBox="1"/>
          <p:nvPr/>
        </p:nvSpPr>
        <p:spPr>
          <a:xfrm>
            <a:off x="640080" y="5257800"/>
            <a:ext cx="10881360" cy="365760"/>
          </a:xfrm>
          <a:prstGeom prst="rect">
            <a:avLst/>
          </a:prstGeom>
          <a:noFill/>
          <a:ln/>
        </p:spPr>
        <p:txBody>
          <a:bodyPr wrap="square" lIns="0" tIns="0" rIns="0" bIns="0" rtlCol="0" anchor="ctr"/>
          <a:lstStyle/>
          <a:p>
            <a:pPr indent="0" marL="0">
              <a:buNone/>
            </a:pPr>
            <a:r>
              <a:rPr lang="en-US" sz="1300" i="1" dirty="0">
                <a:solidFill>
                  <a:srgbClr val="6B6B70"/>
                </a:solidFill>
                <a:latin typeface="Calibri" pitchFamily="34" charset="0"/>
                <a:ea typeface="Calibri" pitchFamily="34" charset="-122"/>
                <a:cs typeface="Calibri" pitchFamily="34" charset="-120"/>
              </a:rPr>
              <a:t>The system does not reduce statutory care or compensation. Both are legal obligations and no saving is claimed against either.</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THE OPPORTUNITY</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The money is in rooms nobody needed</a:t>
            </a:r>
            <a:endParaRPr lang="en-US" sz="3400" dirty="0"/>
          </a:p>
        </p:txBody>
      </p:sp>
      <p:sp>
        <p:nvSpPr>
          <p:cNvPr id="4" name="Shape 2"/>
          <p:cNvSpPr/>
          <p:nvPr/>
        </p:nvSpPr>
        <p:spPr>
          <a:xfrm>
            <a:off x="640080" y="1645920"/>
            <a:ext cx="4846320" cy="2377440"/>
          </a:xfrm>
          <a:prstGeom prst="roundRect">
            <a:avLst>
              <a:gd name="adj" fmla="val 3077"/>
            </a:avLst>
          </a:prstGeom>
          <a:solidFill>
            <a:srgbClr val="1B2A4A"/>
          </a:solidFill>
          <a:ln w="12700">
            <a:solidFill>
              <a:srgbClr val="1B2A4A"/>
            </a:solidFill>
            <a:prstDash val="solid"/>
          </a:ln>
        </p:spPr>
      </p:sp>
      <p:sp>
        <p:nvSpPr>
          <p:cNvPr id="5" name="Text 3"/>
          <p:cNvSpPr txBox="1"/>
          <p:nvPr/>
        </p:nvSpPr>
        <p:spPr>
          <a:xfrm>
            <a:off x="1005840" y="1965960"/>
            <a:ext cx="41148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9.2M EUR</a:t>
            </a:r>
            <a:endParaRPr lang="en-US" sz="5400" dirty="0"/>
          </a:p>
        </p:txBody>
      </p:sp>
      <p:sp>
        <p:nvSpPr>
          <p:cNvPr id="6" name="Text 4"/>
          <p:cNvSpPr txBox="1"/>
          <p:nvPr/>
        </p:nvSpPr>
        <p:spPr>
          <a:xfrm>
            <a:off x="1005840" y="2880360"/>
            <a:ext cx="4114800" cy="731520"/>
          </a:xfrm>
          <a:prstGeom prst="rect">
            <a:avLst/>
          </a:prstGeom>
          <a:noFill/>
          <a:ln/>
        </p:spPr>
        <p:txBody>
          <a:bodyPr wrap="square" lIns="0" tIns="0" rIns="0" bIns="0" rtlCol="0" anchor="ctr"/>
          <a:lstStyle/>
          <a:p>
            <a:pPr indent="0" marL="0">
              <a:lnSpc>
                <a:spcPts val="1900"/>
              </a:lnSpc>
              <a:buNone/>
            </a:pPr>
            <a:r>
              <a:rPr lang="en-US" sz="1400" dirty="0">
                <a:solidFill>
                  <a:srgbClr val="CADCFC"/>
                </a:solidFill>
                <a:latin typeface="Calibri" pitchFamily="34" charset="0"/>
                <a:ea typeface="Calibri" pitchFamily="34" charset="-122"/>
                <a:cs typeface="Calibri" pitchFamily="34" charset="-120"/>
              </a:rPr>
              <a:t>a year of over provisioning, the ceiling of the addressable saving</a:t>
            </a:r>
            <a:endParaRPr lang="en-US" sz="1400" dirty="0"/>
          </a:p>
        </p:txBody>
      </p:sp>
      <p:sp>
        <p:nvSpPr>
          <p:cNvPr id="7" name="Text 5"/>
          <p:cNvSpPr txBox="1"/>
          <p:nvPr/>
        </p:nvSpPr>
        <p:spPr>
          <a:xfrm>
            <a:off x="5852160" y="1645920"/>
            <a:ext cx="5669280" cy="256032"/>
          </a:xfrm>
          <a:prstGeom prst="rect">
            <a:avLst/>
          </a:prstGeom>
          <a:noFill/>
          <a:ln/>
        </p:spPr>
        <p:txBody>
          <a:bodyPr wrap="square" lIns="0" tIns="0" rIns="0" bIns="0" rtlCol="0" anchor="ctr"/>
          <a:lstStyle/>
          <a:p>
            <a:pPr indent="0" marL="0">
              <a:buNone/>
            </a:pPr>
            <a:r>
              <a:rPr lang="en-US" sz="1300" b="1" dirty="0">
                <a:solidFill>
                  <a:srgbClr val="29528F"/>
                </a:solidFill>
                <a:latin typeface="Calibri" pitchFamily="34" charset="0"/>
                <a:ea typeface="Calibri" pitchFamily="34" charset="-122"/>
                <a:cs typeface="Calibri" pitchFamily="34" charset="-120"/>
              </a:rPr>
              <a:t>Where it comes from</a:t>
            </a:r>
            <a:endParaRPr lang="en-US" sz="1300" dirty="0"/>
          </a:p>
        </p:txBody>
      </p:sp>
      <p:sp>
        <p:nvSpPr>
          <p:cNvPr id="8" name="Text 6"/>
          <p:cNvSpPr txBox="1"/>
          <p:nvPr/>
        </p:nvSpPr>
        <p:spPr>
          <a:xfrm>
            <a:off x="5852160" y="1901952"/>
            <a:ext cx="5669280" cy="548640"/>
          </a:xfrm>
          <a:prstGeom prst="rect">
            <a:avLst/>
          </a:prstGeom>
          <a:noFill/>
          <a:ln/>
        </p:spPr>
        <p:txBody>
          <a:bodyPr wrap="square" lIns="0" tIns="0" rIns="0" bIns="0" rtlCol="0" anchor="ctr"/>
          <a:lstStyle/>
          <a:p>
            <a:pPr indent="0" marL="0">
              <a:lnSpc>
                <a:spcPts val="1800"/>
              </a:lnSpc>
              <a:buNone/>
            </a:pPr>
            <a:r>
              <a:rPr lang="en-US" sz="1300" dirty="0">
                <a:solidFill>
                  <a:srgbClr val="1C1C1E"/>
                </a:solidFill>
                <a:latin typeface="Calibri" pitchFamily="34" charset="0"/>
                <a:ea typeface="Calibri" pitchFamily="34" charset="-122"/>
                <a:cs typeface="Calibri" pitchFamily="34" charset="-120"/>
              </a:rPr>
              <a:t>3,305 overnight care events out of 10,919 real cancellations. American Airlines 2015, US DOT.</a:t>
            </a:r>
            <a:endParaRPr lang="en-US" sz="1300" dirty="0"/>
          </a:p>
        </p:txBody>
      </p:sp>
      <p:sp>
        <p:nvSpPr>
          <p:cNvPr id="9" name="Text 7"/>
          <p:cNvSpPr txBox="1"/>
          <p:nvPr/>
        </p:nvSpPr>
        <p:spPr>
          <a:xfrm>
            <a:off x="5852160" y="2487168"/>
            <a:ext cx="5669280" cy="256032"/>
          </a:xfrm>
          <a:prstGeom prst="rect">
            <a:avLst/>
          </a:prstGeom>
          <a:noFill/>
          <a:ln/>
        </p:spPr>
        <p:txBody>
          <a:bodyPr wrap="square" lIns="0" tIns="0" rIns="0" bIns="0" rtlCol="0" anchor="ctr"/>
          <a:lstStyle/>
          <a:p>
            <a:pPr indent="0" marL="0">
              <a:buNone/>
            </a:pPr>
            <a:r>
              <a:rPr lang="en-US" sz="1300" b="1" dirty="0">
                <a:solidFill>
                  <a:srgbClr val="29528F"/>
                </a:solidFill>
                <a:latin typeface="Calibri" pitchFamily="34" charset="0"/>
                <a:ea typeface="Calibri" pitchFamily="34" charset="-122"/>
                <a:cs typeface="Calibri" pitchFamily="34" charset="-120"/>
              </a:rPr>
              <a:t>Why it happens</a:t>
            </a:r>
            <a:endParaRPr lang="en-US" sz="1300" dirty="0"/>
          </a:p>
        </p:txBody>
      </p:sp>
      <p:sp>
        <p:nvSpPr>
          <p:cNvPr id="10" name="Text 8"/>
          <p:cNvSpPr txBox="1"/>
          <p:nvPr/>
        </p:nvSpPr>
        <p:spPr>
          <a:xfrm>
            <a:off x="5852160" y="2743200"/>
            <a:ext cx="5669280" cy="548640"/>
          </a:xfrm>
          <a:prstGeom prst="rect">
            <a:avLst/>
          </a:prstGeom>
          <a:noFill/>
          <a:ln/>
        </p:spPr>
        <p:txBody>
          <a:bodyPr wrap="square" lIns="0" tIns="0" rIns="0" bIns="0" rtlCol="0" anchor="ctr"/>
          <a:lstStyle/>
          <a:p>
            <a:pPr indent="0" marL="0">
              <a:lnSpc>
                <a:spcPts val="1800"/>
              </a:lnSpc>
              <a:buNone/>
            </a:pPr>
            <a:r>
              <a:rPr lang="en-US" sz="1300" dirty="0">
                <a:solidFill>
                  <a:srgbClr val="1C1C1E"/>
                </a:solidFill>
                <a:latin typeface="Calibri" pitchFamily="34" charset="0"/>
                <a:ea typeface="Calibri" pitchFamily="34" charset="-122"/>
                <a:cs typeface="Calibri" pitchFamily="34" charset="-120"/>
              </a:rPr>
              <a:t>The station cannot see which passengers began their journey here, so everyone is costed a room.</a:t>
            </a:r>
            <a:endParaRPr lang="en-US" sz="1300" dirty="0"/>
          </a:p>
        </p:txBody>
      </p:sp>
      <p:sp>
        <p:nvSpPr>
          <p:cNvPr id="11" name="Text 9"/>
          <p:cNvSpPr txBox="1"/>
          <p:nvPr/>
        </p:nvSpPr>
        <p:spPr>
          <a:xfrm>
            <a:off x="5852160" y="3328416"/>
            <a:ext cx="5669280" cy="256032"/>
          </a:xfrm>
          <a:prstGeom prst="rect">
            <a:avLst/>
          </a:prstGeom>
          <a:noFill/>
          <a:ln/>
        </p:spPr>
        <p:txBody>
          <a:bodyPr wrap="square" lIns="0" tIns="0" rIns="0" bIns="0" rtlCol="0" anchor="ctr"/>
          <a:lstStyle/>
          <a:p>
            <a:pPr indent="0" marL="0">
              <a:buNone/>
            </a:pPr>
            <a:r>
              <a:rPr lang="en-US" sz="1300" b="1" dirty="0">
                <a:solidFill>
                  <a:srgbClr val="29528F"/>
                </a:solidFill>
                <a:latin typeface="Calibri" pitchFamily="34" charset="0"/>
                <a:ea typeface="Calibri" pitchFamily="34" charset="-122"/>
                <a:cs typeface="Calibri" pitchFamily="34" charset="-120"/>
              </a:rPr>
              <a:t>What changes</a:t>
            </a:r>
            <a:endParaRPr lang="en-US" sz="1300" dirty="0"/>
          </a:p>
        </p:txBody>
      </p:sp>
      <p:sp>
        <p:nvSpPr>
          <p:cNvPr id="12" name="Text 10"/>
          <p:cNvSpPr txBox="1"/>
          <p:nvPr/>
        </p:nvSpPr>
        <p:spPr>
          <a:xfrm>
            <a:off x="5852160" y="3584448"/>
            <a:ext cx="5669280" cy="548640"/>
          </a:xfrm>
          <a:prstGeom prst="rect">
            <a:avLst/>
          </a:prstGeom>
          <a:noFill/>
          <a:ln/>
        </p:spPr>
        <p:txBody>
          <a:bodyPr wrap="square" lIns="0" tIns="0" rIns="0" bIns="0" rtlCol="0" anchor="ctr"/>
          <a:lstStyle/>
          <a:p>
            <a:pPr indent="0" marL="0">
              <a:lnSpc>
                <a:spcPts val="1800"/>
              </a:lnSpc>
              <a:buNone/>
            </a:pPr>
            <a:r>
              <a:rPr lang="en-US" sz="1300" dirty="0">
                <a:solidFill>
                  <a:srgbClr val="1C1C1E"/>
                </a:solidFill>
                <a:latin typeface="Calibri" pitchFamily="34" charset="0"/>
                <a:ea typeface="Calibri" pitchFamily="34" charset="-122"/>
                <a:cs typeface="Calibri" pitchFamily="34" charset="-120"/>
              </a:rPr>
              <a:t>Trip origin from the reservation record turns a guess into a counted number.</a:t>
            </a:r>
            <a:endParaRPr lang="en-US" sz="1300" dirty="0"/>
          </a:p>
        </p:txBody>
      </p:sp>
      <p:sp>
        <p:nvSpPr>
          <p:cNvPr id="13" name="Text 11"/>
          <p:cNvSpPr txBox="1"/>
          <p:nvPr/>
        </p:nvSpPr>
        <p:spPr>
          <a:xfrm>
            <a:off x="640080" y="4343400"/>
            <a:ext cx="10881360" cy="365760"/>
          </a:xfrm>
          <a:prstGeom prst="rect">
            <a:avLst/>
          </a:prstGeom>
          <a:noFill/>
          <a:ln/>
        </p:spPr>
        <p:txBody>
          <a:bodyPr wrap="square" lIns="0" tIns="0" rIns="0" bIns="0" rtlCol="0" anchor="ctr"/>
          <a:lstStyle/>
          <a:p>
            <a:pPr indent="0" marL="0">
              <a:buNone/>
            </a:pPr>
            <a:r>
              <a:rPr lang="en-US" sz="1900" b="1" dirty="0">
                <a:solidFill>
                  <a:srgbClr val="1C1C1E"/>
                </a:solidFill>
                <a:latin typeface="Cambria" pitchFamily="34" charset="0"/>
                <a:ea typeface="Cambria" pitchFamily="34" charset="-122"/>
                <a:cs typeface="Cambria" pitchFamily="34" charset="-120"/>
              </a:rPr>
              <a:t>Sourcing time falls from about 2h40 to under 40 minutes.</a:t>
            </a:r>
            <a:endParaRPr lang="en-US" sz="1900" dirty="0"/>
          </a:p>
        </p:txBody>
      </p:sp>
      <p:sp>
        <p:nvSpPr>
          <p:cNvPr id="14" name="Text 12"/>
          <p:cNvSpPr txBox="1"/>
          <p:nvPr/>
        </p:nvSpPr>
        <p:spPr>
          <a:xfrm>
            <a:off x="640080" y="4892040"/>
            <a:ext cx="10881360" cy="457200"/>
          </a:xfrm>
          <a:prstGeom prst="rect">
            <a:avLst/>
          </a:prstGeom>
          <a:noFill/>
          <a:ln/>
        </p:spPr>
        <p:txBody>
          <a:bodyPr wrap="square" lIns="0" tIns="0" rIns="0" bIns="0" rtlCol="0" anchor="ctr"/>
          <a:lstStyle/>
          <a:p>
            <a:pPr indent="0" marL="0">
              <a:lnSpc>
                <a:spcPts val="1700"/>
              </a:lnSpc>
              <a:buNone/>
            </a:pPr>
            <a:r>
              <a:rPr lang="en-US" sz="1200" i="1" dirty="0">
                <a:solidFill>
                  <a:srgbClr val="6B6B70"/>
                </a:solidFill>
                <a:latin typeface="Calibri" pitchFamily="34" charset="0"/>
                <a:ea typeface="Calibri" pitchFamily="34" charset="-122"/>
                <a:cs typeface="Calibri" pitchFamily="34" charset="-120"/>
              </a:rPr>
              <a:t>Figures are illustrative, modelled on the American Airlines 2015 analog with unverified unit costs. A real engagement re runs the model on the carrier's own invoices.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THE SOLUTION</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Three workflows, one night</a:t>
            </a:r>
            <a:endParaRPr lang="en-US" sz="3400" dirty="0"/>
          </a:p>
        </p:txBody>
      </p:sp>
      <p:sp>
        <p:nvSpPr>
          <p:cNvPr id="4" name="Shape 2"/>
          <p:cNvSpPr/>
          <p:nvPr/>
        </p:nvSpPr>
        <p:spPr>
          <a:xfrm>
            <a:off x="640080" y="1600200"/>
            <a:ext cx="3474720" cy="2286000"/>
          </a:xfrm>
          <a:prstGeom prst="roundRect">
            <a:avLst>
              <a:gd name="adj" fmla="val 3200"/>
            </a:avLst>
          </a:prstGeom>
          <a:solidFill>
            <a:srgbClr val="F7F7F9"/>
          </a:solidFill>
          <a:ln w="12700">
            <a:solidFill>
              <a:srgbClr val="F7F7F9"/>
            </a:solidFill>
            <a:prstDash val="solid"/>
          </a:ln>
        </p:spPr>
      </p:sp>
      <p:sp>
        <p:nvSpPr>
          <p:cNvPr id="5" name="Shape 3"/>
          <p:cNvSpPr/>
          <p:nvPr/>
        </p:nvSpPr>
        <p:spPr>
          <a:xfrm>
            <a:off x="914400" y="1810512"/>
            <a:ext cx="502920" cy="502920"/>
          </a:xfrm>
          <a:prstGeom prst="ellipse">
            <a:avLst/>
          </a:prstGeom>
          <a:solidFill>
            <a:srgbClr val="29528F"/>
          </a:solidFill>
          <a:ln w="12700">
            <a:solidFill>
              <a:srgbClr val="29528F"/>
            </a:solidFill>
            <a:prstDash val="solid"/>
          </a:ln>
        </p:spPr>
      </p:sp>
      <p:sp>
        <p:nvSpPr>
          <p:cNvPr id="6" name="Text 4"/>
          <p:cNvSpPr txBox="1"/>
          <p:nvPr/>
        </p:nvSpPr>
        <p:spPr>
          <a:xfrm>
            <a:off x="914400" y="1874520"/>
            <a:ext cx="50292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7" name="Text 5"/>
          <p:cNvSpPr txBox="1"/>
          <p:nvPr/>
        </p:nvSpPr>
        <p:spPr>
          <a:xfrm>
            <a:off x="914400" y="2450592"/>
            <a:ext cx="2926080" cy="320040"/>
          </a:xfrm>
          <a:prstGeom prst="rect">
            <a:avLst/>
          </a:prstGeom>
          <a:noFill/>
          <a:ln/>
        </p:spPr>
        <p:txBody>
          <a:bodyPr wrap="square" lIns="0" tIns="0" rIns="0" bIns="0" rtlCol="0" anchor="ctr"/>
          <a:lstStyle/>
          <a:p>
            <a:pPr indent="0" marL="0">
              <a:buNone/>
            </a:pPr>
            <a:r>
              <a:rPr lang="en-US" sz="1700" b="1" dirty="0">
                <a:solidFill>
                  <a:srgbClr val="1C1C1E"/>
                </a:solidFill>
                <a:latin typeface="Cambria" pitchFamily="34" charset="0"/>
                <a:ea typeface="Cambria" pitchFamily="34" charset="-122"/>
                <a:cs typeface="Cambria" pitchFamily="34" charset="-120"/>
              </a:rPr>
              <a:t>Cancellation exposure</a:t>
            </a:r>
            <a:endParaRPr lang="en-US" sz="1700" dirty="0"/>
          </a:p>
        </p:txBody>
      </p:sp>
      <p:sp>
        <p:nvSpPr>
          <p:cNvPr id="8" name="Text 6"/>
          <p:cNvSpPr txBox="1"/>
          <p:nvPr/>
        </p:nvSpPr>
        <p:spPr>
          <a:xfrm>
            <a:off x="914400" y="2816352"/>
            <a:ext cx="2926080" cy="914400"/>
          </a:xfrm>
          <a:prstGeom prst="rect">
            <a:avLst/>
          </a:prstGeom>
          <a:noFill/>
          <a:ln/>
        </p:spPr>
        <p:txBody>
          <a:bodyPr wrap="square" lIns="0" tIns="0" rIns="0" bIns="0" rtlCol="0" anchor="ctr"/>
          <a:lstStyle/>
          <a:p>
            <a:pPr indent="0" marL="0">
              <a:lnSpc>
                <a:spcPts val="1700"/>
              </a:lnSpc>
              <a:buNone/>
            </a:pPr>
            <a:r>
              <a:rPr lang="en-US" sz="1250" dirty="0">
                <a:solidFill>
                  <a:srgbClr val="6B6B70"/>
                </a:solidFill>
                <a:latin typeface="Calibri" pitchFamily="34" charset="0"/>
                <a:ea typeface="Calibri" pitchFamily="34" charset="-122"/>
                <a:cs typeface="Calibri" pitchFamily="34" charset="-120"/>
              </a:rPr>
              <a:t>Reads the manifest, destroys the names, costs the night, and says who is allowed to approve it.</a:t>
            </a:r>
            <a:endParaRPr lang="en-US" sz="1250" dirty="0"/>
          </a:p>
        </p:txBody>
      </p:sp>
      <p:sp>
        <p:nvSpPr>
          <p:cNvPr id="9" name="Text 7"/>
          <p:cNvSpPr txBox="1"/>
          <p:nvPr/>
        </p:nvSpPr>
        <p:spPr>
          <a:xfrm>
            <a:off x="4133088" y="2514600"/>
            <a:ext cx="219456" cy="365760"/>
          </a:xfrm>
          <a:prstGeom prst="rect">
            <a:avLst/>
          </a:prstGeom>
          <a:noFill/>
          <a:ln/>
        </p:spPr>
        <p:txBody>
          <a:bodyPr wrap="square" lIns="0" tIns="0" rIns="0" bIns="0" rtlCol="0" anchor="ctr"/>
          <a:lstStyle/>
          <a:p>
            <a:pPr algn="ctr" indent="0" marL="0">
              <a:buNone/>
            </a:pPr>
            <a:r>
              <a:rPr lang="en-US" sz="2000" b="1" dirty="0">
                <a:solidFill>
                  <a:srgbClr val="29528F"/>
                </a:solidFill>
                <a:latin typeface="Calibri" pitchFamily="34" charset="0"/>
                <a:ea typeface="Calibri" pitchFamily="34" charset="-122"/>
                <a:cs typeface="Calibri" pitchFamily="34" charset="-120"/>
              </a:rPr>
              <a:t>→</a:t>
            </a:r>
            <a:endParaRPr lang="en-US" sz="2000" dirty="0"/>
          </a:p>
        </p:txBody>
      </p:sp>
      <p:sp>
        <p:nvSpPr>
          <p:cNvPr id="10" name="Shape 8"/>
          <p:cNvSpPr/>
          <p:nvPr/>
        </p:nvSpPr>
        <p:spPr>
          <a:xfrm>
            <a:off x="4352544" y="1600200"/>
            <a:ext cx="3474720" cy="2286000"/>
          </a:xfrm>
          <a:prstGeom prst="roundRect">
            <a:avLst>
              <a:gd name="adj" fmla="val 3200"/>
            </a:avLst>
          </a:prstGeom>
          <a:solidFill>
            <a:srgbClr val="F7F7F9"/>
          </a:solidFill>
          <a:ln w="12700">
            <a:solidFill>
              <a:srgbClr val="F7F7F9"/>
            </a:solidFill>
            <a:prstDash val="solid"/>
          </a:ln>
        </p:spPr>
      </p:sp>
      <p:sp>
        <p:nvSpPr>
          <p:cNvPr id="11" name="Shape 9"/>
          <p:cNvSpPr/>
          <p:nvPr/>
        </p:nvSpPr>
        <p:spPr>
          <a:xfrm>
            <a:off x="4626864" y="1810512"/>
            <a:ext cx="502920" cy="502920"/>
          </a:xfrm>
          <a:prstGeom prst="ellipse">
            <a:avLst/>
          </a:prstGeom>
          <a:solidFill>
            <a:srgbClr val="29528F"/>
          </a:solidFill>
          <a:ln w="12700">
            <a:solidFill>
              <a:srgbClr val="29528F"/>
            </a:solidFill>
            <a:prstDash val="solid"/>
          </a:ln>
        </p:spPr>
      </p:sp>
      <p:sp>
        <p:nvSpPr>
          <p:cNvPr id="12" name="Text 10"/>
          <p:cNvSpPr txBox="1"/>
          <p:nvPr/>
        </p:nvSpPr>
        <p:spPr>
          <a:xfrm>
            <a:off x="4626864" y="1874520"/>
            <a:ext cx="50292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3" name="Text 11"/>
          <p:cNvSpPr txBox="1"/>
          <p:nvPr/>
        </p:nvSpPr>
        <p:spPr>
          <a:xfrm>
            <a:off x="4626864" y="2450592"/>
            <a:ext cx="2926080" cy="320040"/>
          </a:xfrm>
          <a:prstGeom prst="rect">
            <a:avLst/>
          </a:prstGeom>
          <a:noFill/>
          <a:ln/>
        </p:spPr>
        <p:txBody>
          <a:bodyPr wrap="square" lIns="0" tIns="0" rIns="0" bIns="0" rtlCol="0" anchor="ctr"/>
          <a:lstStyle/>
          <a:p>
            <a:pPr indent="0" marL="0">
              <a:buNone/>
            </a:pPr>
            <a:r>
              <a:rPr lang="en-US" sz="1700" b="1" dirty="0">
                <a:solidFill>
                  <a:srgbClr val="1C1C1E"/>
                </a:solidFill>
                <a:latin typeface="Cambria" pitchFamily="34" charset="0"/>
                <a:ea typeface="Cambria" pitchFamily="34" charset="-122"/>
                <a:cs typeface="Cambria" pitchFamily="34" charset="-120"/>
              </a:rPr>
              <a:t>Accommodation sourcing</a:t>
            </a:r>
            <a:endParaRPr lang="en-US" sz="1700" dirty="0"/>
          </a:p>
        </p:txBody>
      </p:sp>
      <p:sp>
        <p:nvSpPr>
          <p:cNvPr id="14" name="Text 12"/>
          <p:cNvSpPr txBox="1"/>
          <p:nvPr/>
        </p:nvSpPr>
        <p:spPr>
          <a:xfrm>
            <a:off x="4626864" y="2816352"/>
            <a:ext cx="2926080" cy="914400"/>
          </a:xfrm>
          <a:prstGeom prst="rect">
            <a:avLst/>
          </a:prstGeom>
          <a:noFill/>
          <a:ln/>
        </p:spPr>
        <p:txBody>
          <a:bodyPr wrap="square" lIns="0" tIns="0" rIns="0" bIns="0" rtlCol="0" anchor="ctr"/>
          <a:lstStyle/>
          <a:p>
            <a:pPr indent="0" marL="0">
              <a:lnSpc>
                <a:spcPts val="1700"/>
              </a:lnSpc>
              <a:buNone/>
            </a:pPr>
            <a:r>
              <a:rPr lang="en-US" sz="1250" dirty="0">
                <a:solidFill>
                  <a:srgbClr val="6B6B70"/>
                </a:solidFill>
                <a:latin typeface="Calibri" pitchFamily="34" charset="0"/>
                <a:ea typeface="Calibri" pitchFamily="34" charset="-122"/>
                <a:cs typeface="Calibri" pitchFamily="34" charset="-120"/>
              </a:rPr>
              <a:t>Triages the partner hotels on rest before the morning flight and hands the manager a ranked shortlist.</a:t>
            </a:r>
            <a:endParaRPr lang="en-US" sz="1250" dirty="0"/>
          </a:p>
        </p:txBody>
      </p:sp>
      <p:sp>
        <p:nvSpPr>
          <p:cNvPr id="15" name="Text 13"/>
          <p:cNvSpPr txBox="1"/>
          <p:nvPr/>
        </p:nvSpPr>
        <p:spPr>
          <a:xfrm>
            <a:off x="7845552" y="2514600"/>
            <a:ext cx="219456" cy="365760"/>
          </a:xfrm>
          <a:prstGeom prst="rect">
            <a:avLst/>
          </a:prstGeom>
          <a:noFill/>
          <a:ln/>
        </p:spPr>
        <p:txBody>
          <a:bodyPr wrap="square" lIns="0" tIns="0" rIns="0" bIns="0" rtlCol="0" anchor="ctr"/>
          <a:lstStyle/>
          <a:p>
            <a:pPr algn="ctr" indent="0" marL="0">
              <a:buNone/>
            </a:pPr>
            <a:r>
              <a:rPr lang="en-US" sz="2000" b="1" dirty="0">
                <a:solidFill>
                  <a:srgbClr val="29528F"/>
                </a:solidFill>
                <a:latin typeface="Calibri" pitchFamily="34" charset="0"/>
                <a:ea typeface="Calibri" pitchFamily="34" charset="-122"/>
                <a:cs typeface="Calibri" pitchFamily="34" charset="-120"/>
              </a:rPr>
              <a:t>→</a:t>
            </a:r>
            <a:endParaRPr lang="en-US" sz="2000" dirty="0"/>
          </a:p>
        </p:txBody>
      </p:sp>
      <p:sp>
        <p:nvSpPr>
          <p:cNvPr id="16" name="Shape 14"/>
          <p:cNvSpPr/>
          <p:nvPr/>
        </p:nvSpPr>
        <p:spPr>
          <a:xfrm>
            <a:off x="8065008" y="1600200"/>
            <a:ext cx="3474720" cy="2286000"/>
          </a:xfrm>
          <a:prstGeom prst="roundRect">
            <a:avLst>
              <a:gd name="adj" fmla="val 3200"/>
            </a:avLst>
          </a:prstGeom>
          <a:solidFill>
            <a:srgbClr val="F7F7F9"/>
          </a:solidFill>
          <a:ln w="12700">
            <a:solidFill>
              <a:srgbClr val="F7F7F9"/>
            </a:solidFill>
            <a:prstDash val="solid"/>
          </a:ln>
        </p:spPr>
      </p:sp>
      <p:sp>
        <p:nvSpPr>
          <p:cNvPr id="17" name="Shape 15"/>
          <p:cNvSpPr/>
          <p:nvPr/>
        </p:nvSpPr>
        <p:spPr>
          <a:xfrm>
            <a:off x="8339328" y="1810512"/>
            <a:ext cx="502920" cy="502920"/>
          </a:xfrm>
          <a:prstGeom prst="ellipse">
            <a:avLst/>
          </a:prstGeom>
          <a:solidFill>
            <a:srgbClr val="29528F"/>
          </a:solidFill>
          <a:ln w="12700">
            <a:solidFill>
              <a:srgbClr val="29528F"/>
            </a:solidFill>
            <a:prstDash val="solid"/>
          </a:ln>
        </p:spPr>
      </p:sp>
      <p:sp>
        <p:nvSpPr>
          <p:cNvPr id="18" name="Text 16"/>
          <p:cNvSpPr txBox="1"/>
          <p:nvPr/>
        </p:nvSpPr>
        <p:spPr>
          <a:xfrm>
            <a:off x="8339328" y="1874520"/>
            <a:ext cx="502920" cy="384048"/>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9" name="Text 17"/>
          <p:cNvSpPr txBox="1"/>
          <p:nvPr/>
        </p:nvSpPr>
        <p:spPr>
          <a:xfrm>
            <a:off x="8339328" y="2450592"/>
            <a:ext cx="2926080" cy="320040"/>
          </a:xfrm>
          <a:prstGeom prst="rect">
            <a:avLst/>
          </a:prstGeom>
          <a:noFill/>
          <a:ln/>
        </p:spPr>
        <p:txBody>
          <a:bodyPr wrap="square" lIns="0" tIns="0" rIns="0" bIns="0" rtlCol="0" anchor="ctr"/>
          <a:lstStyle/>
          <a:p>
            <a:pPr indent="0" marL="0">
              <a:buNone/>
            </a:pPr>
            <a:r>
              <a:rPr lang="en-US" sz="1700" b="1" dirty="0">
                <a:solidFill>
                  <a:srgbClr val="1C1C1E"/>
                </a:solidFill>
                <a:latin typeface="Cambria" pitchFamily="34" charset="0"/>
                <a:ea typeface="Cambria" pitchFamily="34" charset="-122"/>
                <a:cs typeface="Cambria" pitchFamily="34" charset="-120"/>
              </a:rPr>
              <a:t>Hotel call intelligence</a:t>
            </a:r>
            <a:endParaRPr lang="en-US" sz="1700" dirty="0"/>
          </a:p>
        </p:txBody>
      </p:sp>
      <p:sp>
        <p:nvSpPr>
          <p:cNvPr id="20" name="Text 18"/>
          <p:cNvSpPr txBox="1"/>
          <p:nvPr/>
        </p:nvSpPr>
        <p:spPr>
          <a:xfrm>
            <a:off x="8339328" y="2816352"/>
            <a:ext cx="2926080" cy="914400"/>
          </a:xfrm>
          <a:prstGeom prst="rect">
            <a:avLst/>
          </a:prstGeom>
          <a:noFill/>
          <a:ln/>
        </p:spPr>
        <p:txBody>
          <a:bodyPr wrap="square" lIns="0" tIns="0" rIns="0" bIns="0" rtlCol="0" anchor="ctr"/>
          <a:lstStyle/>
          <a:p>
            <a:pPr indent="0" marL="0">
              <a:lnSpc>
                <a:spcPts val="1700"/>
              </a:lnSpc>
              <a:buNone/>
            </a:pPr>
            <a:r>
              <a:rPr lang="en-US" sz="1250" dirty="0">
                <a:solidFill>
                  <a:srgbClr val="6B6B70"/>
                </a:solidFill>
                <a:latin typeface="Calibri" pitchFamily="34" charset="0"/>
                <a:ea typeface="Calibri" pitchFamily="34" charset="-122"/>
                <a:cs typeface="Calibri" pitchFamily="34" charset="-120"/>
              </a:rPr>
              <a:t>Turns the closing phone call into structured terms with a confidence score on every one.</a:t>
            </a:r>
            <a:endParaRPr lang="en-US" sz="1250" dirty="0"/>
          </a:p>
        </p:txBody>
      </p:sp>
      <p:sp>
        <p:nvSpPr>
          <p:cNvPr id="21" name="Shape 19"/>
          <p:cNvSpPr/>
          <p:nvPr/>
        </p:nvSpPr>
        <p:spPr>
          <a:xfrm>
            <a:off x="640080" y="4160520"/>
            <a:ext cx="10908792" cy="1234440"/>
          </a:xfrm>
          <a:prstGeom prst="roundRect">
            <a:avLst>
              <a:gd name="adj" fmla="val 5926"/>
            </a:avLst>
          </a:prstGeom>
          <a:solidFill>
            <a:srgbClr val="E8F5EE"/>
          </a:solidFill>
          <a:ln w="12700">
            <a:solidFill>
              <a:srgbClr val="E8F5EE"/>
            </a:solidFill>
            <a:prstDash val="solid"/>
          </a:ln>
        </p:spPr>
      </p:sp>
      <p:sp>
        <p:nvSpPr>
          <p:cNvPr id="22" name="Text 20"/>
          <p:cNvSpPr txBox="1"/>
          <p:nvPr/>
        </p:nvSpPr>
        <p:spPr>
          <a:xfrm>
            <a:off x="1005840" y="4370832"/>
            <a:ext cx="10149840" cy="365760"/>
          </a:xfrm>
          <a:prstGeom prst="rect">
            <a:avLst/>
          </a:prstGeom>
          <a:noFill/>
          <a:ln/>
        </p:spPr>
        <p:txBody>
          <a:bodyPr wrap="square" lIns="0" tIns="0" rIns="0" bIns="0" rtlCol="0" anchor="ctr"/>
          <a:lstStyle/>
          <a:p>
            <a:pPr indent="0" marL="0">
              <a:buNone/>
            </a:pPr>
            <a:r>
              <a:rPr lang="en-US" sz="2100" b="1" dirty="0">
                <a:solidFill>
                  <a:srgbClr val="0F7B4F"/>
                </a:solidFill>
                <a:latin typeface="Cambria" pitchFamily="34" charset="0"/>
                <a:ea typeface="Cambria" pitchFamily="34" charset="-122"/>
                <a:cs typeface="Cambria" pitchFamily="34" charset="-120"/>
              </a:rPr>
              <a:t>The system proposes, ranks and explains. A human commits.</a:t>
            </a:r>
            <a:endParaRPr lang="en-US" sz="2100" dirty="0"/>
          </a:p>
        </p:txBody>
      </p:sp>
      <p:sp>
        <p:nvSpPr>
          <p:cNvPr id="23" name="Text 21"/>
          <p:cNvSpPr txBox="1"/>
          <p:nvPr/>
        </p:nvSpPr>
        <p:spPr>
          <a:xfrm>
            <a:off x="1005840" y="4828032"/>
            <a:ext cx="10149840" cy="365760"/>
          </a:xfrm>
          <a:prstGeom prst="rect">
            <a:avLst/>
          </a:prstGeom>
          <a:noFill/>
          <a:ln/>
        </p:spPr>
        <p:txBody>
          <a:bodyPr wrap="square" lIns="0" tIns="0" rIns="0" bIns="0" rtlCol="0" anchor="ctr"/>
          <a:lstStyle/>
          <a:p>
            <a:pPr indent="0" marL="0">
              <a:buNone/>
            </a:pPr>
            <a:r>
              <a:rPr lang="en-US" sz="1400" dirty="0">
                <a:solidFill>
                  <a:srgbClr val="1C1C1E"/>
                </a:solidFill>
                <a:latin typeface="Calibri" pitchFamily="34" charset="0"/>
                <a:ea typeface="Calibri" pitchFamily="34" charset="-122"/>
                <a:cs typeface="Calibri" pitchFamily="34" charset="-120"/>
              </a:rPr>
              <a:t>Nothing is booked. Nothing is confirmed. No hotel is ever given a payment guarantee by the system.</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WORKFLOW 1</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Cancellation exposure</a:t>
            </a:r>
            <a:endParaRPr lang="en-US" sz="3400" dirty="0"/>
          </a:p>
        </p:txBody>
      </p:sp>
      <p:sp>
        <p:nvSpPr>
          <p:cNvPr id="4" name="Shape 2"/>
          <p:cNvSpPr/>
          <p:nvPr/>
        </p:nvSpPr>
        <p:spPr>
          <a:xfrm>
            <a:off x="640080" y="1682496"/>
            <a:ext cx="292608" cy="292608"/>
          </a:xfrm>
          <a:prstGeom prst="ellipse">
            <a:avLst/>
          </a:prstGeom>
          <a:solidFill>
            <a:srgbClr val="29528F"/>
          </a:solidFill>
          <a:ln w="12700">
            <a:solidFill>
              <a:srgbClr val="29528F"/>
            </a:solidFill>
            <a:prstDash val="solid"/>
          </a:ln>
        </p:spPr>
      </p:sp>
      <p:sp>
        <p:nvSpPr>
          <p:cNvPr id="5" name="Text 3"/>
          <p:cNvSpPr txBox="1"/>
          <p:nvPr/>
        </p:nvSpPr>
        <p:spPr>
          <a:xfrm>
            <a:off x="640080" y="1709928"/>
            <a:ext cx="292608"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097280" y="1645920"/>
            <a:ext cx="5852160" cy="502920"/>
          </a:xfrm>
          <a:prstGeom prst="rect">
            <a:avLst/>
          </a:prstGeom>
          <a:noFill/>
          <a:ln/>
        </p:spPr>
        <p:txBody>
          <a:bodyPr wrap="square" lIns="0" tIns="0" rIns="0" bIns="0" rtlCol="0" anchor="ctr"/>
          <a:lstStyle/>
          <a:p>
            <a:pPr indent="0" marL="0">
              <a:lnSpc>
                <a:spcPts val="1800"/>
              </a:lnSpc>
              <a:buNone/>
            </a:pPr>
            <a:r>
              <a:rPr lang="en-US" sz="1400" dirty="0">
                <a:solidFill>
                  <a:srgbClr val="1C1C1E"/>
                </a:solidFill>
                <a:latin typeface="Calibri" pitchFamily="34" charset="0"/>
                <a:ea typeface="Calibri" pitchFamily="34" charset="-122"/>
                <a:cs typeface="Calibri" pitchFamily="34" charset="-120"/>
              </a:rPr>
              <a:t>Manifest in as CSV or PNL teletype</a:t>
            </a:r>
            <a:endParaRPr lang="en-US" sz="1400" dirty="0"/>
          </a:p>
        </p:txBody>
      </p:sp>
      <p:sp>
        <p:nvSpPr>
          <p:cNvPr id="7" name="Shape 5"/>
          <p:cNvSpPr/>
          <p:nvPr/>
        </p:nvSpPr>
        <p:spPr>
          <a:xfrm>
            <a:off x="640080" y="2249424"/>
            <a:ext cx="292608" cy="292608"/>
          </a:xfrm>
          <a:prstGeom prst="ellipse">
            <a:avLst/>
          </a:prstGeom>
          <a:solidFill>
            <a:srgbClr val="29528F"/>
          </a:solidFill>
          <a:ln w="12700">
            <a:solidFill>
              <a:srgbClr val="29528F"/>
            </a:solidFill>
            <a:prstDash val="solid"/>
          </a:ln>
        </p:spPr>
      </p:sp>
      <p:sp>
        <p:nvSpPr>
          <p:cNvPr id="8" name="Text 6"/>
          <p:cNvSpPr txBox="1"/>
          <p:nvPr/>
        </p:nvSpPr>
        <p:spPr>
          <a:xfrm>
            <a:off x="640080" y="2276856"/>
            <a:ext cx="292608"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9" name="Text 7"/>
          <p:cNvSpPr txBox="1"/>
          <p:nvPr/>
        </p:nvSpPr>
        <p:spPr>
          <a:xfrm>
            <a:off x="1097280" y="2212848"/>
            <a:ext cx="5852160" cy="502920"/>
          </a:xfrm>
          <a:prstGeom prst="rect">
            <a:avLst/>
          </a:prstGeom>
          <a:noFill/>
          <a:ln/>
        </p:spPr>
        <p:txBody>
          <a:bodyPr wrap="square" lIns="0" tIns="0" rIns="0" bIns="0" rtlCol="0" anchor="ctr"/>
          <a:lstStyle/>
          <a:p>
            <a:pPr indent="0" marL="0">
              <a:lnSpc>
                <a:spcPts val="1800"/>
              </a:lnSpc>
              <a:buNone/>
            </a:pPr>
            <a:r>
              <a:rPr lang="en-US" sz="1400" dirty="0">
                <a:solidFill>
                  <a:srgbClr val="1C1C1E"/>
                </a:solidFill>
                <a:latin typeface="Calibri" pitchFamily="34" charset="0"/>
                <a:ea typeface="Calibri" pitchFamily="34" charset="-122"/>
                <a:cs typeface="Calibri" pitchFamily="34" charset="-120"/>
              </a:rPr>
              <a:t>Names read and destroyed, booking reference replaced by a per run salted hash</a:t>
            </a:r>
            <a:endParaRPr lang="en-US" sz="1400" dirty="0"/>
          </a:p>
        </p:txBody>
      </p:sp>
      <p:sp>
        <p:nvSpPr>
          <p:cNvPr id="10" name="Shape 8"/>
          <p:cNvSpPr/>
          <p:nvPr/>
        </p:nvSpPr>
        <p:spPr>
          <a:xfrm>
            <a:off x="640080" y="2816352"/>
            <a:ext cx="292608" cy="292608"/>
          </a:xfrm>
          <a:prstGeom prst="ellipse">
            <a:avLst/>
          </a:prstGeom>
          <a:solidFill>
            <a:srgbClr val="29528F"/>
          </a:solidFill>
          <a:ln w="12700">
            <a:solidFill>
              <a:srgbClr val="29528F"/>
            </a:solidFill>
            <a:prstDash val="solid"/>
          </a:ln>
        </p:spPr>
      </p:sp>
      <p:sp>
        <p:nvSpPr>
          <p:cNvPr id="11" name="Text 9"/>
          <p:cNvSpPr txBox="1"/>
          <p:nvPr/>
        </p:nvSpPr>
        <p:spPr>
          <a:xfrm>
            <a:off x="640080" y="2843784"/>
            <a:ext cx="292608"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2" name="Text 10"/>
          <p:cNvSpPr txBox="1"/>
          <p:nvPr/>
        </p:nvSpPr>
        <p:spPr>
          <a:xfrm>
            <a:off x="1097280" y="2779776"/>
            <a:ext cx="5852160" cy="502920"/>
          </a:xfrm>
          <a:prstGeom prst="rect">
            <a:avLst/>
          </a:prstGeom>
          <a:noFill/>
          <a:ln/>
        </p:spPr>
        <p:txBody>
          <a:bodyPr wrap="square" lIns="0" tIns="0" rIns="0" bIns="0" rtlCol="0" anchor="ctr"/>
          <a:lstStyle/>
          <a:p>
            <a:pPr indent="0" marL="0">
              <a:lnSpc>
                <a:spcPts val="1800"/>
              </a:lnSpc>
              <a:buNone/>
            </a:pPr>
            <a:r>
              <a:rPr lang="en-US" sz="1400" dirty="0">
                <a:solidFill>
                  <a:srgbClr val="1C1C1E"/>
                </a:solidFill>
                <a:latin typeface="Calibri" pitchFamily="34" charset="0"/>
                <a:ea typeface="Calibri" pitchFamily="34" charset="-122"/>
                <a:cs typeface="Calibri" pitchFamily="34" charset="-120"/>
              </a:rPr>
              <a:t>Parties grouped, trip origin identifies who could go home</a:t>
            </a:r>
            <a:endParaRPr lang="en-US" sz="1400" dirty="0"/>
          </a:p>
        </p:txBody>
      </p:sp>
      <p:sp>
        <p:nvSpPr>
          <p:cNvPr id="13" name="Shape 11"/>
          <p:cNvSpPr/>
          <p:nvPr/>
        </p:nvSpPr>
        <p:spPr>
          <a:xfrm>
            <a:off x="640080" y="3383280"/>
            <a:ext cx="292608" cy="292608"/>
          </a:xfrm>
          <a:prstGeom prst="ellipse">
            <a:avLst/>
          </a:prstGeom>
          <a:solidFill>
            <a:srgbClr val="29528F"/>
          </a:solidFill>
          <a:ln w="12700">
            <a:solidFill>
              <a:srgbClr val="29528F"/>
            </a:solidFill>
            <a:prstDash val="solid"/>
          </a:ln>
        </p:spPr>
      </p:sp>
      <p:sp>
        <p:nvSpPr>
          <p:cNvPr id="14" name="Text 12"/>
          <p:cNvSpPr txBox="1"/>
          <p:nvPr/>
        </p:nvSpPr>
        <p:spPr>
          <a:xfrm>
            <a:off x="640080" y="3410712"/>
            <a:ext cx="292608"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5" name="Text 13"/>
          <p:cNvSpPr txBox="1"/>
          <p:nvPr/>
        </p:nvSpPr>
        <p:spPr>
          <a:xfrm>
            <a:off x="1097280" y="3346704"/>
            <a:ext cx="5852160" cy="502920"/>
          </a:xfrm>
          <a:prstGeom prst="rect">
            <a:avLst/>
          </a:prstGeom>
          <a:noFill/>
          <a:ln/>
        </p:spPr>
        <p:txBody>
          <a:bodyPr wrap="square" lIns="0" tIns="0" rIns="0" bIns="0" rtlCol="0" anchor="ctr"/>
          <a:lstStyle/>
          <a:p>
            <a:pPr indent="0" marL="0">
              <a:lnSpc>
                <a:spcPts val="1800"/>
              </a:lnSpc>
              <a:buNone/>
            </a:pPr>
            <a:r>
              <a:rPr lang="en-US" sz="1400" dirty="0">
                <a:solidFill>
                  <a:srgbClr val="1C1C1E"/>
                </a:solidFill>
                <a:latin typeface="Calibri" pitchFamily="34" charset="0"/>
                <a:ea typeface="Calibri" pitchFamily="34" charset="-122"/>
                <a:cs typeface="Calibri" pitchFamily="34" charset="-120"/>
              </a:rPr>
              <a:t>Rooms, meals, transport and EU261 liability costed as low, expected and high</a:t>
            </a:r>
            <a:endParaRPr lang="en-US" sz="1400" dirty="0"/>
          </a:p>
        </p:txBody>
      </p:sp>
      <p:sp>
        <p:nvSpPr>
          <p:cNvPr id="16" name="Shape 14"/>
          <p:cNvSpPr/>
          <p:nvPr/>
        </p:nvSpPr>
        <p:spPr>
          <a:xfrm>
            <a:off x="640080" y="3950208"/>
            <a:ext cx="292608" cy="292608"/>
          </a:xfrm>
          <a:prstGeom prst="ellipse">
            <a:avLst/>
          </a:prstGeom>
          <a:solidFill>
            <a:srgbClr val="29528F"/>
          </a:solidFill>
          <a:ln w="12700">
            <a:solidFill>
              <a:srgbClr val="29528F"/>
            </a:solidFill>
            <a:prstDash val="solid"/>
          </a:ln>
        </p:spPr>
      </p:sp>
      <p:sp>
        <p:nvSpPr>
          <p:cNvPr id="17" name="Text 15"/>
          <p:cNvSpPr txBox="1"/>
          <p:nvPr/>
        </p:nvSpPr>
        <p:spPr>
          <a:xfrm>
            <a:off x="640080" y="3977640"/>
            <a:ext cx="292608" cy="237744"/>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18" name="Text 16"/>
          <p:cNvSpPr txBox="1"/>
          <p:nvPr/>
        </p:nvSpPr>
        <p:spPr>
          <a:xfrm>
            <a:off x="1097280" y="3913632"/>
            <a:ext cx="5852160" cy="502920"/>
          </a:xfrm>
          <a:prstGeom prst="rect">
            <a:avLst/>
          </a:prstGeom>
          <a:noFill/>
          <a:ln/>
        </p:spPr>
        <p:txBody>
          <a:bodyPr wrap="square" lIns="0" tIns="0" rIns="0" bIns="0" rtlCol="0" anchor="ctr"/>
          <a:lstStyle/>
          <a:p>
            <a:pPr indent="0" marL="0">
              <a:lnSpc>
                <a:spcPts val="1800"/>
              </a:lnSpc>
              <a:buNone/>
            </a:pPr>
            <a:r>
              <a:rPr lang="en-US" sz="1400" dirty="0">
                <a:solidFill>
                  <a:srgbClr val="1C1C1E"/>
                </a:solidFill>
                <a:latin typeface="Calibri" pitchFamily="34" charset="0"/>
                <a:ea typeface="Calibri" pitchFamily="34" charset="-122"/>
                <a:cs typeface="Calibri" pitchFamily="34" charset="-120"/>
              </a:rPr>
              <a:t>Authorisation gate routes to station or carrier operations centre</a:t>
            </a:r>
            <a:endParaRPr lang="en-US" sz="1400" dirty="0"/>
          </a:p>
        </p:txBody>
      </p:sp>
      <p:sp>
        <p:nvSpPr>
          <p:cNvPr id="19" name="Shape 17"/>
          <p:cNvSpPr/>
          <p:nvPr/>
        </p:nvSpPr>
        <p:spPr>
          <a:xfrm>
            <a:off x="7315200" y="1600200"/>
            <a:ext cx="4233672" cy="2926080"/>
          </a:xfrm>
          <a:prstGeom prst="roundRect">
            <a:avLst>
              <a:gd name="adj" fmla="val 2500"/>
            </a:avLst>
          </a:prstGeom>
          <a:solidFill>
            <a:srgbClr val="F7F7F9"/>
          </a:solidFill>
          <a:ln w="12700">
            <a:solidFill>
              <a:srgbClr val="F7F7F9"/>
            </a:solidFill>
            <a:prstDash val="solid"/>
          </a:ln>
        </p:spPr>
      </p:sp>
      <p:sp>
        <p:nvSpPr>
          <p:cNvPr id="20" name="Text 18"/>
          <p:cNvSpPr txBox="1"/>
          <p:nvPr/>
        </p:nvSpPr>
        <p:spPr>
          <a:xfrm>
            <a:off x="7635240" y="1783080"/>
            <a:ext cx="3566160" cy="274320"/>
          </a:xfrm>
          <a:prstGeom prst="rect">
            <a:avLst/>
          </a:prstGeom>
          <a:noFill/>
          <a:ln/>
        </p:spPr>
        <p:txBody>
          <a:bodyPr wrap="square" lIns="0" tIns="0" rIns="0" bIns="0" rtlCol="0" anchor="ctr"/>
          <a:lstStyle/>
          <a:p>
            <a:pPr indent="0" marL="0">
              <a:buNone/>
            </a:pPr>
            <a:r>
              <a:rPr lang="en-US" sz="1200" b="1" spc="100" kern="0" dirty="0">
                <a:solidFill>
                  <a:srgbClr val="6B6B70"/>
                </a:solidFill>
                <a:latin typeface="Calibri" pitchFamily="34" charset="0"/>
                <a:ea typeface="Calibri" pitchFamily="34" charset="-122"/>
                <a:cs typeface="Calibri" pitchFamily="34" charset="-120"/>
              </a:rPr>
              <a:t>Demo run</a:t>
            </a:r>
            <a:endParaRPr lang="en-US" sz="1200" dirty="0"/>
          </a:p>
        </p:txBody>
      </p:sp>
      <p:sp>
        <p:nvSpPr>
          <p:cNvPr id="21" name="Text 19"/>
          <p:cNvSpPr txBox="1"/>
          <p:nvPr/>
        </p:nvSpPr>
        <p:spPr>
          <a:xfrm>
            <a:off x="7635240" y="2148840"/>
            <a:ext cx="1828800" cy="320040"/>
          </a:xfrm>
          <a:prstGeom prst="rect">
            <a:avLst/>
          </a:prstGeom>
          <a:noFill/>
          <a:ln/>
        </p:spPr>
        <p:txBody>
          <a:bodyPr wrap="square" lIns="0" tIns="0" rIns="0" bIns="0" rtlCol="0" anchor="ctr"/>
          <a:lstStyle/>
          <a:p>
            <a:pPr indent="0" marL="0">
              <a:buNone/>
            </a:pPr>
            <a:r>
              <a:rPr lang="en-US" sz="1300" dirty="0">
                <a:solidFill>
                  <a:srgbClr val="6B6B70"/>
                </a:solidFill>
                <a:latin typeface="Calibri" pitchFamily="34" charset="0"/>
                <a:ea typeface="Calibri" pitchFamily="34" charset="-122"/>
                <a:cs typeface="Calibri" pitchFamily="34" charset="-120"/>
              </a:rPr>
              <a:t>Passengers</a:t>
            </a:r>
            <a:endParaRPr lang="en-US" sz="1300" dirty="0"/>
          </a:p>
        </p:txBody>
      </p:sp>
      <p:sp>
        <p:nvSpPr>
          <p:cNvPr id="22" name="Text 20"/>
          <p:cNvSpPr txBox="1"/>
          <p:nvPr/>
        </p:nvSpPr>
        <p:spPr>
          <a:xfrm>
            <a:off x="9464040" y="2148840"/>
            <a:ext cx="1828800" cy="32004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195 in 125 parties</a:t>
            </a:r>
            <a:endParaRPr lang="en-US" sz="1300" dirty="0"/>
          </a:p>
        </p:txBody>
      </p:sp>
      <p:sp>
        <p:nvSpPr>
          <p:cNvPr id="23" name="Text 21"/>
          <p:cNvSpPr txBox="1"/>
          <p:nvPr/>
        </p:nvSpPr>
        <p:spPr>
          <a:xfrm>
            <a:off x="7635240" y="2587752"/>
            <a:ext cx="1828800" cy="320040"/>
          </a:xfrm>
          <a:prstGeom prst="rect">
            <a:avLst/>
          </a:prstGeom>
          <a:noFill/>
          <a:ln/>
        </p:spPr>
        <p:txBody>
          <a:bodyPr wrap="square" lIns="0" tIns="0" rIns="0" bIns="0" rtlCol="0" anchor="ctr"/>
          <a:lstStyle/>
          <a:p>
            <a:pPr indent="0" marL="0">
              <a:buNone/>
            </a:pPr>
            <a:r>
              <a:rPr lang="en-US" sz="1300" dirty="0">
                <a:solidFill>
                  <a:srgbClr val="6B6B70"/>
                </a:solidFill>
                <a:latin typeface="Calibri" pitchFamily="34" charset="0"/>
                <a:ea typeface="Calibri" pitchFamily="34" charset="-122"/>
                <a:cs typeface="Calibri" pitchFamily="34" charset="-120"/>
              </a:rPr>
              <a:t>Crew</a:t>
            </a:r>
            <a:endParaRPr lang="en-US" sz="1300" dirty="0"/>
          </a:p>
        </p:txBody>
      </p:sp>
      <p:sp>
        <p:nvSpPr>
          <p:cNvPr id="24" name="Text 22"/>
          <p:cNvSpPr txBox="1"/>
          <p:nvPr/>
        </p:nvSpPr>
        <p:spPr>
          <a:xfrm>
            <a:off x="9464040" y="2587752"/>
            <a:ext cx="1828800" cy="32004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18</a:t>
            </a:r>
            <a:endParaRPr lang="en-US" sz="1300" dirty="0"/>
          </a:p>
        </p:txBody>
      </p:sp>
      <p:sp>
        <p:nvSpPr>
          <p:cNvPr id="25" name="Text 23"/>
          <p:cNvSpPr txBox="1"/>
          <p:nvPr/>
        </p:nvSpPr>
        <p:spPr>
          <a:xfrm>
            <a:off x="7635240" y="3026664"/>
            <a:ext cx="1828800" cy="320040"/>
          </a:xfrm>
          <a:prstGeom prst="rect">
            <a:avLst/>
          </a:prstGeom>
          <a:noFill/>
          <a:ln/>
        </p:spPr>
        <p:txBody>
          <a:bodyPr wrap="square" lIns="0" tIns="0" rIns="0" bIns="0" rtlCol="0" anchor="ctr"/>
          <a:lstStyle/>
          <a:p>
            <a:pPr indent="0" marL="0">
              <a:buNone/>
            </a:pPr>
            <a:r>
              <a:rPr lang="en-US" sz="1300" dirty="0">
                <a:solidFill>
                  <a:srgbClr val="6B6B70"/>
                </a:solidFill>
                <a:latin typeface="Calibri" pitchFamily="34" charset="0"/>
                <a:ea typeface="Calibri" pitchFamily="34" charset="-122"/>
                <a:cs typeface="Calibri" pitchFamily="34" charset="-120"/>
              </a:rPr>
              <a:t>Rooms required</a:t>
            </a:r>
            <a:endParaRPr lang="en-US" sz="1300" dirty="0"/>
          </a:p>
        </p:txBody>
      </p:sp>
      <p:sp>
        <p:nvSpPr>
          <p:cNvPr id="26" name="Text 24"/>
          <p:cNvSpPr txBox="1"/>
          <p:nvPr/>
        </p:nvSpPr>
        <p:spPr>
          <a:xfrm>
            <a:off x="9464040" y="3026664"/>
            <a:ext cx="1828800" cy="32004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89, of which 4 accessible</a:t>
            </a:r>
            <a:endParaRPr lang="en-US" sz="1300" dirty="0"/>
          </a:p>
        </p:txBody>
      </p:sp>
      <p:sp>
        <p:nvSpPr>
          <p:cNvPr id="27" name="Text 25"/>
          <p:cNvSpPr txBox="1"/>
          <p:nvPr/>
        </p:nvSpPr>
        <p:spPr>
          <a:xfrm>
            <a:off x="7635240" y="3465576"/>
            <a:ext cx="1828800" cy="320040"/>
          </a:xfrm>
          <a:prstGeom prst="rect">
            <a:avLst/>
          </a:prstGeom>
          <a:noFill/>
          <a:ln/>
        </p:spPr>
        <p:txBody>
          <a:bodyPr wrap="square" lIns="0" tIns="0" rIns="0" bIns="0" rtlCol="0" anchor="ctr"/>
          <a:lstStyle/>
          <a:p>
            <a:pPr indent="0" marL="0">
              <a:buNone/>
            </a:pPr>
            <a:r>
              <a:rPr lang="en-US" sz="1300" dirty="0">
                <a:solidFill>
                  <a:srgbClr val="6B6B70"/>
                </a:solidFill>
                <a:latin typeface="Calibri" pitchFamily="34" charset="0"/>
                <a:ea typeface="Calibri" pitchFamily="34" charset="-122"/>
                <a:cs typeface="Calibri" pitchFamily="34" charset="-120"/>
              </a:rPr>
              <a:t>Care ceiling</a:t>
            </a:r>
            <a:endParaRPr lang="en-US" sz="1300" dirty="0"/>
          </a:p>
        </p:txBody>
      </p:sp>
      <p:sp>
        <p:nvSpPr>
          <p:cNvPr id="28" name="Text 26"/>
          <p:cNvSpPr txBox="1"/>
          <p:nvPr/>
        </p:nvSpPr>
        <p:spPr>
          <a:xfrm>
            <a:off x="9464040" y="3465576"/>
            <a:ext cx="1828800" cy="32004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23,498 EUR</a:t>
            </a:r>
            <a:endParaRPr lang="en-US" sz="1300" dirty="0"/>
          </a:p>
        </p:txBody>
      </p:sp>
      <p:sp>
        <p:nvSpPr>
          <p:cNvPr id="29" name="Text 27"/>
          <p:cNvSpPr txBox="1"/>
          <p:nvPr/>
        </p:nvSpPr>
        <p:spPr>
          <a:xfrm>
            <a:off x="7635240" y="3904488"/>
            <a:ext cx="1828800" cy="320040"/>
          </a:xfrm>
          <a:prstGeom prst="rect">
            <a:avLst/>
          </a:prstGeom>
          <a:noFill/>
          <a:ln/>
        </p:spPr>
        <p:txBody>
          <a:bodyPr wrap="square" lIns="0" tIns="0" rIns="0" bIns="0" rtlCol="0" anchor="ctr"/>
          <a:lstStyle/>
          <a:p>
            <a:pPr indent="0" marL="0">
              <a:buNone/>
            </a:pPr>
            <a:r>
              <a:rPr lang="en-US" sz="1300" dirty="0">
                <a:solidFill>
                  <a:srgbClr val="6B6B70"/>
                </a:solidFill>
                <a:latin typeface="Calibri" pitchFamily="34" charset="0"/>
                <a:ea typeface="Calibri" pitchFamily="34" charset="-122"/>
                <a:cs typeface="Calibri" pitchFamily="34" charset="-120"/>
              </a:rPr>
              <a:t>Station limit</a:t>
            </a:r>
            <a:endParaRPr lang="en-US" sz="1300" dirty="0"/>
          </a:p>
        </p:txBody>
      </p:sp>
      <p:sp>
        <p:nvSpPr>
          <p:cNvPr id="30" name="Text 28"/>
          <p:cNvSpPr txBox="1"/>
          <p:nvPr/>
        </p:nvSpPr>
        <p:spPr>
          <a:xfrm>
            <a:off x="9464040" y="3904488"/>
            <a:ext cx="1828800" cy="320040"/>
          </a:xfrm>
          <a:prstGeom prst="rect">
            <a:avLst/>
          </a:prstGeom>
          <a:noFill/>
          <a:ln/>
        </p:spPr>
        <p:txBody>
          <a:bodyPr wrap="square" lIns="0" tIns="0" rIns="0" bIns="0" rtlCol="0" anchor="ctr"/>
          <a:lstStyle/>
          <a:p>
            <a:pPr indent="0" marL="0">
              <a:buNone/>
            </a:pPr>
            <a:r>
              <a:rPr lang="en-US" sz="1300" b="1" dirty="0">
                <a:solidFill>
                  <a:srgbClr val="1C1C1E"/>
                </a:solidFill>
                <a:latin typeface="Calibri" pitchFamily="34" charset="0"/>
                <a:ea typeface="Calibri" pitchFamily="34" charset="-122"/>
                <a:cs typeface="Calibri" pitchFamily="34" charset="-120"/>
              </a:rPr>
              <a:t>25,000 EUR</a:t>
            </a:r>
            <a:endParaRPr lang="en-US" sz="1300" dirty="0"/>
          </a:p>
        </p:txBody>
      </p:sp>
      <p:sp>
        <p:nvSpPr>
          <p:cNvPr id="31" name="Text 29"/>
          <p:cNvSpPr txBox="1"/>
          <p:nvPr/>
        </p:nvSpPr>
        <p:spPr>
          <a:xfrm>
            <a:off x="7635240" y="4434840"/>
            <a:ext cx="3566160" cy="548640"/>
          </a:xfrm>
          <a:prstGeom prst="rect">
            <a:avLst/>
          </a:prstGeom>
          <a:noFill/>
          <a:ln/>
        </p:spPr>
        <p:txBody>
          <a:bodyPr wrap="square" lIns="0" tIns="0" rIns="0" bIns="0" rtlCol="0" anchor="ctr"/>
          <a:lstStyle/>
          <a:p>
            <a:pPr indent="0" marL="0">
              <a:lnSpc>
                <a:spcPts val="1700"/>
              </a:lnSpc>
              <a:buNone/>
            </a:pPr>
            <a:r>
              <a:rPr lang="en-US" sz="1250" b="1" dirty="0">
                <a:solidFill>
                  <a:srgbClr val="0F7B4F"/>
                </a:solidFill>
                <a:latin typeface="Calibri" pitchFamily="34" charset="0"/>
                <a:ea typeface="Calibri" pitchFamily="34" charset="-122"/>
                <a:cs typeface="Calibri" pitchFamily="34" charset="-120"/>
              </a:rPr>
              <a:t>Inside the station mandate. The station may commit without carrier authorisation.</a:t>
            </a:r>
            <a:endParaRPr lang="en-US" sz="1250" dirty="0"/>
          </a:p>
        </p:txBody>
      </p:sp>
      <p:sp>
        <p:nvSpPr>
          <p:cNvPr id="32" name="Text 30"/>
          <p:cNvSpPr txBox="1"/>
          <p:nvPr/>
        </p:nvSpPr>
        <p:spPr>
          <a:xfrm>
            <a:off x="640080" y="4892040"/>
            <a:ext cx="6309360" cy="731520"/>
          </a:xfrm>
          <a:prstGeom prst="rect">
            <a:avLst/>
          </a:prstGeom>
          <a:noFill/>
          <a:ln/>
        </p:spPr>
        <p:txBody>
          <a:bodyPr wrap="square" lIns="0" tIns="0" rIns="0" bIns="0" rtlCol="0" anchor="ctr"/>
          <a:lstStyle/>
          <a:p>
            <a:pPr indent="0" marL="0">
              <a:lnSpc>
                <a:spcPts val="1800"/>
              </a:lnSpc>
              <a:buNone/>
            </a:pPr>
            <a:r>
              <a:rPr lang="en-US" sz="1300" i="1" dirty="0">
                <a:solidFill>
                  <a:srgbClr val="6B6B70"/>
                </a:solidFill>
                <a:latin typeface="Calibri" pitchFamily="34" charset="0"/>
                <a:ea typeface="Calibri" pitchFamily="34" charset="-122"/>
                <a:cs typeface="Calibri" pitchFamily="34" charset="-120"/>
              </a:rPr>
              <a:t>The model never sees a passenger. It receives counts and money only, and a privacy guard throws an error if any identifier reaches the payload.</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WORKFLOW 2</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Accommodation sourcing</a:t>
            </a:r>
            <a:endParaRPr lang="en-US" sz="3400" dirty="0"/>
          </a:p>
        </p:txBody>
      </p:sp>
      <p:sp>
        <p:nvSpPr>
          <p:cNvPr id="4" name="Text 2"/>
          <p:cNvSpPr txBox="1"/>
          <p:nvPr/>
        </p:nvSpPr>
        <p:spPr>
          <a:xfrm>
            <a:off x="640080" y="1554480"/>
            <a:ext cx="10881360" cy="502920"/>
          </a:xfrm>
          <a:prstGeom prst="rect">
            <a:avLst/>
          </a:prstGeom>
          <a:noFill/>
          <a:ln/>
        </p:spPr>
        <p:txBody>
          <a:bodyPr wrap="square" lIns="0" tIns="0" rIns="0" bIns="0" rtlCol="0" anchor="ctr"/>
          <a:lstStyle/>
          <a:p>
            <a:pPr indent="0" marL="0">
              <a:lnSpc>
                <a:spcPts val="2000"/>
              </a:lnSpc>
              <a:buNone/>
            </a:pPr>
            <a:r>
              <a:rPr lang="en-US" sz="1500" dirty="0">
                <a:solidFill>
                  <a:srgbClr val="1C1C1E"/>
                </a:solidFill>
                <a:latin typeface="Calibri" pitchFamily="34" charset="0"/>
                <a:ea typeface="Calibri" pitchFamily="34" charset="-122"/>
                <a:cs typeface="Calibri" pitchFamily="34" charset="-120"/>
              </a:rPr>
              <a:t>Hotels are ranked on the constraint that actually decides the night: how much sleep is left before the morning departure, not the room rate.</a:t>
            </a:r>
            <a:endParaRPr lang="en-US" sz="15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566160"/>
                <a:gridCol w="1554480"/>
                <a:gridCol w="2011680"/>
                <a:gridCol w="1554480"/>
                <a:gridCol w="2221992"/>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Hotel</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solidFill>
                      <a:srgbClr val="1B2A4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Distance</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solidFill>
                      <a:srgbClr val="1B2A4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Rest before 07:00</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solidFill>
                      <a:srgbClr val="1B2A4A"/>
                    </a:solidFill>
                  </a:tcPr>
                </a:tc>
                <a:tc>
                  <a:txBody>
                    <a:bodyPr/>
                    <a:lstStyle/>
                    <a:p>
                      <a:pPr algn="r" indent="0" marL="0">
                        <a:buNone/>
                      </a:pPr>
                      <a:r>
                        <a:rPr lang="en-US" sz="1300" b="1" dirty="0">
                          <a:solidFill>
                            <a:srgbClr val="FFFFFF"/>
                          </a:solidFill>
                          <a:latin typeface="Calibri" pitchFamily="34" charset="0"/>
                          <a:ea typeface="Calibri" pitchFamily="34" charset="-122"/>
                          <a:cs typeface="Calibri" pitchFamily="34" charset="-120"/>
                        </a:rPr>
                        <a:t>Rooms held</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solidFill>
                      <a:srgbClr val="1B2A4A"/>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Verdict</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solidFill>
                      <a:srgbClr val="1B2A4A"/>
                    </a:solidFill>
                  </a:tcPr>
                </a:tc>
              </a:tr>
              <a:tr h="38404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Airport Inn (partner)</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3 km</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6h16</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160</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indent="0" marL="0">
                        <a:buNone/>
                      </a:pPr>
                      <a:r>
                        <a:rPr lang="en-US" sz="1300" b="1" dirty="0">
                          <a:solidFill>
                            <a:srgbClr val="0F7B4F"/>
                          </a:solidFill>
                          <a:latin typeface="Calibri" pitchFamily="34" charset="0"/>
                          <a:ea typeface="Calibri" pitchFamily="34" charset="-122"/>
                          <a:cs typeface="Calibri" pitchFamily="34" charset="-120"/>
                        </a:rPr>
                        <a:t>call first</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Skyport Hotel (partner)</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9 km</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6h05</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120</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indent="0" marL="0">
                        <a:buNone/>
                      </a:pPr>
                      <a:r>
                        <a:rPr lang="en-US" sz="1300" b="1" dirty="0">
                          <a:solidFill>
                            <a:srgbClr val="0F7B4F"/>
                          </a:solidFill>
                          <a:latin typeface="Calibri" pitchFamily="34" charset="0"/>
                          <a:ea typeface="Calibri" pitchFamily="34" charset="-122"/>
                          <a:cs typeface="Calibri" pitchFamily="34" charset="-120"/>
                        </a:rPr>
                        <a:t>call first</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Terminal Lodge (partner)</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5 km</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6h13</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70</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indent="0" marL="0">
                        <a:buNone/>
                      </a:pPr>
                      <a:r>
                        <a:rPr lang="en-US" sz="1300" dirty="0">
                          <a:solidFill>
                            <a:srgbClr val="A15C00"/>
                          </a:solidFill>
                          <a:latin typeface="Calibri" pitchFamily="34" charset="0"/>
                          <a:ea typeface="Calibri" pitchFamily="34" charset="-122"/>
                          <a:cs typeface="Calibri" pitchFamily="34" charset="-120"/>
                        </a:rPr>
                        <a:t>partial, 89 rooms needed</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Lakeside Hotel (nearby)</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30 km</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5h29</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algn="r" indent="0" marL="0">
                        <a:buNone/>
                      </a:pPr>
                      <a:r>
                        <a:rPr lang="en-US" sz="1300" dirty="0">
                          <a:solidFill>
                            <a:srgbClr val="000000"/>
                          </a:solidFill>
                          <a:latin typeface="Calibri" pitchFamily="34" charset="0"/>
                          <a:ea typeface="Calibri" pitchFamily="34" charset="-122"/>
                          <a:cs typeface="Calibri" pitchFamily="34" charset="-120"/>
                        </a:rPr>
                        <a:t>95</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c>
                  <a:txBody>
                    <a:bodyPr/>
                    <a:lstStyle/>
                    <a:p>
                      <a:pPr indent="0" marL="0">
                        <a:buNone/>
                      </a:pPr>
                      <a:r>
                        <a:rPr lang="en-US" sz="1300" dirty="0">
                          <a:solidFill>
                            <a:srgbClr val="6B6B70"/>
                          </a:solidFill>
                          <a:latin typeface="Calibri" pitchFamily="34" charset="0"/>
                          <a:ea typeface="Calibri" pitchFamily="34" charset="-122"/>
                          <a:cs typeface="Calibri" pitchFamily="34" charset="-120"/>
                        </a:rPr>
                        <a:t>skip, no coach parking</a:t>
                      </a:r>
                      <a:endParaRPr lang="en-US" sz="1300" dirty="0">
                        <a:latin typeface="Calibri" charset="0"/>
                        <a:ea typeface="Calibri" charset="0"/>
                        <a:cs typeface="Calibri" charset="0"/>
                      </a:endParaRPr>
                    </a:p>
                  </a:txBody>
                  <a:tcPr marL="76200" marR="76200" marT="76200" marB="76200" anchor="ctr">
                    <a:lnL w="12700" cap="flat" cmpd="sng" algn="ctr">
                      <a:solidFill>
                        <a:srgbClr val="E5E5E8"/>
                      </a:solidFill>
                      <a:prstDash val="solid"/>
                      <a:round/>
                      <a:headEnd type="none" w="med" len="med"/>
                      <a:tailEnd type="none" w="med" len="med"/>
                    </a:lnL>
                    <a:lnR w="12700" cap="flat" cmpd="sng" algn="ctr">
                      <a:solidFill>
                        <a:srgbClr val="E5E5E8"/>
                      </a:solidFill>
                      <a:prstDash val="solid"/>
                      <a:round/>
                      <a:headEnd type="none" w="med" len="med"/>
                      <a:tailEnd type="none" w="med" len="med"/>
                    </a:lnR>
                    <a:lnT w="12700" cap="flat" cmpd="sng" algn="ctr">
                      <a:solidFill>
                        <a:srgbClr val="E5E5E8"/>
                      </a:solidFill>
                      <a:prstDash val="solid"/>
                      <a:round/>
                      <a:headEnd type="none" w="med" len="med"/>
                      <a:tailEnd type="none" w="med" len="med"/>
                    </a:lnT>
                    <a:lnB w="12700" cap="flat" cmpd="sng" algn="ctr">
                      <a:solidFill>
                        <a:srgbClr val="E5E5E8"/>
                      </a:solidFill>
                      <a:prstDash val="solid"/>
                      <a:round/>
                      <a:headEnd type="none" w="med" len="med"/>
                      <a:tailEnd type="none" w="med" len="med"/>
                    </a:lnB>
                  </a:tcPr>
                </a:tc>
              </a:tr>
            </a:tbl>
          </a:graphicData>
        </a:graphic>
      </p:graphicFrame>
      <p:sp>
        <p:nvSpPr>
          <p:cNvPr id="6" name="Shape 3"/>
          <p:cNvSpPr/>
          <p:nvPr/>
        </p:nvSpPr>
        <p:spPr>
          <a:xfrm>
            <a:off x="640080" y="4617720"/>
            <a:ext cx="5303520" cy="1234440"/>
          </a:xfrm>
          <a:prstGeom prst="roundRect">
            <a:avLst>
              <a:gd name="adj" fmla="val 5926"/>
            </a:avLst>
          </a:prstGeom>
          <a:solidFill>
            <a:srgbClr val="F7F7F9"/>
          </a:solidFill>
          <a:ln w="12700">
            <a:solidFill>
              <a:srgbClr val="F7F7F9"/>
            </a:solidFill>
            <a:prstDash val="solid"/>
          </a:ln>
        </p:spPr>
      </p:sp>
      <p:sp>
        <p:nvSpPr>
          <p:cNvPr id="7" name="Text 4"/>
          <p:cNvSpPr txBox="1"/>
          <p:nvPr/>
        </p:nvSpPr>
        <p:spPr>
          <a:xfrm>
            <a:off x="960120" y="4800600"/>
            <a:ext cx="466344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Ranking is arithmetic in code</a:t>
            </a:r>
            <a:endParaRPr lang="en-US" sz="1400" dirty="0"/>
          </a:p>
        </p:txBody>
      </p:sp>
      <p:sp>
        <p:nvSpPr>
          <p:cNvPr id="8" name="Text 5"/>
          <p:cNvSpPr txBox="1"/>
          <p:nvPr/>
        </p:nvSpPr>
        <p:spPr>
          <a:xfrm>
            <a:off x="960120" y="5102352"/>
            <a:ext cx="4663440" cy="548640"/>
          </a:xfrm>
          <a:prstGeom prst="rect">
            <a:avLst/>
          </a:prstGeom>
          <a:noFill/>
          <a:ln/>
        </p:spPr>
        <p:txBody>
          <a:bodyPr wrap="square" lIns="0" tIns="0" rIns="0" bIns="0" rtlCol="0" anchor="ctr"/>
          <a:lstStyle/>
          <a:p>
            <a:pPr indent="0" marL="0">
              <a:lnSpc>
                <a:spcPts val="1700"/>
              </a:lnSpc>
              <a:buNone/>
            </a:pPr>
            <a:r>
              <a:rPr lang="en-US" sz="1250" dirty="0">
                <a:solidFill>
                  <a:srgbClr val="6B6B70"/>
                </a:solidFill>
                <a:latin typeface="Calibri" pitchFamily="34" charset="0"/>
                <a:ea typeface="Calibri" pitchFamily="34" charset="-122"/>
                <a:cs typeface="Calibri" pitchFamily="34" charset="-120"/>
              </a:rPr>
              <a:t>The same inputs always produce the same winner. No model judgement decides money.</a:t>
            </a:r>
            <a:endParaRPr lang="en-US" sz="1250" dirty="0"/>
          </a:p>
        </p:txBody>
      </p:sp>
      <p:sp>
        <p:nvSpPr>
          <p:cNvPr id="9" name="Shape 6"/>
          <p:cNvSpPr/>
          <p:nvPr/>
        </p:nvSpPr>
        <p:spPr>
          <a:xfrm>
            <a:off x="6245352" y="4617720"/>
            <a:ext cx="5303520" cy="1234440"/>
          </a:xfrm>
          <a:prstGeom prst="roundRect">
            <a:avLst>
              <a:gd name="adj" fmla="val 5926"/>
            </a:avLst>
          </a:prstGeom>
          <a:solidFill>
            <a:srgbClr val="F7F7F9"/>
          </a:solidFill>
          <a:ln w="12700">
            <a:solidFill>
              <a:srgbClr val="F7F7F9"/>
            </a:solidFill>
            <a:prstDash val="solid"/>
          </a:ln>
        </p:spPr>
      </p:sp>
      <p:sp>
        <p:nvSpPr>
          <p:cNvPr id="10" name="Text 7"/>
          <p:cNvSpPr txBox="1"/>
          <p:nvPr/>
        </p:nvSpPr>
        <p:spPr>
          <a:xfrm>
            <a:off x="6565392" y="4800600"/>
            <a:ext cx="4663440" cy="274320"/>
          </a:xfrm>
          <a:prstGeom prst="rect">
            <a:avLst/>
          </a:prstGeom>
          <a:noFill/>
          <a:ln/>
        </p:spPr>
        <p:txBody>
          <a:bodyPr wrap="square" lIns="0" tIns="0" rIns="0" bIns="0" rtlCol="0" anchor="ctr"/>
          <a:lstStyle/>
          <a:p>
            <a:pPr indent="0" marL="0">
              <a:buNone/>
            </a:pPr>
            <a:r>
              <a:rPr lang="en-US" sz="1400" b="1" dirty="0">
                <a:solidFill>
                  <a:srgbClr val="1C1C1E"/>
                </a:solidFill>
                <a:latin typeface="Calibri" pitchFamily="34" charset="0"/>
                <a:ea typeface="Calibri" pitchFamily="34" charset="-122"/>
                <a:cs typeface="Calibri" pitchFamily="34" charset="-120"/>
              </a:rPr>
              <a:t>It suggests, it does not send</a:t>
            </a:r>
            <a:endParaRPr lang="en-US" sz="1400" dirty="0"/>
          </a:p>
        </p:txBody>
      </p:sp>
      <p:sp>
        <p:nvSpPr>
          <p:cNvPr id="11" name="Text 8"/>
          <p:cNvSpPr txBox="1"/>
          <p:nvPr/>
        </p:nvSpPr>
        <p:spPr>
          <a:xfrm>
            <a:off x="6565392" y="5102352"/>
            <a:ext cx="4663440" cy="548640"/>
          </a:xfrm>
          <a:prstGeom prst="rect">
            <a:avLst/>
          </a:prstGeom>
          <a:noFill/>
          <a:ln/>
        </p:spPr>
        <p:txBody>
          <a:bodyPr wrap="square" lIns="0" tIns="0" rIns="0" bIns="0" rtlCol="0" anchor="ctr"/>
          <a:lstStyle/>
          <a:p>
            <a:pPr indent="0" marL="0">
              <a:lnSpc>
                <a:spcPts val="1700"/>
              </a:lnSpc>
              <a:buNone/>
            </a:pPr>
            <a:r>
              <a:rPr lang="en-US" sz="1250" dirty="0">
                <a:solidFill>
                  <a:srgbClr val="6B6B70"/>
                </a:solidFill>
                <a:latin typeface="Calibri" pitchFamily="34" charset="0"/>
                <a:ea typeface="Calibri" pitchFamily="34" charset="-122"/>
                <a:cs typeface="Calibri" pitchFamily="34" charset="-120"/>
              </a:rPr>
              <a:t>Room counts are nominal from the partner list, not live availability. The manager confirms with the hotel.</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WORKFLOW 3</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Hotel call intelligence</a:t>
            </a:r>
            <a:endParaRPr lang="en-US" sz="3400" dirty="0"/>
          </a:p>
        </p:txBody>
      </p:sp>
      <p:sp>
        <p:nvSpPr>
          <p:cNvPr id="4" name="Shape 2"/>
          <p:cNvSpPr/>
          <p:nvPr/>
        </p:nvSpPr>
        <p:spPr>
          <a:xfrm>
            <a:off x="640080" y="1600200"/>
            <a:ext cx="2011680" cy="1188720"/>
          </a:xfrm>
          <a:prstGeom prst="roundRect">
            <a:avLst>
              <a:gd name="adj" fmla="val 6154"/>
            </a:avLst>
          </a:prstGeom>
          <a:solidFill>
            <a:srgbClr val="F7F7F9"/>
          </a:solidFill>
          <a:ln w="12700">
            <a:solidFill>
              <a:srgbClr val="F7F7F9"/>
            </a:solidFill>
            <a:prstDash val="solid"/>
          </a:ln>
        </p:spPr>
      </p:sp>
      <p:sp>
        <p:nvSpPr>
          <p:cNvPr id="5" name="Text 3"/>
          <p:cNvSpPr txBox="1"/>
          <p:nvPr/>
        </p:nvSpPr>
        <p:spPr>
          <a:xfrm>
            <a:off x="822960" y="1755648"/>
            <a:ext cx="1645920" cy="914400"/>
          </a:xfrm>
          <a:prstGeom prst="rect">
            <a:avLst/>
          </a:prstGeom>
          <a:noFill/>
          <a:ln/>
        </p:spPr>
        <p:txBody>
          <a:bodyPr wrap="square" lIns="0" tIns="0" rIns="0" bIns="0" rtlCol="0" anchor="ctr"/>
          <a:lstStyle/>
          <a:p>
            <a:pPr indent="0" marL="0">
              <a:lnSpc>
                <a:spcPts val="1600"/>
              </a:lnSpc>
              <a:buNone/>
            </a:pPr>
            <a:r>
              <a:rPr lang="en-US" sz="1250" b="1" dirty="0">
                <a:solidFill>
                  <a:srgbClr val="1C1C1E"/>
                </a:solidFill>
                <a:latin typeface="Calibri" pitchFamily="34" charset="0"/>
                <a:ea typeface="Calibri" pitchFamily="34" charset="-122"/>
                <a:cs typeface="Calibri" pitchFamily="34" charset="-120"/>
              </a:rPr>
              <a:t>Recorded call</a:t>
            </a:r>
            <a:endParaRPr lang="en-US" sz="1250" dirty="0"/>
          </a:p>
        </p:txBody>
      </p:sp>
      <p:sp>
        <p:nvSpPr>
          <p:cNvPr id="6" name="Text 4"/>
          <p:cNvSpPr txBox="1"/>
          <p:nvPr/>
        </p:nvSpPr>
        <p:spPr>
          <a:xfrm>
            <a:off x="2670048" y="2011680"/>
            <a:ext cx="201168" cy="365760"/>
          </a:xfrm>
          <a:prstGeom prst="rect">
            <a:avLst/>
          </a:prstGeom>
          <a:noFill/>
          <a:ln/>
        </p:spPr>
        <p:txBody>
          <a:bodyPr wrap="square" lIns="0" tIns="0" rIns="0" bIns="0" rtlCol="0" anchor="ctr"/>
          <a:lstStyle/>
          <a:p>
            <a:pPr algn="ctr" indent="0" marL="0">
              <a:buNone/>
            </a:pPr>
            <a:r>
              <a:rPr lang="en-US" sz="1600" b="1" dirty="0">
                <a:solidFill>
                  <a:srgbClr val="29528F"/>
                </a:solidFill>
                <a:latin typeface="Calibri" pitchFamily="34" charset="0"/>
                <a:ea typeface="Calibri" pitchFamily="34" charset="-122"/>
                <a:cs typeface="Calibri" pitchFamily="34" charset="-120"/>
              </a:rPr>
              <a:t>→</a:t>
            </a:r>
            <a:endParaRPr lang="en-US" sz="1600" dirty="0"/>
          </a:p>
        </p:txBody>
      </p:sp>
      <p:sp>
        <p:nvSpPr>
          <p:cNvPr id="7" name="Shape 5"/>
          <p:cNvSpPr/>
          <p:nvPr/>
        </p:nvSpPr>
        <p:spPr>
          <a:xfrm>
            <a:off x="2871216" y="1600200"/>
            <a:ext cx="2011680" cy="1188720"/>
          </a:xfrm>
          <a:prstGeom prst="roundRect">
            <a:avLst>
              <a:gd name="adj" fmla="val 6154"/>
            </a:avLst>
          </a:prstGeom>
          <a:solidFill>
            <a:srgbClr val="F7F7F9"/>
          </a:solidFill>
          <a:ln w="12700">
            <a:solidFill>
              <a:srgbClr val="F7F7F9"/>
            </a:solidFill>
            <a:prstDash val="solid"/>
          </a:ln>
        </p:spPr>
      </p:sp>
      <p:sp>
        <p:nvSpPr>
          <p:cNvPr id="8" name="Text 6"/>
          <p:cNvSpPr txBox="1"/>
          <p:nvPr/>
        </p:nvSpPr>
        <p:spPr>
          <a:xfrm>
            <a:off x="3054096" y="1755648"/>
            <a:ext cx="1645920" cy="914400"/>
          </a:xfrm>
          <a:prstGeom prst="rect">
            <a:avLst/>
          </a:prstGeom>
          <a:noFill/>
          <a:ln/>
        </p:spPr>
        <p:txBody>
          <a:bodyPr wrap="square" lIns="0" tIns="0" rIns="0" bIns="0" rtlCol="0" anchor="ctr"/>
          <a:lstStyle/>
          <a:p>
            <a:pPr indent="0" marL="0">
              <a:lnSpc>
                <a:spcPts val="1600"/>
              </a:lnSpc>
              <a:buNone/>
            </a:pPr>
            <a:r>
              <a:rPr lang="en-US" sz="1250" b="1" dirty="0">
                <a:solidFill>
                  <a:srgbClr val="1C1C1E"/>
                </a:solidFill>
                <a:latin typeface="Calibri" pitchFamily="34" charset="0"/>
                <a:ea typeface="Calibri" pitchFamily="34" charset="-122"/>
                <a:cs typeface="Calibri" pitchFamily="34" charset="-120"/>
              </a:rPr>
              <a:t>Whisper transcript</a:t>
            </a:r>
            <a:endParaRPr lang="en-US" sz="1250" dirty="0"/>
          </a:p>
        </p:txBody>
      </p:sp>
      <p:sp>
        <p:nvSpPr>
          <p:cNvPr id="9" name="Text 7"/>
          <p:cNvSpPr txBox="1"/>
          <p:nvPr/>
        </p:nvSpPr>
        <p:spPr>
          <a:xfrm>
            <a:off x="4901184" y="2011680"/>
            <a:ext cx="201168" cy="365760"/>
          </a:xfrm>
          <a:prstGeom prst="rect">
            <a:avLst/>
          </a:prstGeom>
          <a:noFill/>
          <a:ln/>
        </p:spPr>
        <p:txBody>
          <a:bodyPr wrap="square" lIns="0" tIns="0" rIns="0" bIns="0" rtlCol="0" anchor="ctr"/>
          <a:lstStyle/>
          <a:p>
            <a:pPr algn="ctr" indent="0" marL="0">
              <a:buNone/>
            </a:pPr>
            <a:r>
              <a:rPr lang="en-US" sz="1600" b="1" dirty="0">
                <a:solidFill>
                  <a:srgbClr val="29528F"/>
                </a:solidFill>
                <a:latin typeface="Calibri" pitchFamily="34" charset="0"/>
                <a:ea typeface="Calibri" pitchFamily="34" charset="-122"/>
                <a:cs typeface="Calibri" pitchFamily="34" charset="-120"/>
              </a:rPr>
              <a:t>→</a:t>
            </a:r>
            <a:endParaRPr lang="en-US" sz="1600" dirty="0"/>
          </a:p>
        </p:txBody>
      </p:sp>
      <p:sp>
        <p:nvSpPr>
          <p:cNvPr id="10" name="Shape 8"/>
          <p:cNvSpPr/>
          <p:nvPr/>
        </p:nvSpPr>
        <p:spPr>
          <a:xfrm>
            <a:off x="5102352" y="1600200"/>
            <a:ext cx="2011680" cy="1188720"/>
          </a:xfrm>
          <a:prstGeom prst="roundRect">
            <a:avLst>
              <a:gd name="adj" fmla="val 6154"/>
            </a:avLst>
          </a:prstGeom>
          <a:solidFill>
            <a:srgbClr val="F7F7F9"/>
          </a:solidFill>
          <a:ln w="12700">
            <a:solidFill>
              <a:srgbClr val="F7F7F9"/>
            </a:solidFill>
            <a:prstDash val="solid"/>
          </a:ln>
        </p:spPr>
      </p:sp>
      <p:sp>
        <p:nvSpPr>
          <p:cNvPr id="11" name="Text 9"/>
          <p:cNvSpPr txBox="1"/>
          <p:nvPr/>
        </p:nvSpPr>
        <p:spPr>
          <a:xfrm>
            <a:off x="5285232" y="1755648"/>
            <a:ext cx="1645920" cy="914400"/>
          </a:xfrm>
          <a:prstGeom prst="rect">
            <a:avLst/>
          </a:prstGeom>
          <a:noFill/>
          <a:ln/>
        </p:spPr>
        <p:txBody>
          <a:bodyPr wrap="square" lIns="0" tIns="0" rIns="0" bIns="0" rtlCol="0" anchor="ctr"/>
          <a:lstStyle/>
          <a:p>
            <a:pPr indent="0" marL="0">
              <a:lnSpc>
                <a:spcPts val="1600"/>
              </a:lnSpc>
              <a:buNone/>
            </a:pPr>
            <a:r>
              <a:rPr lang="en-US" sz="1250" b="1" dirty="0">
                <a:solidFill>
                  <a:srgbClr val="1C1C1E"/>
                </a:solidFill>
                <a:latin typeface="Calibri" pitchFamily="34" charset="0"/>
                <a:ea typeface="Calibri" pitchFamily="34" charset="-122"/>
                <a:cs typeface="Calibri" pitchFamily="34" charset="-120"/>
              </a:rPr>
              <a:t>Terms extracted with per section confidence</a:t>
            </a:r>
            <a:endParaRPr lang="en-US" sz="1250" dirty="0"/>
          </a:p>
        </p:txBody>
      </p:sp>
      <p:sp>
        <p:nvSpPr>
          <p:cNvPr id="12" name="Text 10"/>
          <p:cNvSpPr txBox="1"/>
          <p:nvPr/>
        </p:nvSpPr>
        <p:spPr>
          <a:xfrm>
            <a:off x="7132320" y="2011680"/>
            <a:ext cx="201168" cy="365760"/>
          </a:xfrm>
          <a:prstGeom prst="rect">
            <a:avLst/>
          </a:prstGeom>
          <a:noFill/>
          <a:ln/>
        </p:spPr>
        <p:txBody>
          <a:bodyPr wrap="square" lIns="0" tIns="0" rIns="0" bIns="0" rtlCol="0" anchor="ctr"/>
          <a:lstStyle/>
          <a:p>
            <a:pPr algn="ctr" indent="0" marL="0">
              <a:buNone/>
            </a:pPr>
            <a:r>
              <a:rPr lang="en-US" sz="1600" b="1" dirty="0">
                <a:solidFill>
                  <a:srgbClr val="29528F"/>
                </a:solidFill>
                <a:latin typeface="Calibri" pitchFamily="34" charset="0"/>
                <a:ea typeface="Calibri" pitchFamily="34" charset="-122"/>
                <a:cs typeface="Calibri" pitchFamily="34" charset="-120"/>
              </a:rPr>
              <a:t>→</a:t>
            </a:r>
            <a:endParaRPr lang="en-US" sz="1600" dirty="0"/>
          </a:p>
        </p:txBody>
      </p:sp>
      <p:sp>
        <p:nvSpPr>
          <p:cNvPr id="13" name="Shape 11"/>
          <p:cNvSpPr/>
          <p:nvPr/>
        </p:nvSpPr>
        <p:spPr>
          <a:xfrm>
            <a:off x="7333488" y="1600200"/>
            <a:ext cx="2011680" cy="1188720"/>
          </a:xfrm>
          <a:prstGeom prst="roundRect">
            <a:avLst>
              <a:gd name="adj" fmla="val 6154"/>
            </a:avLst>
          </a:prstGeom>
          <a:solidFill>
            <a:srgbClr val="E8F5EE"/>
          </a:solidFill>
          <a:ln w="12700">
            <a:solidFill>
              <a:srgbClr val="E8F5EE"/>
            </a:solidFill>
            <a:prstDash val="solid"/>
          </a:ln>
        </p:spPr>
      </p:sp>
      <p:sp>
        <p:nvSpPr>
          <p:cNvPr id="14" name="Text 12"/>
          <p:cNvSpPr txBox="1"/>
          <p:nvPr/>
        </p:nvSpPr>
        <p:spPr>
          <a:xfrm>
            <a:off x="7516368" y="1755648"/>
            <a:ext cx="1645920" cy="914400"/>
          </a:xfrm>
          <a:prstGeom prst="rect">
            <a:avLst/>
          </a:prstGeom>
          <a:noFill/>
          <a:ln/>
        </p:spPr>
        <p:txBody>
          <a:bodyPr wrap="square" lIns="0" tIns="0" rIns="0" bIns="0" rtlCol="0" anchor="ctr"/>
          <a:lstStyle/>
          <a:p>
            <a:pPr indent="0" marL="0">
              <a:lnSpc>
                <a:spcPts val="1600"/>
              </a:lnSpc>
              <a:buNone/>
            </a:pPr>
            <a:r>
              <a:rPr lang="en-US" sz="1250" b="1" dirty="0">
                <a:solidFill>
                  <a:srgbClr val="0F7B4F"/>
                </a:solidFill>
                <a:latin typeface="Calibri" pitchFamily="34" charset="0"/>
                <a:ea typeface="Calibri" pitchFamily="34" charset="-122"/>
                <a:cs typeface="Calibri" pitchFamily="34" charset="-120"/>
              </a:rPr>
              <a:t>Deterministic re check in code</a:t>
            </a:r>
            <a:endParaRPr lang="en-US" sz="1250" dirty="0"/>
          </a:p>
        </p:txBody>
      </p:sp>
      <p:sp>
        <p:nvSpPr>
          <p:cNvPr id="15" name="Text 13"/>
          <p:cNvSpPr txBox="1"/>
          <p:nvPr/>
        </p:nvSpPr>
        <p:spPr>
          <a:xfrm>
            <a:off x="9363456" y="2011680"/>
            <a:ext cx="201168" cy="365760"/>
          </a:xfrm>
          <a:prstGeom prst="rect">
            <a:avLst/>
          </a:prstGeom>
          <a:noFill/>
          <a:ln/>
        </p:spPr>
        <p:txBody>
          <a:bodyPr wrap="square" lIns="0" tIns="0" rIns="0" bIns="0" rtlCol="0" anchor="ctr"/>
          <a:lstStyle/>
          <a:p>
            <a:pPr algn="ctr" indent="0" marL="0">
              <a:buNone/>
            </a:pPr>
            <a:r>
              <a:rPr lang="en-US" sz="1600" b="1" dirty="0">
                <a:solidFill>
                  <a:srgbClr val="29528F"/>
                </a:solidFill>
                <a:latin typeface="Calibri" pitchFamily="34" charset="0"/>
                <a:ea typeface="Calibri" pitchFamily="34" charset="-122"/>
                <a:cs typeface="Calibri" pitchFamily="34" charset="-120"/>
              </a:rPr>
              <a:t>→</a:t>
            </a:r>
            <a:endParaRPr lang="en-US" sz="1600" dirty="0"/>
          </a:p>
        </p:txBody>
      </p:sp>
      <p:sp>
        <p:nvSpPr>
          <p:cNvPr id="16" name="Shape 14"/>
          <p:cNvSpPr/>
          <p:nvPr/>
        </p:nvSpPr>
        <p:spPr>
          <a:xfrm>
            <a:off x="9564624" y="1600200"/>
            <a:ext cx="2011680" cy="1188720"/>
          </a:xfrm>
          <a:prstGeom prst="roundRect">
            <a:avLst>
              <a:gd name="adj" fmla="val 6154"/>
            </a:avLst>
          </a:prstGeom>
          <a:solidFill>
            <a:srgbClr val="F7F7F9"/>
          </a:solidFill>
          <a:ln w="12700">
            <a:solidFill>
              <a:srgbClr val="F7F7F9"/>
            </a:solidFill>
            <a:prstDash val="solid"/>
          </a:ln>
        </p:spPr>
      </p:sp>
      <p:sp>
        <p:nvSpPr>
          <p:cNvPr id="17" name="Text 15"/>
          <p:cNvSpPr txBox="1"/>
          <p:nvPr/>
        </p:nvSpPr>
        <p:spPr>
          <a:xfrm>
            <a:off x="9747504" y="1755648"/>
            <a:ext cx="1645920" cy="914400"/>
          </a:xfrm>
          <a:prstGeom prst="rect">
            <a:avLst/>
          </a:prstGeom>
          <a:noFill/>
          <a:ln/>
        </p:spPr>
        <p:txBody>
          <a:bodyPr wrap="square" lIns="0" tIns="0" rIns="0" bIns="0" rtlCol="0" anchor="ctr"/>
          <a:lstStyle/>
          <a:p>
            <a:pPr indent="0" marL="0">
              <a:lnSpc>
                <a:spcPts val="1600"/>
              </a:lnSpc>
              <a:buNone/>
            </a:pPr>
            <a:r>
              <a:rPr lang="en-US" sz="1250" b="1" dirty="0">
                <a:solidFill>
                  <a:srgbClr val="1C1C1E"/>
                </a:solidFill>
                <a:latin typeface="Calibri" pitchFamily="34" charset="0"/>
                <a:ea typeface="Calibri" pitchFamily="34" charset="-122"/>
                <a:cs typeface="Calibri" pitchFamily="34" charset="-120"/>
              </a:rPr>
              <a:t>Manager approval email</a:t>
            </a:r>
            <a:endParaRPr lang="en-US" sz="1250" dirty="0"/>
          </a:p>
        </p:txBody>
      </p:sp>
      <p:sp>
        <p:nvSpPr>
          <p:cNvPr id="18" name="Text 16"/>
          <p:cNvSpPr txBox="1"/>
          <p:nvPr/>
        </p:nvSpPr>
        <p:spPr>
          <a:xfrm>
            <a:off x="640080" y="3063240"/>
            <a:ext cx="10881360" cy="365760"/>
          </a:xfrm>
          <a:prstGeom prst="rect">
            <a:avLst/>
          </a:prstGeom>
          <a:noFill/>
          <a:ln/>
        </p:spPr>
        <p:txBody>
          <a:bodyPr wrap="square" lIns="0" tIns="0" rIns="0" bIns="0" rtlCol="0" anchor="ctr"/>
          <a:lstStyle/>
          <a:p>
            <a:pPr indent="0" marL="0">
              <a:buNone/>
            </a:pPr>
            <a:r>
              <a:rPr lang="en-US" sz="2100" b="1" dirty="0">
                <a:solidFill>
                  <a:srgbClr val="1C1C1E"/>
                </a:solidFill>
                <a:latin typeface="Cambria" pitchFamily="34" charset="0"/>
                <a:ea typeface="Cambria" pitchFamily="34" charset="-122"/>
                <a:cs typeface="Cambria" pitchFamily="34" charset="-120"/>
              </a:rPr>
              <a:t>The workflow stops and asks for a human when any of these fire</a:t>
            </a:r>
            <a:endParaRPr lang="en-US" sz="2100" dirty="0"/>
          </a:p>
        </p:txBody>
      </p:sp>
      <p:sp>
        <p:nvSpPr>
          <p:cNvPr id="19" name="Shape 17"/>
          <p:cNvSpPr/>
          <p:nvPr/>
        </p:nvSpPr>
        <p:spPr>
          <a:xfrm>
            <a:off x="640080" y="3566160"/>
            <a:ext cx="3474720" cy="1325880"/>
          </a:xfrm>
          <a:prstGeom prst="roundRect">
            <a:avLst>
              <a:gd name="adj" fmla="val 5517"/>
            </a:avLst>
          </a:prstGeom>
          <a:solidFill>
            <a:srgbClr val="FDF3E2"/>
          </a:solidFill>
          <a:ln w="12700">
            <a:solidFill>
              <a:srgbClr val="FDF3E2"/>
            </a:solidFill>
            <a:prstDash val="solid"/>
          </a:ln>
        </p:spPr>
      </p:sp>
      <p:sp>
        <p:nvSpPr>
          <p:cNvPr id="20" name="Text 18"/>
          <p:cNvSpPr txBox="1"/>
          <p:nvPr/>
        </p:nvSpPr>
        <p:spPr>
          <a:xfrm>
            <a:off x="914400" y="3749040"/>
            <a:ext cx="2926080" cy="274320"/>
          </a:xfrm>
          <a:prstGeom prst="rect">
            <a:avLst/>
          </a:prstGeom>
          <a:noFill/>
          <a:ln/>
        </p:spPr>
        <p:txBody>
          <a:bodyPr wrap="square" lIns="0" tIns="0" rIns="0" bIns="0" rtlCol="0" anchor="ctr"/>
          <a:lstStyle/>
          <a:p>
            <a:pPr indent="0" marL="0">
              <a:buNone/>
            </a:pPr>
            <a:r>
              <a:rPr lang="en-US" sz="1400" b="1" dirty="0">
                <a:solidFill>
                  <a:srgbClr val="A15C00"/>
                </a:solidFill>
                <a:latin typeface="Calibri" pitchFamily="34" charset="0"/>
                <a:ea typeface="Calibri" pitchFamily="34" charset="-122"/>
                <a:cs typeface="Calibri" pitchFamily="34" charset="-120"/>
              </a:rPr>
              <a:t>Critical field missing</a:t>
            </a:r>
            <a:endParaRPr lang="en-US" sz="1400" dirty="0"/>
          </a:p>
        </p:txBody>
      </p:sp>
      <p:sp>
        <p:nvSpPr>
          <p:cNvPr id="21" name="Text 19"/>
          <p:cNvSpPr txBox="1"/>
          <p:nvPr/>
        </p:nvSpPr>
        <p:spPr>
          <a:xfrm>
            <a:off x="914400" y="4041648"/>
            <a:ext cx="2926080" cy="731520"/>
          </a:xfrm>
          <a:prstGeom prst="rect">
            <a:avLst/>
          </a:prstGeom>
          <a:noFill/>
          <a:ln/>
        </p:spPr>
        <p:txBody>
          <a:bodyPr wrap="square" lIns="0" tIns="0" rIns="0" bIns="0" rtlCol="0" anchor="ctr"/>
          <a:lstStyle/>
          <a:p>
            <a:pPr indent="0" marL="0">
              <a:lnSpc>
                <a:spcPts val="1700"/>
              </a:lnSpc>
              <a:buNone/>
            </a:pPr>
            <a:r>
              <a:rPr lang="en-US" sz="1250" dirty="0">
                <a:solidFill>
                  <a:srgbClr val="1C1C1E"/>
                </a:solidFill>
                <a:latin typeface="Calibri" pitchFamily="34" charset="0"/>
                <a:ea typeface="Calibri" pitchFamily="34" charset="-122"/>
                <a:cs typeface="Calibri" pitchFamily="34" charset="-120"/>
              </a:rPr>
              <a:t>Rooms, rate, currency or cancellation terms not stated on the call.</a:t>
            </a:r>
            <a:endParaRPr lang="en-US" sz="1250" dirty="0"/>
          </a:p>
        </p:txBody>
      </p:sp>
      <p:sp>
        <p:nvSpPr>
          <p:cNvPr id="22" name="Shape 20"/>
          <p:cNvSpPr/>
          <p:nvPr/>
        </p:nvSpPr>
        <p:spPr>
          <a:xfrm>
            <a:off x="4352544" y="3566160"/>
            <a:ext cx="3474720" cy="1325880"/>
          </a:xfrm>
          <a:prstGeom prst="roundRect">
            <a:avLst>
              <a:gd name="adj" fmla="val 5517"/>
            </a:avLst>
          </a:prstGeom>
          <a:solidFill>
            <a:srgbClr val="FDF3E2"/>
          </a:solidFill>
          <a:ln w="12700">
            <a:solidFill>
              <a:srgbClr val="FDF3E2"/>
            </a:solidFill>
            <a:prstDash val="solid"/>
          </a:ln>
        </p:spPr>
      </p:sp>
      <p:sp>
        <p:nvSpPr>
          <p:cNvPr id="23" name="Text 21"/>
          <p:cNvSpPr txBox="1"/>
          <p:nvPr/>
        </p:nvSpPr>
        <p:spPr>
          <a:xfrm>
            <a:off x="4626864" y="3749040"/>
            <a:ext cx="2926080" cy="274320"/>
          </a:xfrm>
          <a:prstGeom prst="rect">
            <a:avLst/>
          </a:prstGeom>
          <a:noFill/>
          <a:ln/>
        </p:spPr>
        <p:txBody>
          <a:bodyPr wrap="square" lIns="0" tIns="0" rIns="0" bIns="0" rtlCol="0" anchor="ctr"/>
          <a:lstStyle/>
          <a:p>
            <a:pPr indent="0" marL="0">
              <a:buNone/>
            </a:pPr>
            <a:r>
              <a:rPr lang="en-US" sz="1400" b="1" dirty="0">
                <a:solidFill>
                  <a:srgbClr val="A15C00"/>
                </a:solidFill>
                <a:latin typeface="Calibri" pitchFamily="34" charset="0"/>
                <a:ea typeface="Calibri" pitchFamily="34" charset="-122"/>
                <a:cs typeface="Calibri" pitchFamily="34" charset="-120"/>
              </a:rPr>
              <a:t>Confidence below 0.75</a:t>
            </a:r>
            <a:endParaRPr lang="en-US" sz="1400" dirty="0"/>
          </a:p>
        </p:txBody>
      </p:sp>
      <p:sp>
        <p:nvSpPr>
          <p:cNvPr id="24" name="Text 22"/>
          <p:cNvSpPr txBox="1"/>
          <p:nvPr/>
        </p:nvSpPr>
        <p:spPr>
          <a:xfrm>
            <a:off x="4626864" y="4041648"/>
            <a:ext cx="2926080" cy="731520"/>
          </a:xfrm>
          <a:prstGeom prst="rect">
            <a:avLst/>
          </a:prstGeom>
          <a:noFill/>
          <a:ln/>
        </p:spPr>
        <p:txBody>
          <a:bodyPr wrap="square" lIns="0" tIns="0" rIns="0" bIns="0" rtlCol="0" anchor="ctr"/>
          <a:lstStyle/>
          <a:p>
            <a:pPr indent="0" marL="0">
              <a:lnSpc>
                <a:spcPts val="1700"/>
              </a:lnSpc>
              <a:buNone/>
            </a:pPr>
            <a:r>
              <a:rPr lang="en-US" sz="1250" dirty="0">
                <a:solidFill>
                  <a:srgbClr val="1C1C1E"/>
                </a:solidFill>
                <a:latin typeface="Calibri" pitchFamily="34" charset="0"/>
                <a:ea typeface="Calibri" pitchFamily="34" charset="-122"/>
                <a:cs typeface="Calibri" pitchFamily="34" charset="-120"/>
              </a:rPr>
              <a:t>Any section the model is not sure it heard correctly.</a:t>
            </a:r>
            <a:endParaRPr lang="en-US" sz="1250" dirty="0"/>
          </a:p>
        </p:txBody>
      </p:sp>
      <p:sp>
        <p:nvSpPr>
          <p:cNvPr id="25" name="Shape 23"/>
          <p:cNvSpPr/>
          <p:nvPr/>
        </p:nvSpPr>
        <p:spPr>
          <a:xfrm>
            <a:off x="8065008" y="3566160"/>
            <a:ext cx="3474720" cy="1325880"/>
          </a:xfrm>
          <a:prstGeom prst="roundRect">
            <a:avLst>
              <a:gd name="adj" fmla="val 5517"/>
            </a:avLst>
          </a:prstGeom>
          <a:solidFill>
            <a:srgbClr val="FDF3E2"/>
          </a:solidFill>
          <a:ln w="12700">
            <a:solidFill>
              <a:srgbClr val="FDF3E2"/>
            </a:solidFill>
            <a:prstDash val="solid"/>
          </a:ln>
        </p:spPr>
      </p:sp>
      <p:sp>
        <p:nvSpPr>
          <p:cNvPr id="26" name="Text 24"/>
          <p:cNvSpPr txBox="1"/>
          <p:nvPr/>
        </p:nvSpPr>
        <p:spPr>
          <a:xfrm>
            <a:off x="8339328" y="3749040"/>
            <a:ext cx="2926080" cy="274320"/>
          </a:xfrm>
          <a:prstGeom prst="rect">
            <a:avLst/>
          </a:prstGeom>
          <a:noFill/>
          <a:ln/>
        </p:spPr>
        <p:txBody>
          <a:bodyPr wrap="square" lIns="0" tIns="0" rIns="0" bIns="0" rtlCol="0" anchor="ctr"/>
          <a:lstStyle/>
          <a:p>
            <a:pPr indent="0" marL="0">
              <a:buNone/>
            </a:pPr>
            <a:r>
              <a:rPr lang="en-US" sz="1400" b="1" dirty="0">
                <a:solidFill>
                  <a:srgbClr val="A15C00"/>
                </a:solidFill>
                <a:latin typeface="Calibri" pitchFamily="34" charset="0"/>
                <a:ea typeface="Calibri" pitchFamily="34" charset="-122"/>
                <a:cs typeface="Calibri" pitchFamily="34" charset="-120"/>
              </a:rPr>
              <a:t>Total above threshold</a:t>
            </a:r>
            <a:endParaRPr lang="en-US" sz="1400" dirty="0"/>
          </a:p>
        </p:txBody>
      </p:sp>
      <p:sp>
        <p:nvSpPr>
          <p:cNvPr id="27" name="Text 25"/>
          <p:cNvSpPr txBox="1"/>
          <p:nvPr/>
        </p:nvSpPr>
        <p:spPr>
          <a:xfrm>
            <a:off x="8339328" y="4041648"/>
            <a:ext cx="2926080" cy="731520"/>
          </a:xfrm>
          <a:prstGeom prst="rect">
            <a:avLst/>
          </a:prstGeom>
          <a:noFill/>
          <a:ln/>
        </p:spPr>
        <p:txBody>
          <a:bodyPr wrap="square" lIns="0" tIns="0" rIns="0" bIns="0" rtlCol="0" anchor="ctr"/>
          <a:lstStyle/>
          <a:p>
            <a:pPr indent="0" marL="0">
              <a:lnSpc>
                <a:spcPts val="1700"/>
              </a:lnSpc>
              <a:buNone/>
            </a:pPr>
            <a:r>
              <a:rPr lang="en-US" sz="1250" dirty="0">
                <a:solidFill>
                  <a:srgbClr val="1C1C1E"/>
                </a:solidFill>
                <a:latin typeface="Calibri" pitchFamily="34" charset="0"/>
                <a:ea typeface="Calibri" pitchFamily="34" charset="-122"/>
                <a:cs typeface="Calibri" pitchFamily="34" charset="-120"/>
              </a:rPr>
              <a:t>High value arrangements never pass on confidence alone.</a:t>
            </a:r>
            <a:endParaRPr lang="en-US" sz="1250" dirty="0"/>
          </a:p>
        </p:txBody>
      </p:sp>
      <p:sp>
        <p:nvSpPr>
          <p:cNvPr id="28" name="Text 26"/>
          <p:cNvSpPr txBox="1"/>
          <p:nvPr/>
        </p:nvSpPr>
        <p:spPr>
          <a:xfrm>
            <a:off x="640080" y="5120640"/>
            <a:ext cx="10881360" cy="365760"/>
          </a:xfrm>
          <a:prstGeom prst="rect">
            <a:avLst/>
          </a:prstGeom>
          <a:noFill/>
          <a:ln/>
        </p:spPr>
        <p:txBody>
          <a:bodyPr wrap="square" lIns="0" tIns="0" rIns="0" bIns="0" rtlCol="0" anchor="ctr"/>
          <a:lstStyle/>
          <a:p>
            <a:pPr indent="0" marL="0">
              <a:buNone/>
            </a:pPr>
            <a:r>
              <a:rPr lang="en-US" sz="1400" i="1" dirty="0">
                <a:solidFill>
                  <a:srgbClr val="6B6B70"/>
                </a:solidFill>
                <a:latin typeface="Calibri" pitchFamily="34" charset="0"/>
                <a:ea typeface="Calibri" pitchFamily="34" charset="-122"/>
                <a:cs typeface="Calibri" pitchFamily="34" charset="-120"/>
              </a:rPr>
              <a:t>The agent negotiated it. The manager approves it. The model only writes down what was already said.</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40080" y="384048"/>
            <a:ext cx="9144000" cy="256032"/>
          </a:xfrm>
          <a:prstGeom prst="rect">
            <a:avLst/>
          </a:prstGeom>
          <a:noFill/>
          <a:ln/>
        </p:spPr>
        <p:txBody>
          <a:bodyPr wrap="square" lIns="0" tIns="0" rIns="0" bIns="0" rtlCol="0" anchor="ctr"/>
          <a:lstStyle/>
          <a:p>
            <a:pPr indent="0" marL="0">
              <a:buNone/>
            </a:pPr>
            <a:r>
              <a:rPr lang="en-US" sz="1100" b="1" spc="200" kern="0" dirty="0">
                <a:solidFill>
                  <a:srgbClr val="29528F"/>
                </a:solidFill>
                <a:latin typeface="Calibri" pitchFamily="34" charset="0"/>
                <a:ea typeface="Calibri" pitchFamily="34" charset="-122"/>
                <a:cs typeface="Calibri" pitchFamily="34" charset="-120"/>
              </a:rPr>
              <a:t>COMPLIANCE</a:t>
            </a:r>
            <a:endParaRPr lang="en-US" sz="1100" dirty="0"/>
          </a:p>
        </p:txBody>
      </p:sp>
      <p:sp>
        <p:nvSpPr>
          <p:cNvPr id="3" name="Text 1"/>
          <p:cNvSpPr txBox="1"/>
          <p:nvPr/>
        </p:nvSpPr>
        <p:spPr>
          <a:xfrm>
            <a:off x="640080" y="658368"/>
            <a:ext cx="10908792" cy="640080"/>
          </a:xfrm>
          <a:prstGeom prst="rect">
            <a:avLst/>
          </a:prstGeom>
          <a:noFill/>
          <a:ln/>
        </p:spPr>
        <p:txBody>
          <a:bodyPr wrap="square" lIns="0" tIns="0" rIns="0" bIns="0" rtlCol="0" anchor="ctr"/>
          <a:lstStyle/>
          <a:p>
            <a:pPr indent="0" marL="0">
              <a:buNone/>
            </a:pPr>
            <a:r>
              <a:rPr lang="en-US" sz="3400" b="1" dirty="0">
                <a:solidFill>
                  <a:srgbClr val="1C1C1E"/>
                </a:solidFill>
                <a:latin typeface="Cambria" pitchFamily="34" charset="0"/>
                <a:ea typeface="Cambria" pitchFamily="34" charset="-122"/>
                <a:cs typeface="Cambria" pitchFamily="34" charset="-120"/>
              </a:rPr>
              <a:t>Where the design defence holds, and where it does not</a:t>
            </a:r>
            <a:endParaRPr lang="en-US" sz="3400" dirty="0"/>
          </a:p>
        </p:txBody>
      </p:sp>
      <p:sp>
        <p:nvSpPr>
          <p:cNvPr id="4" name="Shape 2"/>
          <p:cNvSpPr/>
          <p:nvPr/>
        </p:nvSpPr>
        <p:spPr>
          <a:xfrm>
            <a:off x="640080" y="1600200"/>
            <a:ext cx="5303520" cy="3429000"/>
          </a:xfrm>
          <a:prstGeom prst="roundRect">
            <a:avLst>
              <a:gd name="adj" fmla="val 2133"/>
            </a:avLst>
          </a:prstGeom>
          <a:solidFill>
            <a:srgbClr val="E8F5EE"/>
          </a:solidFill>
          <a:ln w="12700">
            <a:solidFill>
              <a:srgbClr val="E8F5EE"/>
            </a:solidFill>
            <a:prstDash val="solid"/>
          </a:ln>
        </p:spPr>
      </p:sp>
      <p:sp>
        <p:nvSpPr>
          <p:cNvPr id="5" name="Text 3"/>
          <p:cNvSpPr txBox="1"/>
          <p:nvPr/>
        </p:nvSpPr>
        <p:spPr>
          <a:xfrm>
            <a:off x="960120" y="1810512"/>
            <a:ext cx="4663440" cy="274320"/>
          </a:xfrm>
          <a:prstGeom prst="rect">
            <a:avLst/>
          </a:prstGeom>
          <a:noFill/>
          <a:ln/>
        </p:spPr>
        <p:txBody>
          <a:bodyPr wrap="square" lIns="0" tIns="0" rIns="0" bIns="0" rtlCol="0" anchor="ctr"/>
          <a:lstStyle/>
          <a:p>
            <a:pPr indent="0" marL="0">
              <a:buNone/>
            </a:pPr>
            <a:r>
              <a:rPr lang="en-US" sz="1200" b="1" spc="100" kern="0" dirty="0">
                <a:solidFill>
                  <a:srgbClr val="0F7B4F"/>
                </a:solidFill>
                <a:latin typeface="Calibri" pitchFamily="34" charset="0"/>
                <a:ea typeface="Calibri" pitchFamily="34" charset="-122"/>
                <a:cs typeface="Calibri" pitchFamily="34" charset="-120"/>
              </a:rPr>
              <a:t>Workflows 1 and 2</a:t>
            </a:r>
            <a:endParaRPr lang="en-US" sz="1200" dirty="0"/>
          </a:p>
        </p:txBody>
      </p:sp>
      <p:sp>
        <p:nvSpPr>
          <p:cNvPr id="6" name="Text 4"/>
          <p:cNvSpPr txBox="1"/>
          <p:nvPr/>
        </p:nvSpPr>
        <p:spPr>
          <a:xfrm>
            <a:off x="960120" y="2121408"/>
            <a:ext cx="4663440" cy="640080"/>
          </a:xfrm>
          <a:prstGeom prst="rect">
            <a:avLst/>
          </a:prstGeom>
          <a:noFill/>
          <a:ln/>
        </p:spPr>
        <p:txBody>
          <a:bodyPr wrap="square" lIns="0" tIns="0" rIns="0" bIns="0" rtlCol="0" anchor="ctr"/>
          <a:lstStyle/>
          <a:p>
            <a:pPr indent="0" marL="0">
              <a:lnSpc>
                <a:spcPts val="2700"/>
              </a:lnSpc>
              <a:buNone/>
            </a:pPr>
            <a:r>
              <a:rPr lang="en-US" sz="2200" b="1" dirty="0">
                <a:solidFill>
                  <a:srgbClr val="0F7B4F"/>
                </a:solidFill>
                <a:latin typeface="Cambria" pitchFamily="34" charset="0"/>
                <a:ea typeface="Cambria" pitchFamily="34" charset="-122"/>
                <a:cs typeface="Cambria" pitchFamily="34" charset="-120"/>
              </a:rPr>
              <a:t>The model sees no personal data</a:t>
            </a:r>
            <a:endParaRPr lang="en-US" sz="2200" dirty="0"/>
          </a:p>
        </p:txBody>
      </p:sp>
      <p:sp>
        <p:nvSpPr>
          <p:cNvPr id="7" name="Text 5"/>
          <p:cNvSpPr txBox="1"/>
          <p:nvPr/>
        </p:nvSpPr>
        <p:spPr>
          <a:xfrm>
            <a:off x="960120" y="2834640"/>
            <a:ext cx="4663440" cy="20116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Names discarded at ingestion, references hashed per run</a:t>
            </a:r>
            <a:endParaRPr lang="en-US" sz="1300" dirty="0"/>
          </a:p>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Payload built field by field from an allow list</a:t>
            </a:r>
            <a:endParaRPr lang="en-US" sz="1300" dirty="0"/>
          </a:p>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Fail closed privacy guard throws on any identifier</a:t>
            </a:r>
            <a:endParaRPr lang="en-US" sz="1300" dirty="0"/>
          </a:p>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No Chapter V transfer engaged for the model call</a:t>
            </a:r>
            <a:endParaRPr lang="en-US" sz="1300" dirty="0"/>
          </a:p>
        </p:txBody>
      </p:sp>
      <p:sp>
        <p:nvSpPr>
          <p:cNvPr id="8" name="Shape 6"/>
          <p:cNvSpPr/>
          <p:nvPr/>
        </p:nvSpPr>
        <p:spPr>
          <a:xfrm>
            <a:off x="6245352" y="1600200"/>
            <a:ext cx="5303520" cy="3429000"/>
          </a:xfrm>
          <a:prstGeom prst="roundRect">
            <a:avLst>
              <a:gd name="adj" fmla="val 2133"/>
            </a:avLst>
          </a:prstGeom>
          <a:solidFill>
            <a:srgbClr val="FDF3E2"/>
          </a:solidFill>
          <a:ln w="12700">
            <a:solidFill>
              <a:srgbClr val="FDF3E2"/>
            </a:solidFill>
            <a:prstDash val="solid"/>
          </a:ln>
        </p:spPr>
      </p:sp>
      <p:sp>
        <p:nvSpPr>
          <p:cNvPr id="9" name="Text 7"/>
          <p:cNvSpPr txBox="1"/>
          <p:nvPr/>
        </p:nvSpPr>
        <p:spPr>
          <a:xfrm>
            <a:off x="6565392" y="1810512"/>
            <a:ext cx="4663440" cy="274320"/>
          </a:xfrm>
          <a:prstGeom prst="rect">
            <a:avLst/>
          </a:prstGeom>
          <a:noFill/>
          <a:ln/>
        </p:spPr>
        <p:txBody>
          <a:bodyPr wrap="square" lIns="0" tIns="0" rIns="0" bIns="0" rtlCol="0" anchor="ctr"/>
          <a:lstStyle/>
          <a:p>
            <a:pPr indent="0" marL="0">
              <a:buNone/>
            </a:pPr>
            <a:r>
              <a:rPr lang="en-US" sz="1200" b="1" spc="100" kern="0" dirty="0">
                <a:solidFill>
                  <a:srgbClr val="A15C00"/>
                </a:solidFill>
                <a:latin typeface="Calibri" pitchFamily="34" charset="0"/>
                <a:ea typeface="Calibri" pitchFamily="34" charset="-122"/>
                <a:cs typeface="Calibri" pitchFamily="34" charset="-120"/>
              </a:rPr>
              <a:t>Workflow 3</a:t>
            </a:r>
            <a:endParaRPr lang="en-US" sz="1200" dirty="0"/>
          </a:p>
        </p:txBody>
      </p:sp>
      <p:sp>
        <p:nvSpPr>
          <p:cNvPr id="10" name="Text 8"/>
          <p:cNvSpPr txBox="1"/>
          <p:nvPr/>
        </p:nvSpPr>
        <p:spPr>
          <a:xfrm>
            <a:off x="6565392" y="2121408"/>
            <a:ext cx="4663440" cy="640080"/>
          </a:xfrm>
          <a:prstGeom prst="rect">
            <a:avLst/>
          </a:prstGeom>
          <a:noFill/>
          <a:ln/>
        </p:spPr>
        <p:txBody>
          <a:bodyPr wrap="square" lIns="0" tIns="0" rIns="0" bIns="0" rtlCol="0" anchor="ctr"/>
          <a:lstStyle/>
          <a:p>
            <a:pPr indent="0" marL="0">
              <a:lnSpc>
                <a:spcPts val="2700"/>
              </a:lnSpc>
              <a:buNone/>
            </a:pPr>
            <a:r>
              <a:rPr lang="en-US" sz="2200" b="1" dirty="0">
                <a:solidFill>
                  <a:srgbClr val="A15C00"/>
                </a:solidFill>
                <a:latin typeface="Cambria" pitchFamily="34" charset="0"/>
                <a:ea typeface="Cambria" pitchFamily="34" charset="-122"/>
                <a:cs typeface="Cambria" pitchFamily="34" charset="-120"/>
              </a:rPr>
              <a:t>The model does see personal data</a:t>
            </a:r>
            <a:endParaRPr lang="en-US" sz="2200" dirty="0"/>
          </a:p>
        </p:txBody>
      </p:sp>
      <p:sp>
        <p:nvSpPr>
          <p:cNvPr id="11" name="Text 9"/>
          <p:cNvSpPr txBox="1"/>
          <p:nvPr/>
        </p:nvSpPr>
        <p:spPr>
          <a:xfrm>
            <a:off x="6565392" y="2834640"/>
            <a:ext cx="4663440" cy="2011680"/>
          </a:xfrm>
          <a:prstGeom prst="rect">
            <a:avLst/>
          </a:prstGeom>
          <a:noFill/>
          <a:ln/>
        </p:spPr>
        <p:txBody>
          <a:bodyPr wrap="square" lIns="0" tIns="0" rIns="0" bIns="0" rtlCol="0" anchor="ctr"/>
          <a:lstStyle/>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Data subjects are the ops agent and the hotel staff, never a passenger</a:t>
            </a:r>
            <a:endParaRPr lang="en-US" sz="1300" dirty="0"/>
          </a:p>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Real transfer to the United States under standard contractual clauses</a:t>
            </a:r>
            <a:endParaRPr lang="en-US" sz="1300" dirty="0"/>
          </a:p>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Notification at the start of the call, all party consent as the ceiling</a:t>
            </a:r>
            <a:endParaRPr lang="en-US" sz="1300" dirty="0"/>
          </a:p>
          <a:p>
            <a:pPr marL="342900" indent="-342900">
              <a:lnSpc>
                <a:spcPts val="1700"/>
              </a:lnSpc>
              <a:spcAft>
                <a:spcPts val="700"/>
              </a:spcAft>
              <a:buSzPct val="100000"/>
              <a:buChar char="•"/>
            </a:pPr>
            <a:r>
              <a:rPr lang="en-US" sz="1300" dirty="0">
                <a:solidFill>
                  <a:srgbClr val="1C1C1E"/>
                </a:solidFill>
                <a:latin typeface="Calibri" pitchFamily="34" charset="0"/>
                <a:ea typeface="Calibri" pitchFamily="34" charset="-122"/>
                <a:cs typeface="Calibri" pitchFamily="34" charset="-120"/>
              </a:rPr>
              <a:t>Works council agreement required in Germany before go live</a:t>
            </a:r>
            <a:endParaRPr lang="en-US" sz="1300" dirty="0"/>
          </a:p>
        </p:txBody>
      </p:sp>
      <p:sp>
        <p:nvSpPr>
          <p:cNvPr id="12" name="Text 10"/>
          <p:cNvSpPr txBox="1"/>
          <p:nvPr/>
        </p:nvSpPr>
        <p:spPr>
          <a:xfrm>
            <a:off x="640080" y="5257800"/>
            <a:ext cx="10881360" cy="640080"/>
          </a:xfrm>
          <a:prstGeom prst="rect">
            <a:avLst/>
          </a:prstGeom>
          <a:noFill/>
          <a:ln/>
        </p:spPr>
        <p:txBody>
          <a:bodyPr wrap="square" lIns="0" tIns="0" rIns="0" bIns="0" rtlCol="0" anchor="ctr"/>
          <a:lstStyle/>
          <a:p>
            <a:pPr indent="0" marL="0">
              <a:lnSpc>
                <a:spcPts val="1900"/>
              </a:lnSpc>
              <a:buNone/>
            </a:pPr>
            <a:r>
              <a:rPr lang="en-US" sz="1350" dirty="0">
                <a:solidFill>
                  <a:srgbClr val="1C1C1E"/>
                </a:solidFill>
                <a:latin typeface="Calibri" pitchFamily="34" charset="0"/>
                <a:ea typeface="Calibri" pitchFamily="34" charset="-122"/>
                <a:cs typeface="Calibri" pitchFamily="34" charset="-120"/>
              </a:rPr>
              <a:t>Not high risk under the AI Act, and the reason is design, not low stakes: no automated decision has legal effect on anyone. The moment it books, pays or scores an employee, the classification is rewritten.</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2A4A"/>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274320"/>
          </a:xfrm>
          <a:prstGeom prst="rect">
            <a:avLst/>
          </a:prstGeom>
          <a:noFill/>
          <a:ln/>
        </p:spPr>
        <p:txBody>
          <a:bodyPr wrap="square" lIns="0" tIns="0" rIns="0" bIns="0" rtlCol="0" anchor="ctr"/>
          <a:lstStyle/>
          <a:p>
            <a:pPr indent="0" marL="0">
              <a:buNone/>
            </a:pPr>
            <a:r>
              <a:rPr lang="en-US" sz="1100" b="1" spc="300" kern="0" dirty="0">
                <a:solidFill>
                  <a:srgbClr val="CADCFC"/>
                </a:solidFill>
                <a:latin typeface="Calibri" pitchFamily="34" charset="0"/>
                <a:ea typeface="Calibri" pitchFamily="34" charset="-122"/>
                <a:cs typeface="Calibri" pitchFamily="34" charset="-120"/>
              </a:rPr>
              <a:t>WHERE THIS STANDS</a:t>
            </a:r>
            <a:endParaRPr lang="en-US" sz="1100" dirty="0"/>
          </a:p>
        </p:txBody>
      </p:sp>
      <p:sp>
        <p:nvSpPr>
          <p:cNvPr id="3" name="Text 1"/>
          <p:cNvSpPr txBox="1"/>
          <p:nvPr/>
        </p:nvSpPr>
        <p:spPr>
          <a:xfrm>
            <a:off x="640080" y="868680"/>
            <a:ext cx="1088136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What is not built, and what I would fund</a:t>
            </a:r>
            <a:endParaRPr lang="en-US" sz="3400" dirty="0"/>
          </a:p>
        </p:txBody>
      </p:sp>
      <p:sp>
        <p:nvSpPr>
          <p:cNvPr id="4" name="Text 2"/>
          <p:cNvSpPr txBox="1"/>
          <p:nvPr/>
        </p:nvSpPr>
        <p:spPr>
          <a:xfrm>
            <a:off x="640080" y="1783080"/>
            <a:ext cx="5029200" cy="320040"/>
          </a:xfrm>
          <a:prstGeom prst="rect">
            <a:avLst/>
          </a:prstGeom>
          <a:noFill/>
          <a:ln/>
        </p:spPr>
        <p:txBody>
          <a:bodyPr wrap="square" lIns="0" tIns="0" rIns="0" bIns="0" rtlCol="0" anchor="ctr"/>
          <a:lstStyle/>
          <a:p>
            <a:pPr indent="0" marL="0">
              <a:buNone/>
            </a:pPr>
            <a:r>
              <a:rPr lang="en-US" sz="1300" b="1" spc="100" kern="0" dirty="0">
                <a:solidFill>
                  <a:srgbClr val="CADCFC"/>
                </a:solidFill>
                <a:latin typeface="Calibri" pitchFamily="34" charset="0"/>
                <a:ea typeface="Calibri" pitchFamily="34" charset="-122"/>
                <a:cs typeface="Calibri" pitchFamily="34" charset="-120"/>
              </a:rPr>
              <a:t>Not built</a:t>
            </a:r>
            <a:endParaRPr lang="en-US" sz="1300" dirty="0"/>
          </a:p>
        </p:txBody>
      </p:sp>
      <p:sp>
        <p:nvSpPr>
          <p:cNvPr id="5" name="Text 3"/>
          <p:cNvSpPr txBox="1"/>
          <p:nvPr/>
        </p:nvSpPr>
        <p:spPr>
          <a:xfrm>
            <a:off x="640080" y="2194560"/>
            <a:ext cx="5120640" cy="2377440"/>
          </a:xfrm>
          <a:prstGeom prst="rect">
            <a:avLst/>
          </a:prstGeom>
          <a:noFill/>
          <a:ln/>
        </p:spPr>
        <p:txBody>
          <a:bodyPr wrap="square" lIns="0" tIns="0" rIns="0" bIns="0" rtlCol="0" anchor="ctr"/>
          <a:lstStyle/>
          <a:p>
            <a:pPr marL="342900" indent="-342900">
              <a:lnSpc>
                <a:spcPts val="1900"/>
              </a:lnSpc>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No live hotel availability. Room counts are nominal from the partner list.</a:t>
            </a:r>
            <a:endParaRPr lang="en-US" sz="1400" dirty="0"/>
          </a:p>
          <a:p>
            <a:pPr marL="342900" indent="-342900">
              <a:lnSpc>
                <a:spcPts val="1900"/>
              </a:lnSpc>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No outbound sending. Workflow 2 suggests, it does not contact hotels.</a:t>
            </a:r>
            <a:endParaRPr lang="en-US" sz="1400" dirty="0"/>
          </a:p>
          <a:p>
            <a:pPr marL="342900" indent="-342900">
              <a:lnSpc>
                <a:spcPts val="1900"/>
              </a:lnSpc>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One incident reference across all three workflows is designed, not yet wired.</a:t>
            </a:r>
            <a:endParaRPr lang="en-US" sz="1400" dirty="0"/>
          </a:p>
          <a:p>
            <a:pPr marL="342900" indent="-342900">
              <a:lnSpc>
                <a:spcPts val="1900"/>
              </a:lnSpc>
              <a:spcAft>
                <a:spcPts val="900"/>
              </a:spcAft>
              <a:buSzPct val="100000"/>
              <a:buChar char="•"/>
            </a:pPr>
            <a:r>
              <a:rPr lang="en-US" sz="1400" dirty="0">
                <a:solidFill>
                  <a:srgbClr val="FFFFFF"/>
                </a:solidFill>
                <a:latin typeface="Calibri" pitchFamily="34" charset="0"/>
                <a:ea typeface="Calibri" pitchFamily="34" charset="-122"/>
                <a:cs typeface="Calibri" pitchFamily="34" charset="-120"/>
              </a:rPr>
              <a:t>No integration to a reservation system. Trip origin is synthetic.</a:t>
            </a:r>
            <a:endParaRPr lang="en-US" sz="1400" dirty="0"/>
          </a:p>
        </p:txBody>
      </p:sp>
      <p:sp>
        <p:nvSpPr>
          <p:cNvPr id="6" name="Shape 4"/>
          <p:cNvSpPr/>
          <p:nvPr/>
        </p:nvSpPr>
        <p:spPr>
          <a:xfrm>
            <a:off x="6245352" y="1737360"/>
            <a:ext cx="5303520" cy="3108960"/>
          </a:xfrm>
          <a:prstGeom prst="roundRect">
            <a:avLst>
              <a:gd name="adj" fmla="val 2353"/>
            </a:avLst>
          </a:prstGeom>
          <a:solidFill>
            <a:srgbClr val="263B62"/>
          </a:solidFill>
          <a:ln w="12700">
            <a:solidFill>
              <a:srgbClr val="263B62"/>
            </a:solidFill>
            <a:prstDash val="solid"/>
          </a:ln>
        </p:spPr>
      </p:sp>
      <p:sp>
        <p:nvSpPr>
          <p:cNvPr id="7" name="Text 5"/>
          <p:cNvSpPr txBox="1"/>
          <p:nvPr/>
        </p:nvSpPr>
        <p:spPr>
          <a:xfrm>
            <a:off x="6565392" y="1938528"/>
            <a:ext cx="4663440" cy="320040"/>
          </a:xfrm>
          <a:prstGeom prst="rect">
            <a:avLst/>
          </a:prstGeom>
          <a:noFill/>
          <a:ln/>
        </p:spPr>
        <p:txBody>
          <a:bodyPr wrap="square" lIns="0" tIns="0" rIns="0" bIns="0" rtlCol="0" anchor="ctr"/>
          <a:lstStyle/>
          <a:p>
            <a:pPr indent="0" marL="0">
              <a:buNone/>
            </a:pPr>
            <a:r>
              <a:rPr lang="en-US" sz="1300" b="1" spc="100" kern="0" dirty="0">
                <a:solidFill>
                  <a:srgbClr val="CADCFC"/>
                </a:solidFill>
                <a:latin typeface="Calibri" pitchFamily="34" charset="0"/>
                <a:ea typeface="Calibri" pitchFamily="34" charset="-122"/>
                <a:cs typeface="Calibri" pitchFamily="34" charset="-120"/>
              </a:rPr>
              <a:t>The ask</a:t>
            </a:r>
            <a:endParaRPr lang="en-US" sz="1300" dirty="0"/>
          </a:p>
        </p:txBody>
      </p:sp>
      <p:sp>
        <p:nvSpPr>
          <p:cNvPr id="8" name="Text 6"/>
          <p:cNvSpPr txBox="1"/>
          <p:nvPr/>
        </p:nvSpPr>
        <p:spPr>
          <a:xfrm>
            <a:off x="6565392" y="2286000"/>
            <a:ext cx="4663440" cy="685800"/>
          </a:xfrm>
          <a:prstGeom prst="rect">
            <a:avLst/>
          </a:prstGeom>
          <a:noFill/>
          <a:ln/>
        </p:spPr>
        <p:txBody>
          <a:bodyPr wrap="square" lIns="0" tIns="0" rIns="0" bIns="0" rtlCol="0" anchor="ctr"/>
          <a:lstStyle/>
          <a:p>
            <a:pPr indent="0" marL="0">
              <a:lnSpc>
                <a:spcPts val="2900"/>
              </a:lnSpc>
              <a:buNone/>
            </a:pPr>
            <a:r>
              <a:rPr lang="en-US" sz="2500" b="1" dirty="0">
                <a:solidFill>
                  <a:srgbClr val="FFFFFF"/>
                </a:solidFill>
                <a:latin typeface="Cambria" pitchFamily="34" charset="0"/>
                <a:ea typeface="Cambria" pitchFamily="34" charset="-122"/>
                <a:cs typeface="Cambria" pitchFamily="34" charset="-120"/>
              </a:rPr>
              <a:t>Fund a pilot, not the integration</a:t>
            </a:r>
            <a:endParaRPr lang="en-US" sz="2500" dirty="0"/>
          </a:p>
        </p:txBody>
      </p:sp>
      <p:sp>
        <p:nvSpPr>
          <p:cNvPr id="9" name="Text 7"/>
          <p:cNvSpPr txBox="1"/>
          <p:nvPr/>
        </p:nvSpPr>
        <p:spPr>
          <a:xfrm>
            <a:off x="6565392" y="3063240"/>
            <a:ext cx="4663440" cy="914400"/>
          </a:xfrm>
          <a:prstGeom prst="rect">
            <a:avLst/>
          </a:prstGeom>
          <a:noFill/>
          <a:ln/>
        </p:spPr>
        <p:txBody>
          <a:bodyPr wrap="square" lIns="0" tIns="0" rIns="0" bIns="0" rtlCol="0" anchor="ctr"/>
          <a:lstStyle/>
          <a:p>
            <a:pPr indent="0" marL="0">
              <a:lnSpc>
                <a:spcPts val="1900"/>
              </a:lnSpc>
              <a:buNone/>
            </a:pPr>
            <a:r>
              <a:rPr lang="en-US" sz="1400" dirty="0">
                <a:solidFill>
                  <a:srgbClr val="CADCFC"/>
                </a:solidFill>
                <a:latin typeface="Calibri" pitchFamily="34" charset="0"/>
                <a:ea typeface="Calibri" pitchFamily="34" charset="-122"/>
                <a:cs typeface="Calibri" pitchFamily="34" charset="-120"/>
              </a:rPr>
              <a:t>Three stations where a trip origin feed already exists. Eight to twelve weeks. One job: measure the real capture rate against the assumption.</a:t>
            </a:r>
            <a:endParaRPr lang="en-US" sz="1400" dirty="0"/>
          </a:p>
        </p:txBody>
      </p:sp>
      <p:sp>
        <p:nvSpPr>
          <p:cNvPr id="10" name="Text 8"/>
          <p:cNvSpPr txBox="1"/>
          <p:nvPr/>
        </p:nvSpPr>
        <p:spPr>
          <a:xfrm>
            <a:off x="6565392" y="4023360"/>
            <a:ext cx="4663440" cy="640080"/>
          </a:xfrm>
          <a:prstGeom prst="rect">
            <a:avLst/>
          </a:prstGeom>
          <a:noFill/>
          <a:ln/>
        </p:spPr>
        <p:txBody>
          <a:bodyPr wrap="square" lIns="0" tIns="0" rIns="0" bIns="0" rtlCol="0" anchor="ctr"/>
          <a:lstStyle/>
          <a:p>
            <a:pPr indent="0" marL="0">
              <a:lnSpc>
                <a:spcPts val="1800"/>
              </a:lnSpc>
              <a:buNone/>
            </a:pPr>
            <a:r>
              <a:rPr lang="en-US" sz="1300" b="1" dirty="0">
                <a:solidFill>
                  <a:srgbClr val="FFFFFF"/>
                </a:solidFill>
                <a:latin typeface="Calibri" pitchFamily="34" charset="0"/>
                <a:ea typeface="Calibri" pitchFamily="34" charset="-122"/>
                <a:cs typeface="Calibri" pitchFamily="34" charset="-120"/>
              </a:rPr>
              <a:t>Everything else in the model barely moves the answer. This one number decides it.</a:t>
            </a:r>
            <a:endParaRPr lang="en-US" sz="1300" dirty="0"/>
          </a:p>
        </p:txBody>
      </p:sp>
      <p:sp>
        <p:nvSpPr>
          <p:cNvPr id="11" name="Text 9"/>
          <p:cNvSpPr txBox="1"/>
          <p:nvPr/>
        </p:nvSpPr>
        <p:spPr>
          <a:xfrm>
            <a:off x="640080" y="5212080"/>
            <a:ext cx="10881360" cy="640080"/>
          </a:xfrm>
          <a:prstGeom prst="rect">
            <a:avLst/>
          </a:prstGeom>
          <a:noFill/>
          <a:ln/>
        </p:spPr>
        <p:txBody>
          <a:bodyPr wrap="square" lIns="0" tIns="0" rIns="0" bIns="0" rtlCol="0" anchor="ctr"/>
          <a:lstStyle/>
          <a:p>
            <a:pPr indent="0" marL="0">
              <a:lnSpc>
                <a:spcPts val="2500"/>
              </a:lnSpc>
              <a:buNone/>
            </a:pPr>
            <a:r>
              <a:rPr lang="en-US" sz="1900" b="1" dirty="0">
                <a:solidFill>
                  <a:srgbClr val="CADCFC"/>
                </a:solidFill>
                <a:latin typeface="Cambria" pitchFamily="34" charset="0"/>
                <a:ea typeface="Cambria" pitchFamily="34" charset="-122"/>
                <a:cs typeface="Cambria" pitchFamily="34" charset="-120"/>
              </a:rPr>
              <a:t>The software is cheap and the return is large, but both depend on one feed of data you already own and do not yet use at the station.</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Airline disruption care</dc:title>
  <dc:subject>PptxGenJS Presentation</dc:subject>
  <dc:creator>Gordan Skopljak</dc:creator>
  <cp:lastModifiedBy>Gordan Skopljak</cp:lastModifiedBy>
  <cp:revision>1</cp:revision>
  <dcterms:created xsi:type="dcterms:W3CDTF">2026-09-03T17:55:37Z</dcterms:created>
  <dcterms:modified xsi:type="dcterms:W3CDTF">2026-09-03T17:55:37Z</dcterms:modified>
</cp:coreProperties>
</file>